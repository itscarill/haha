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changesInfos/changesInfo1.xml" ContentType="application/vnd.ms-powerpoint.changesinfo+xml"/>
  <Override PartName="/ppt/authors.xml" ContentType="application/vnd.ms-powerpoint.author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29" r:id="rId4"/>
    <p:sldMasterId id="2147484920" r:id="rId5"/>
  </p:sldMasterIdLst>
  <p:notesMasterIdLst>
    <p:notesMasterId r:id="rId31"/>
  </p:notesMasterIdLst>
  <p:handoutMasterIdLst>
    <p:handoutMasterId r:id="rId32"/>
  </p:handoutMasterIdLst>
  <p:sldIdLst>
    <p:sldId id="2147479557" r:id="rId6"/>
    <p:sldId id="2147479669" r:id="rId7"/>
    <p:sldId id="2147479670" r:id="rId8"/>
    <p:sldId id="2147479671" r:id="rId9"/>
    <p:sldId id="2147479672" r:id="rId10"/>
    <p:sldId id="2147479681" r:id="rId11"/>
    <p:sldId id="2147479674" r:id="rId12"/>
    <p:sldId id="2147479675" r:id="rId13"/>
    <p:sldId id="2147479676" r:id="rId14"/>
    <p:sldId id="2147479677" r:id="rId15"/>
    <p:sldId id="2147479678" r:id="rId16"/>
    <p:sldId id="2147479679" r:id="rId17"/>
    <p:sldId id="2147479680" r:id="rId18"/>
    <p:sldId id="2147479569" r:id="rId19"/>
    <p:sldId id="2147479655" r:id="rId20"/>
    <p:sldId id="2147479656" r:id="rId21"/>
    <p:sldId id="2147479657" r:id="rId22"/>
    <p:sldId id="2147479658" r:id="rId23"/>
    <p:sldId id="2147479660" r:id="rId24"/>
    <p:sldId id="2147479661" r:id="rId25"/>
    <p:sldId id="2147479662" r:id="rId26"/>
    <p:sldId id="2147479663" r:id="rId27"/>
    <p:sldId id="2147479664" r:id="rId28"/>
    <p:sldId id="2147479668" r:id="rId29"/>
    <p:sldId id="2147479666" r:id="rId30"/>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Intro section" id="{B2D85E4D-CCFE-4F31-9774-AE528B9A42DB}">
          <p14:sldIdLst>
            <p14:sldId id="2147479557"/>
            <p14:sldId id="2147479669"/>
            <p14:sldId id="2147479670"/>
            <p14:sldId id="2147479671"/>
            <p14:sldId id="2147479672"/>
            <p14:sldId id="2147479681"/>
            <p14:sldId id="2147479674"/>
            <p14:sldId id="2147479675"/>
            <p14:sldId id="2147479676"/>
            <p14:sldId id="2147479677"/>
            <p14:sldId id="2147479678"/>
            <p14:sldId id="2147479679"/>
            <p14:sldId id="2147479680"/>
            <p14:sldId id="2147479569"/>
            <p14:sldId id="2147479655"/>
            <p14:sldId id="2147479656"/>
            <p14:sldId id="2147479657"/>
            <p14:sldId id="2147479658"/>
            <p14:sldId id="2147479660"/>
            <p14:sldId id="2147479661"/>
            <p14:sldId id="2147479662"/>
            <p14:sldId id="2147479663"/>
            <p14:sldId id="2147479664"/>
            <p14:sldId id="2147479668"/>
            <p14:sldId id="2147479666"/>
          </p14:sldIdLst>
        </p14:section>
      </p14:sectionLst>
    </p:ext>
    <p:ext uri="{EFAFB233-063F-42B5-8137-9DF3F51BA10A}">
      <p15:sldGuideLst xmlns:p15="http://schemas.microsoft.com/office/powerpoint/2012/main">
        <p15:guide id="1" pos="4200" userDrawn="1">
          <p15:clr>
            <a:srgbClr val="A4A3A4"/>
          </p15:clr>
        </p15:guide>
        <p15:guide id="2" orient="horz" pos="2160">
          <p15:clr>
            <a:srgbClr val="A4A3A4"/>
          </p15:clr>
        </p15:guide>
        <p15:guide id="3" pos="584" userDrawn="1">
          <p15:clr>
            <a:srgbClr val="A4A3A4"/>
          </p15:clr>
        </p15:guide>
        <p15:guide id="5"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7FD0D05-1B6C-B9DD-05F5-5BAF8705D900}" name="Ron Sasaki" initials="RS" userId="S::rsasaki@microsoft.com::d50e61ca-c12c-4489-bcc9-f00936fa5f6e" providerId="AD"/>
  <p188:author id="{999BBDA0-6DD0-1FC2-4156-10230AF06B33}" name="heidi@mindseyepdx.com" initials="h" userId="S::heidi@mindseyepdx.com::a1bc4856-633f-4b84-8338-4fab10310c7a" providerId="AD"/>
  <p188:author id="{2D7C0DE9-CAB2-3D67-0CB7-665236291F0D}" name="Heidi Laverty" initials="HL" userId="7f49b1eb0f3d108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cmAuthor id="3" name="Mary Feil-Jacobs" initials="MF" lastIdx="27"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446F"/>
    <a:srgbClr val="FB5A65"/>
    <a:srgbClr val="EEEEEE"/>
    <a:srgbClr val="E8E8E8"/>
    <a:srgbClr val="D4D4D4"/>
    <a:srgbClr val="E8E6DF"/>
    <a:srgbClr val="CD9BCF"/>
    <a:srgbClr val="FFA38B"/>
    <a:srgbClr val="D59ED7"/>
    <a:srgbClr val="8DC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1E180D-C71F-46D7-87A9-F4C739DE456C}" v="1" dt="2023-10-10T22:53:34.520"/>
    <p1510:client id="{F5D53D68-92C5-40C6-BD95-EA9D7DB00E35}" v="1" dt="2023-10-10T18:09:51.6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41812" autoAdjust="0"/>
  </p:normalViewPr>
  <p:slideViewPr>
    <p:cSldViewPr snapToGrid="0">
      <p:cViewPr>
        <p:scale>
          <a:sx n="48" d="100"/>
          <a:sy n="48" d="100"/>
        </p:scale>
        <p:origin x="2316" y="48"/>
      </p:cViewPr>
      <p:guideLst>
        <p:guide pos="4200"/>
        <p:guide orient="horz" pos="2160"/>
        <p:guide pos="584"/>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microsoft.com/office/2016/11/relationships/changesInfo" Target="changesInfos/changesInfo1.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commentAuthors" Target="commentAuthor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handoutMaster" Target="handoutMasters/handoutMaster1.xml"/><Relationship Id="rId37" Type="http://schemas.openxmlformats.org/officeDocument/2006/relationships/tableStyles" Target="tableStyles.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kim Martin" userId="a10c6df9-0616-4c52-a0ed-0c948603bfe8" providerId="ADAL" clId="{AFF2F3CC-E4A3-497F-8EA1-42562C53A4D5}"/>
    <pc:docChg chg="undo custSel addSld delSld modSld addSection delSection modSection">
      <pc:chgData name="Hakim Martin" userId="a10c6df9-0616-4c52-a0ed-0c948603bfe8" providerId="ADAL" clId="{AFF2F3CC-E4A3-497F-8EA1-42562C53A4D5}" dt="2023-10-04T20:46:13.340" v="27" actId="18676"/>
      <pc:docMkLst>
        <pc:docMk/>
      </pc:docMkLst>
      <pc:sldChg chg="add del">
        <pc:chgData name="Hakim Martin" userId="a10c6df9-0616-4c52-a0ed-0c948603bfe8" providerId="ADAL" clId="{AFF2F3CC-E4A3-497F-8EA1-42562C53A4D5}" dt="2023-10-04T20:46:13.340" v="27" actId="18676"/>
        <pc:sldMkLst>
          <pc:docMk/>
          <pc:sldMk cId="3787736589" sldId="1632"/>
        </pc:sldMkLst>
      </pc:sldChg>
      <pc:sldChg chg="add del">
        <pc:chgData name="Hakim Martin" userId="a10c6df9-0616-4c52-a0ed-0c948603bfe8" providerId="ADAL" clId="{AFF2F3CC-E4A3-497F-8EA1-42562C53A4D5}" dt="2023-10-04T20:46:13.340" v="27" actId="18676"/>
        <pc:sldMkLst>
          <pc:docMk/>
          <pc:sldMk cId="945232278" sldId="1637"/>
        </pc:sldMkLst>
      </pc:sldChg>
      <pc:sldChg chg="add del">
        <pc:chgData name="Hakim Martin" userId="a10c6df9-0616-4c52-a0ed-0c948603bfe8" providerId="ADAL" clId="{AFF2F3CC-E4A3-497F-8EA1-42562C53A4D5}" dt="2023-10-04T20:46:13.163" v="26" actId="18676"/>
        <pc:sldMkLst>
          <pc:docMk/>
          <pc:sldMk cId="1734498451" sldId="2076138419"/>
        </pc:sldMkLst>
      </pc:sldChg>
      <pc:sldChg chg="add del">
        <pc:chgData name="Hakim Martin" userId="a10c6df9-0616-4c52-a0ed-0c948603bfe8" providerId="ADAL" clId="{AFF2F3CC-E4A3-497F-8EA1-42562C53A4D5}" dt="2023-10-04T20:46:13.163" v="26" actId="18676"/>
        <pc:sldMkLst>
          <pc:docMk/>
          <pc:sldMk cId="1096935855" sldId="2076138420"/>
        </pc:sldMkLst>
      </pc:sldChg>
      <pc:sldChg chg="add del">
        <pc:chgData name="Hakim Martin" userId="a10c6df9-0616-4c52-a0ed-0c948603bfe8" providerId="ADAL" clId="{AFF2F3CC-E4A3-497F-8EA1-42562C53A4D5}" dt="2023-10-04T20:46:13.163" v="26" actId="18676"/>
        <pc:sldMkLst>
          <pc:docMk/>
          <pc:sldMk cId="2365532101" sldId="2123258937"/>
        </pc:sldMkLst>
      </pc:sldChg>
      <pc:sldChg chg="add del">
        <pc:chgData name="Hakim Martin" userId="a10c6df9-0616-4c52-a0ed-0c948603bfe8" providerId="ADAL" clId="{AFF2F3CC-E4A3-497F-8EA1-42562C53A4D5}" dt="2023-10-04T20:46:13.163" v="26" actId="18676"/>
        <pc:sldMkLst>
          <pc:docMk/>
          <pc:sldMk cId="3067333247" sldId="2123258938"/>
        </pc:sldMkLst>
      </pc:sldChg>
      <pc:sldChg chg="add del">
        <pc:chgData name="Hakim Martin" userId="a10c6df9-0616-4c52-a0ed-0c948603bfe8" providerId="ADAL" clId="{AFF2F3CC-E4A3-497F-8EA1-42562C53A4D5}" dt="2023-10-04T20:46:13.163" v="26" actId="18676"/>
        <pc:sldMkLst>
          <pc:docMk/>
          <pc:sldMk cId="4122111893" sldId="2123258939"/>
        </pc:sldMkLst>
      </pc:sldChg>
      <pc:sldChg chg="add del">
        <pc:chgData name="Hakim Martin" userId="a10c6df9-0616-4c52-a0ed-0c948603bfe8" providerId="ADAL" clId="{AFF2F3CC-E4A3-497F-8EA1-42562C53A4D5}" dt="2023-10-04T20:46:13.340" v="27" actId="18676"/>
        <pc:sldMkLst>
          <pc:docMk/>
          <pc:sldMk cId="1896435163" sldId="2147479555"/>
        </pc:sldMkLst>
      </pc:sldChg>
      <pc:sldChg chg="modSp mod">
        <pc:chgData name="Hakim Martin" userId="a10c6df9-0616-4c52-a0ed-0c948603bfe8" providerId="ADAL" clId="{AFF2F3CC-E4A3-497F-8EA1-42562C53A4D5}" dt="2023-10-04T20:46:13.008" v="25" actId="20577"/>
        <pc:sldMkLst>
          <pc:docMk/>
          <pc:sldMk cId="4060601304" sldId="2147479557"/>
        </pc:sldMkLst>
        <pc:spChg chg="mod">
          <ac:chgData name="Hakim Martin" userId="a10c6df9-0616-4c52-a0ed-0c948603bfe8" providerId="ADAL" clId="{AFF2F3CC-E4A3-497F-8EA1-42562C53A4D5}" dt="2023-10-04T20:46:13.008" v="25" actId="20577"/>
          <ac:spMkLst>
            <pc:docMk/>
            <pc:sldMk cId="4060601304" sldId="2147479557"/>
            <ac:spMk id="6" creationId="{A3E08FA2-C73F-A01D-C334-4FAC0DB0C177}"/>
          </ac:spMkLst>
        </pc:spChg>
      </pc:sldChg>
      <pc:sldChg chg="addSp delSp modSp mod">
        <pc:chgData name="Hakim Martin" userId="a10c6df9-0616-4c52-a0ed-0c948603bfe8" providerId="ADAL" clId="{AFF2F3CC-E4A3-497F-8EA1-42562C53A4D5}" dt="2023-10-04T20:46:12.519" v="22" actId="478"/>
        <pc:sldMkLst>
          <pc:docMk/>
          <pc:sldMk cId="1736455465" sldId="2147479651"/>
        </pc:sldMkLst>
        <pc:spChg chg="add del">
          <ac:chgData name="Hakim Martin" userId="a10c6df9-0616-4c52-a0ed-0c948603bfe8" providerId="ADAL" clId="{AFF2F3CC-E4A3-497F-8EA1-42562C53A4D5}" dt="2023-10-04T20:46:12.519" v="22" actId="478"/>
          <ac:spMkLst>
            <pc:docMk/>
            <pc:sldMk cId="1736455465" sldId="2147479651"/>
            <ac:spMk id="6" creationId="{8419F366-8562-71B5-8D4E-2AFB33AA2713}"/>
          </ac:spMkLst>
        </pc:spChg>
        <pc:spChg chg="mod">
          <ac:chgData name="Hakim Martin" userId="a10c6df9-0616-4c52-a0ed-0c948603bfe8" providerId="ADAL" clId="{AFF2F3CC-E4A3-497F-8EA1-42562C53A4D5}" dt="2023-10-04T20:46:12.310" v="20"/>
          <ac:spMkLst>
            <pc:docMk/>
            <pc:sldMk cId="1736455465" sldId="2147479651"/>
            <ac:spMk id="8" creationId="{E15275E9-F296-1E2D-E2D3-6BAE1C5EFAAF}"/>
          </ac:spMkLst>
        </pc:spChg>
        <pc:spChg chg="add del">
          <ac:chgData name="Hakim Martin" userId="a10c6df9-0616-4c52-a0ed-0c948603bfe8" providerId="ADAL" clId="{AFF2F3CC-E4A3-497F-8EA1-42562C53A4D5}" dt="2023-10-04T20:46:11.516" v="15" actId="478"/>
          <ac:spMkLst>
            <pc:docMk/>
            <pc:sldMk cId="1736455465" sldId="2147479651"/>
            <ac:spMk id="9" creationId="{E94094BB-953A-32D0-6B9C-224ED942F9DC}"/>
          </ac:spMkLst>
        </pc:spChg>
        <pc:spChg chg="mod">
          <ac:chgData name="Hakim Martin" userId="a10c6df9-0616-4c52-a0ed-0c948603bfe8" providerId="ADAL" clId="{AFF2F3CC-E4A3-497F-8EA1-42562C53A4D5}" dt="2023-10-04T20:46:11.710" v="16" actId="1076"/>
          <ac:spMkLst>
            <pc:docMk/>
            <pc:sldMk cId="1736455465" sldId="2147479651"/>
            <ac:spMk id="15" creationId="{C30E3F23-57C3-CEE2-DD2F-E66B72B8F428}"/>
          </ac:spMkLst>
        </pc:spChg>
        <pc:spChg chg="mod">
          <ac:chgData name="Hakim Martin" userId="a10c6df9-0616-4c52-a0ed-0c948603bfe8" providerId="ADAL" clId="{AFF2F3CC-E4A3-497F-8EA1-42562C53A4D5}" dt="2023-10-04T20:46:12.355" v="21"/>
          <ac:spMkLst>
            <pc:docMk/>
            <pc:sldMk cId="1736455465" sldId="2147479651"/>
            <ac:spMk id="16" creationId="{85069EA8-1883-9482-758E-F5D0C58727C0}"/>
          </ac:spMkLst>
        </pc:spChg>
        <pc:spChg chg="mod">
          <ac:chgData name="Hakim Martin" userId="a10c6df9-0616-4c52-a0ed-0c948603bfe8" providerId="ADAL" clId="{AFF2F3CC-E4A3-497F-8EA1-42562C53A4D5}" dt="2023-10-04T20:46:12.206" v="19"/>
          <ac:spMkLst>
            <pc:docMk/>
            <pc:sldMk cId="1736455465" sldId="2147479651"/>
            <ac:spMk id="21" creationId="{30825D71-3CBA-C279-EE28-D3A5995A57C0}"/>
          </ac:spMkLst>
        </pc:spChg>
        <pc:spChg chg="mod">
          <ac:chgData name="Hakim Martin" userId="a10c6df9-0616-4c52-a0ed-0c948603bfe8" providerId="ADAL" clId="{AFF2F3CC-E4A3-497F-8EA1-42562C53A4D5}" dt="2023-10-04T20:46:12.041" v="18"/>
          <ac:spMkLst>
            <pc:docMk/>
            <pc:sldMk cId="1736455465" sldId="2147479651"/>
            <ac:spMk id="23" creationId="{744A9E3C-71E4-FC1C-7854-91A32D02A5CB}"/>
          </ac:spMkLst>
        </pc:spChg>
        <pc:spChg chg="add del">
          <ac:chgData name="Hakim Martin" userId="a10c6df9-0616-4c52-a0ed-0c948603bfe8" providerId="ADAL" clId="{AFF2F3CC-E4A3-497F-8EA1-42562C53A4D5}" dt="2023-10-04T20:46:11.875" v="17" actId="478"/>
          <ac:spMkLst>
            <pc:docMk/>
            <pc:sldMk cId="1736455465" sldId="2147479651"/>
            <ac:spMk id="24" creationId="{77270AB8-BA03-6C64-95E0-060D8A538269}"/>
          </ac:spMkLst>
        </pc:spChg>
      </pc:sldChg>
      <pc:sldChg chg="add del">
        <pc:chgData name="Hakim Martin" userId="a10c6df9-0616-4c52-a0ed-0c948603bfe8" providerId="ADAL" clId="{AFF2F3CC-E4A3-497F-8EA1-42562C53A4D5}" dt="2023-10-04T20:46:13.340" v="27" actId="18676"/>
        <pc:sldMkLst>
          <pc:docMk/>
          <pc:sldMk cId="1145877586" sldId="2147479701"/>
        </pc:sldMkLst>
      </pc:sldChg>
      <pc:sldChg chg="add del">
        <pc:chgData name="Hakim Martin" userId="a10c6df9-0616-4c52-a0ed-0c948603bfe8" providerId="ADAL" clId="{AFF2F3CC-E4A3-497F-8EA1-42562C53A4D5}" dt="2023-10-04T20:46:13.163" v="26" actId="18676"/>
        <pc:sldMkLst>
          <pc:docMk/>
          <pc:sldMk cId="280327979" sldId="2147479702"/>
        </pc:sldMkLst>
      </pc:sldChg>
      <pc:sldChg chg="add del">
        <pc:chgData name="Hakim Martin" userId="a10c6df9-0616-4c52-a0ed-0c948603bfe8" providerId="ADAL" clId="{AFF2F3CC-E4A3-497F-8EA1-42562C53A4D5}" dt="2023-10-04T20:46:13.340" v="27" actId="18676"/>
        <pc:sldMkLst>
          <pc:docMk/>
          <pc:sldMk cId="2073530646" sldId="2147479710"/>
        </pc:sldMkLst>
      </pc:sldChg>
      <pc:sldMasterChg chg="addSldLayout delSldLayout">
        <pc:chgData name="Hakim Martin" userId="a10c6df9-0616-4c52-a0ed-0c948603bfe8" providerId="ADAL" clId="{AFF2F3CC-E4A3-497F-8EA1-42562C53A4D5}" dt="2023-10-04T20:46:13.163" v="26" actId="18676"/>
        <pc:sldMasterMkLst>
          <pc:docMk/>
          <pc:sldMasterMk cId="3588427678" sldId="2147484229"/>
        </pc:sldMasterMkLst>
        <pc:sldLayoutChg chg="add del">
          <pc:chgData name="Hakim Martin" userId="a10c6df9-0616-4c52-a0ed-0c948603bfe8" providerId="ADAL" clId="{AFF2F3CC-E4A3-497F-8EA1-42562C53A4D5}" dt="2023-10-04T20:46:13.163" v="26" actId="18676"/>
          <pc:sldLayoutMkLst>
            <pc:docMk/>
            <pc:sldMasterMk cId="3588427678" sldId="2147484229"/>
            <pc:sldLayoutMk cId="1145929198" sldId="2147484894"/>
          </pc:sldLayoutMkLst>
        </pc:sldLayoutChg>
        <pc:sldLayoutChg chg="add del">
          <pc:chgData name="Hakim Martin" userId="a10c6df9-0616-4c52-a0ed-0c948603bfe8" providerId="ADAL" clId="{AFF2F3CC-E4A3-497F-8EA1-42562C53A4D5}" dt="2023-10-04T20:46:13.163" v="26" actId="18676"/>
          <pc:sldLayoutMkLst>
            <pc:docMk/>
            <pc:sldMasterMk cId="3588427678" sldId="2147484229"/>
            <pc:sldLayoutMk cId="3591634497" sldId="2147484895"/>
          </pc:sldLayoutMkLst>
        </pc:sldLayoutChg>
      </pc:sldMasterChg>
    </pc:docChg>
  </pc:docChgLst>
  <pc:docChgLst>
    <pc:chgData name="Anna Jennings" userId="S::anjenni@microsoft.com::8ab53ffb-fb1d-4e91-bd8d-4a8442a41acf" providerId="AD" clId="Web-{12A9A0BA-8866-9F4B-B57D-3DFFC98476E4}"/>
    <pc:docChg chg="modSld">
      <pc:chgData name="Anna Jennings" userId="S::anjenni@microsoft.com::8ab53ffb-fb1d-4e91-bd8d-4a8442a41acf" providerId="AD" clId="Web-{12A9A0BA-8866-9F4B-B57D-3DFFC98476E4}" dt="2023-08-31T16:15:08.281" v="33" actId="20577"/>
      <pc:docMkLst>
        <pc:docMk/>
      </pc:docMkLst>
      <pc:sldChg chg="modSp">
        <pc:chgData name="Anna Jennings" userId="S::anjenni@microsoft.com::8ab53ffb-fb1d-4e91-bd8d-4a8442a41acf" providerId="AD" clId="Web-{12A9A0BA-8866-9F4B-B57D-3DFFC98476E4}" dt="2023-08-31T16:15:08.281" v="33" actId="20577"/>
        <pc:sldMkLst>
          <pc:docMk/>
          <pc:sldMk cId="4060601304" sldId="2147479557"/>
        </pc:sldMkLst>
        <pc:spChg chg="mod">
          <ac:chgData name="Anna Jennings" userId="S::anjenni@microsoft.com::8ab53ffb-fb1d-4e91-bd8d-4a8442a41acf" providerId="AD" clId="Web-{12A9A0BA-8866-9F4B-B57D-3DFFC98476E4}" dt="2023-08-31T16:15:08.281" v="33" actId="20577"/>
          <ac:spMkLst>
            <pc:docMk/>
            <pc:sldMk cId="4060601304" sldId="2147479557"/>
            <ac:spMk id="6" creationId="{A3E08FA2-C73F-A01D-C334-4FAC0DB0C177}"/>
          </ac:spMkLst>
        </pc:spChg>
      </pc:sldChg>
    </pc:docChg>
  </pc:docChgLst>
  <pc:docChgLst>
    <pc:chgData name="Celene Abramson" userId="f8acb2d9-60cf-4e8c-9ff6-ed0496accdb1" providerId="ADAL" clId="{C043D498-085D-42CD-ABAD-0B60FB3DDBB5}"/>
    <pc:docChg chg="modSld">
      <pc:chgData name="Celene Abramson" userId="f8acb2d9-60cf-4e8c-9ff6-ed0496accdb1" providerId="ADAL" clId="{C043D498-085D-42CD-ABAD-0B60FB3DDBB5}" dt="2023-08-04T00:08:33.496" v="216"/>
      <pc:docMkLst>
        <pc:docMk/>
      </pc:docMkLst>
      <pc:sldChg chg="modSp mod">
        <pc:chgData name="Celene Abramson" userId="f8acb2d9-60cf-4e8c-9ff6-ed0496accdb1" providerId="ADAL" clId="{C043D498-085D-42CD-ABAD-0B60FB3DDBB5}" dt="2023-08-03T23:57:36.813" v="0"/>
        <pc:sldMkLst>
          <pc:docMk/>
          <pc:sldMk cId="4060601304" sldId="2147479557"/>
        </pc:sldMkLst>
        <pc:spChg chg="ord">
          <ac:chgData name="Celene Abramson" userId="f8acb2d9-60cf-4e8c-9ff6-ed0496accdb1" providerId="ADAL" clId="{C043D498-085D-42CD-ABAD-0B60FB3DDBB5}" dt="2023-08-03T23:57:36.813" v="0"/>
          <ac:spMkLst>
            <pc:docMk/>
            <pc:sldMk cId="4060601304" sldId="2147479557"/>
            <ac:spMk id="8" creationId="{7C4740F1-B816-6BEC-8362-3B8D251DFCEE}"/>
          </ac:spMkLst>
        </pc:spChg>
      </pc:sldChg>
      <pc:sldChg chg="modSp mod">
        <pc:chgData name="Celene Abramson" userId="f8acb2d9-60cf-4e8c-9ff6-ed0496accdb1" providerId="ADAL" clId="{C043D498-085D-42CD-ABAD-0B60FB3DDBB5}" dt="2023-08-04T00:06:21.376" v="184"/>
        <pc:sldMkLst>
          <pc:docMk/>
          <pc:sldMk cId="4260422342" sldId="2147479594"/>
        </pc:sldMkLst>
        <pc:spChg chg="ord">
          <ac:chgData name="Celene Abramson" userId="f8acb2d9-60cf-4e8c-9ff6-ed0496accdb1" providerId="ADAL" clId="{C043D498-085D-42CD-ABAD-0B60FB3DDBB5}" dt="2023-08-04T00:06:11.526" v="182"/>
          <ac:spMkLst>
            <pc:docMk/>
            <pc:sldMk cId="4260422342" sldId="2147479594"/>
            <ac:spMk id="2" creationId="{29E65EAD-DB53-8B16-745F-CE1B01593252}"/>
          </ac:spMkLst>
        </pc:spChg>
        <pc:spChg chg="ord">
          <ac:chgData name="Celene Abramson" userId="f8acb2d9-60cf-4e8c-9ff6-ed0496accdb1" providerId="ADAL" clId="{C043D498-085D-42CD-ABAD-0B60FB3DDBB5}" dt="2023-08-04T00:05:59.134" v="180"/>
          <ac:spMkLst>
            <pc:docMk/>
            <pc:sldMk cId="4260422342" sldId="2147479594"/>
            <ac:spMk id="4" creationId="{DE95DCB5-4258-68B1-1A56-68B7CC5D0F2D}"/>
          </ac:spMkLst>
        </pc:spChg>
        <pc:spChg chg="ord">
          <ac:chgData name="Celene Abramson" userId="f8acb2d9-60cf-4e8c-9ff6-ed0496accdb1" providerId="ADAL" clId="{C043D498-085D-42CD-ABAD-0B60FB3DDBB5}" dt="2023-08-04T00:06:17.367" v="183"/>
          <ac:spMkLst>
            <pc:docMk/>
            <pc:sldMk cId="4260422342" sldId="2147479594"/>
            <ac:spMk id="5" creationId="{0CC3932D-AF62-994B-BAF6-36B38660AE6A}"/>
          </ac:spMkLst>
        </pc:spChg>
        <pc:spChg chg="ord">
          <ac:chgData name="Celene Abramson" userId="f8acb2d9-60cf-4e8c-9ff6-ed0496accdb1" providerId="ADAL" clId="{C043D498-085D-42CD-ABAD-0B60FB3DDBB5}" dt="2023-08-04T00:06:21.376" v="184"/>
          <ac:spMkLst>
            <pc:docMk/>
            <pc:sldMk cId="4260422342" sldId="2147479594"/>
            <ac:spMk id="6" creationId="{43F14745-9308-59B5-B699-2477843145BF}"/>
          </ac:spMkLst>
        </pc:spChg>
        <pc:spChg chg="ord">
          <ac:chgData name="Celene Abramson" userId="f8acb2d9-60cf-4e8c-9ff6-ed0496accdb1" providerId="ADAL" clId="{C043D498-085D-42CD-ABAD-0B60FB3DDBB5}" dt="2023-08-04T00:05:39.178" v="177"/>
          <ac:spMkLst>
            <pc:docMk/>
            <pc:sldMk cId="4260422342" sldId="2147479594"/>
            <ac:spMk id="12" creationId="{53322978-A730-EB17-5D62-A209F514E7E2}"/>
          </ac:spMkLst>
        </pc:spChg>
        <pc:spChg chg="ord">
          <ac:chgData name="Celene Abramson" userId="f8acb2d9-60cf-4e8c-9ff6-ed0496accdb1" providerId="ADAL" clId="{C043D498-085D-42CD-ABAD-0B60FB3DDBB5}" dt="2023-08-04T00:05:19.989" v="170"/>
          <ac:spMkLst>
            <pc:docMk/>
            <pc:sldMk cId="4260422342" sldId="2147479594"/>
            <ac:spMk id="17" creationId="{ACDD559A-25F8-918A-9C24-8A8DF8FB4288}"/>
          </ac:spMkLst>
        </pc:spChg>
        <pc:picChg chg="ord">
          <ac:chgData name="Celene Abramson" userId="f8acb2d9-60cf-4e8c-9ff6-ed0496accdb1" providerId="ADAL" clId="{C043D498-085D-42CD-ABAD-0B60FB3DDBB5}" dt="2023-08-04T00:05:26.829" v="176"/>
          <ac:picMkLst>
            <pc:docMk/>
            <pc:sldMk cId="4260422342" sldId="2147479594"/>
            <ac:picMk id="21" creationId="{15DEF036-DB68-7837-5186-51A159AC84FC}"/>
          </ac:picMkLst>
        </pc:picChg>
      </pc:sldChg>
      <pc:sldChg chg="modSp mod">
        <pc:chgData name="Celene Abramson" userId="f8acb2d9-60cf-4e8c-9ff6-ed0496accdb1" providerId="ADAL" clId="{C043D498-085D-42CD-ABAD-0B60FB3DDBB5}" dt="2023-08-04T00:08:22.198" v="215"/>
        <pc:sldMkLst>
          <pc:docMk/>
          <pc:sldMk cId="912563709" sldId="2147479600"/>
        </pc:sldMkLst>
        <pc:spChg chg="ord">
          <ac:chgData name="Celene Abramson" userId="f8acb2d9-60cf-4e8c-9ff6-ed0496accdb1" providerId="ADAL" clId="{C043D498-085D-42CD-ABAD-0B60FB3DDBB5}" dt="2023-08-03T23:58:21.904" v="9"/>
          <ac:spMkLst>
            <pc:docMk/>
            <pc:sldMk cId="912563709" sldId="2147479600"/>
            <ac:spMk id="3" creationId="{CBEAF08C-426A-06BB-D908-6B660126BC80}"/>
          </ac:spMkLst>
        </pc:spChg>
        <pc:spChg chg="ord">
          <ac:chgData name="Celene Abramson" userId="f8acb2d9-60cf-4e8c-9ff6-ed0496accdb1" providerId="ADAL" clId="{C043D498-085D-42CD-ABAD-0B60FB3DDBB5}" dt="2023-08-03T23:58:14.929" v="8"/>
          <ac:spMkLst>
            <pc:docMk/>
            <pc:sldMk cId="912563709" sldId="2147479600"/>
            <ac:spMk id="5" creationId="{5D587129-3E98-A309-ECAE-E0EF1D6CC02A}"/>
          </ac:spMkLst>
        </pc:spChg>
        <pc:spChg chg="ord">
          <ac:chgData name="Celene Abramson" userId="f8acb2d9-60cf-4e8c-9ff6-ed0496accdb1" providerId="ADAL" clId="{C043D498-085D-42CD-ABAD-0B60FB3DDBB5}" dt="2023-08-03T23:57:53.723" v="1"/>
          <ac:spMkLst>
            <pc:docMk/>
            <pc:sldMk cId="912563709" sldId="2147479600"/>
            <ac:spMk id="9" creationId="{6B943E88-6F61-C13A-1F54-27D8B885A30A}"/>
          </ac:spMkLst>
        </pc:spChg>
        <pc:spChg chg="ord">
          <ac:chgData name="Celene Abramson" userId="f8acb2d9-60cf-4e8c-9ff6-ed0496accdb1" providerId="ADAL" clId="{C043D498-085D-42CD-ABAD-0B60FB3DDBB5}" dt="2023-08-04T00:08:22.198" v="215"/>
          <ac:spMkLst>
            <pc:docMk/>
            <pc:sldMk cId="912563709" sldId="2147479600"/>
            <ac:spMk id="11" creationId="{943C345B-D210-3CB5-16C1-AB12814BBEA2}"/>
          </ac:spMkLst>
        </pc:spChg>
        <pc:grpChg chg="ord">
          <ac:chgData name="Celene Abramson" userId="f8acb2d9-60cf-4e8c-9ff6-ed0496accdb1" providerId="ADAL" clId="{C043D498-085D-42CD-ABAD-0B60FB3DDBB5}" dt="2023-08-03T23:58:00.482" v="5"/>
          <ac:grpSpMkLst>
            <pc:docMk/>
            <pc:sldMk cId="912563709" sldId="2147479600"/>
            <ac:grpSpMk id="30" creationId="{934F1B33-E3A8-4CC1-310D-CD6A36507B58}"/>
          </ac:grpSpMkLst>
        </pc:grpChg>
      </pc:sldChg>
      <pc:sldChg chg="modSp mod">
        <pc:chgData name="Celene Abramson" userId="f8acb2d9-60cf-4e8c-9ff6-ed0496accdb1" providerId="ADAL" clId="{C043D498-085D-42CD-ABAD-0B60FB3DDBB5}" dt="2023-08-04T00:05:06.288" v="165"/>
        <pc:sldMkLst>
          <pc:docMk/>
          <pc:sldMk cId="833209215" sldId="2147479607"/>
        </pc:sldMkLst>
        <pc:spChg chg="ord">
          <ac:chgData name="Celene Abramson" userId="f8acb2d9-60cf-4e8c-9ff6-ed0496accdb1" providerId="ADAL" clId="{C043D498-085D-42CD-ABAD-0B60FB3DDBB5}" dt="2023-08-04T00:04:38.992" v="151"/>
          <ac:spMkLst>
            <pc:docMk/>
            <pc:sldMk cId="833209215" sldId="2147479607"/>
            <ac:spMk id="2" creationId="{8E5767E9-DE24-BFC9-0344-C106894F0BBE}"/>
          </ac:spMkLst>
        </pc:spChg>
        <pc:spChg chg="ord">
          <ac:chgData name="Celene Abramson" userId="f8acb2d9-60cf-4e8c-9ff6-ed0496accdb1" providerId="ADAL" clId="{C043D498-085D-42CD-ABAD-0B60FB3DDBB5}" dt="2023-08-04T00:04:42.255" v="156"/>
          <ac:spMkLst>
            <pc:docMk/>
            <pc:sldMk cId="833209215" sldId="2147479607"/>
            <ac:spMk id="6" creationId="{4044A96B-6E8F-0626-1F15-2DB8E0B8E052}"/>
          </ac:spMkLst>
        </pc:spChg>
        <pc:spChg chg="ord">
          <ac:chgData name="Celene Abramson" userId="f8acb2d9-60cf-4e8c-9ff6-ed0496accdb1" providerId="ADAL" clId="{C043D498-085D-42CD-ABAD-0B60FB3DDBB5}" dt="2023-08-04T00:04:51.764" v="159"/>
          <ac:spMkLst>
            <pc:docMk/>
            <pc:sldMk cId="833209215" sldId="2147479607"/>
            <ac:spMk id="13" creationId="{15FD8D32-1F5A-71CD-0EA0-111FE0F75A22}"/>
          </ac:spMkLst>
        </pc:spChg>
        <pc:spChg chg="ord">
          <ac:chgData name="Celene Abramson" userId="f8acb2d9-60cf-4e8c-9ff6-ed0496accdb1" providerId="ADAL" clId="{C043D498-085D-42CD-ABAD-0B60FB3DDBB5}" dt="2023-08-04T00:04:59.643" v="164"/>
          <ac:spMkLst>
            <pc:docMk/>
            <pc:sldMk cId="833209215" sldId="2147479607"/>
            <ac:spMk id="18" creationId="{B1AB3BFA-3E93-A6E5-8FE9-7E4B0A0B73C7}"/>
          </ac:spMkLst>
        </pc:spChg>
        <pc:spChg chg="ord">
          <ac:chgData name="Celene Abramson" userId="f8acb2d9-60cf-4e8c-9ff6-ed0496accdb1" providerId="ADAL" clId="{C043D498-085D-42CD-ABAD-0B60FB3DDBB5}" dt="2023-08-04T00:04:46.437" v="158"/>
          <ac:spMkLst>
            <pc:docMk/>
            <pc:sldMk cId="833209215" sldId="2147479607"/>
            <ac:spMk id="21" creationId="{94B7363C-E11A-7773-FEC4-37C7BE727FF7}"/>
          </ac:spMkLst>
        </pc:spChg>
        <pc:spChg chg="ord">
          <ac:chgData name="Celene Abramson" userId="f8acb2d9-60cf-4e8c-9ff6-ed0496accdb1" providerId="ADAL" clId="{C043D498-085D-42CD-ABAD-0B60FB3DDBB5}" dt="2023-08-04T00:04:55.034" v="162"/>
          <ac:spMkLst>
            <pc:docMk/>
            <pc:sldMk cId="833209215" sldId="2147479607"/>
            <ac:spMk id="57" creationId="{1902BDB0-F449-F635-7020-1B2246BBEAEC}"/>
          </ac:spMkLst>
        </pc:spChg>
        <pc:grpChg chg="ord">
          <ac:chgData name="Celene Abramson" userId="f8acb2d9-60cf-4e8c-9ff6-ed0496accdb1" providerId="ADAL" clId="{C043D498-085D-42CD-ABAD-0B60FB3DDBB5}" dt="2023-08-04T00:05:06.288" v="165"/>
          <ac:grpSpMkLst>
            <pc:docMk/>
            <pc:sldMk cId="833209215" sldId="2147479607"/>
            <ac:grpSpMk id="19" creationId="{58E532ED-A6EA-9B86-5DB0-AE5BB46F141E}"/>
          </ac:grpSpMkLst>
        </pc:grpChg>
      </pc:sldChg>
      <pc:sldChg chg="modSp mod">
        <pc:chgData name="Celene Abramson" userId="f8acb2d9-60cf-4e8c-9ff6-ed0496accdb1" providerId="ADAL" clId="{C043D498-085D-42CD-ABAD-0B60FB3DDBB5}" dt="2023-08-04T00:01:06.297" v="79"/>
        <pc:sldMkLst>
          <pc:docMk/>
          <pc:sldMk cId="325129229" sldId="2147479648"/>
        </pc:sldMkLst>
        <pc:spChg chg="ord">
          <ac:chgData name="Celene Abramson" userId="f8acb2d9-60cf-4e8c-9ff6-ed0496accdb1" providerId="ADAL" clId="{C043D498-085D-42CD-ABAD-0B60FB3DDBB5}" dt="2023-08-04T00:00:50.762" v="77"/>
          <ac:spMkLst>
            <pc:docMk/>
            <pc:sldMk cId="325129229" sldId="2147479648"/>
            <ac:spMk id="8" creationId="{024DB499-4361-4308-FC9B-E543A47F6721}"/>
          </ac:spMkLst>
        </pc:spChg>
        <pc:spChg chg="ord">
          <ac:chgData name="Celene Abramson" userId="f8acb2d9-60cf-4e8c-9ff6-ed0496accdb1" providerId="ADAL" clId="{C043D498-085D-42CD-ABAD-0B60FB3DDBB5}" dt="2023-08-03T23:59:30.948" v="42"/>
          <ac:spMkLst>
            <pc:docMk/>
            <pc:sldMk cId="325129229" sldId="2147479648"/>
            <ac:spMk id="17" creationId="{01561EF4-D3D7-16D6-06AC-E0E8E0EE810E}"/>
          </ac:spMkLst>
        </pc:spChg>
        <pc:spChg chg="ord">
          <ac:chgData name="Celene Abramson" userId="f8acb2d9-60cf-4e8c-9ff6-ed0496accdb1" providerId="ADAL" clId="{C043D498-085D-42CD-ABAD-0B60FB3DDBB5}" dt="2023-08-03T23:59:26.021" v="31"/>
          <ac:spMkLst>
            <pc:docMk/>
            <pc:sldMk cId="325129229" sldId="2147479648"/>
            <ac:spMk id="19" creationId="{EC5683A2-2179-3E79-6645-D011C29AEF71}"/>
          </ac:spMkLst>
        </pc:spChg>
        <pc:spChg chg="ord">
          <ac:chgData name="Celene Abramson" userId="f8acb2d9-60cf-4e8c-9ff6-ed0496accdb1" providerId="ADAL" clId="{C043D498-085D-42CD-ABAD-0B60FB3DDBB5}" dt="2023-08-03T23:59:36.695" v="53"/>
          <ac:spMkLst>
            <pc:docMk/>
            <pc:sldMk cId="325129229" sldId="2147479648"/>
            <ac:spMk id="20" creationId="{D49F25EC-A170-C832-AE24-EB03D8AF0995}"/>
          </ac:spMkLst>
        </pc:spChg>
        <pc:spChg chg="ord">
          <ac:chgData name="Celene Abramson" userId="f8acb2d9-60cf-4e8c-9ff6-ed0496accdb1" providerId="ADAL" clId="{C043D498-085D-42CD-ABAD-0B60FB3DDBB5}" dt="2023-08-04T00:01:06.297" v="79"/>
          <ac:spMkLst>
            <pc:docMk/>
            <pc:sldMk cId="325129229" sldId="2147479648"/>
            <ac:spMk id="22" creationId="{F3914AB5-A7A1-B1CF-3AF3-81A8583CD26B}"/>
          </ac:spMkLst>
        </pc:spChg>
        <pc:spChg chg="ord">
          <ac:chgData name="Celene Abramson" userId="f8acb2d9-60cf-4e8c-9ff6-ed0496accdb1" providerId="ADAL" clId="{C043D498-085D-42CD-ABAD-0B60FB3DDBB5}" dt="2023-08-03T23:59:52.654" v="62"/>
          <ac:spMkLst>
            <pc:docMk/>
            <pc:sldMk cId="325129229" sldId="2147479648"/>
            <ac:spMk id="25" creationId="{CAD44BD2-B747-01D0-8FB4-522B662FE479}"/>
          </ac:spMkLst>
        </pc:spChg>
        <pc:spChg chg="ord">
          <ac:chgData name="Celene Abramson" userId="f8acb2d9-60cf-4e8c-9ff6-ed0496accdb1" providerId="ADAL" clId="{C043D498-085D-42CD-ABAD-0B60FB3DDBB5}" dt="2023-08-04T00:00:42.051" v="76"/>
          <ac:spMkLst>
            <pc:docMk/>
            <pc:sldMk cId="325129229" sldId="2147479648"/>
            <ac:spMk id="26" creationId="{5FA6EE8B-E7DC-E3A5-0383-CA443F74FCEE}"/>
          </ac:spMkLst>
        </pc:spChg>
        <pc:spChg chg="ord">
          <ac:chgData name="Celene Abramson" userId="f8acb2d9-60cf-4e8c-9ff6-ed0496accdb1" providerId="ADAL" clId="{C043D498-085D-42CD-ABAD-0B60FB3DDBB5}" dt="2023-08-03T23:59:44.112" v="59"/>
          <ac:spMkLst>
            <pc:docMk/>
            <pc:sldMk cId="325129229" sldId="2147479648"/>
            <ac:spMk id="57" creationId="{1902BDB0-F449-F635-7020-1B2246BBEAEC}"/>
          </ac:spMkLst>
        </pc:spChg>
        <pc:picChg chg="ord">
          <ac:chgData name="Celene Abramson" userId="f8acb2d9-60cf-4e8c-9ff6-ed0496accdb1" providerId="ADAL" clId="{C043D498-085D-42CD-ABAD-0B60FB3DDBB5}" dt="2023-08-04T00:00:10.380" v="72"/>
          <ac:picMkLst>
            <pc:docMk/>
            <pc:sldMk cId="325129229" sldId="2147479648"/>
            <ac:picMk id="5" creationId="{06632F90-8BFB-A457-5B90-5C3445C5B308}"/>
          </ac:picMkLst>
        </pc:picChg>
        <pc:picChg chg="ord">
          <ac:chgData name="Celene Abramson" userId="f8acb2d9-60cf-4e8c-9ff6-ed0496accdb1" providerId="ADAL" clId="{C043D498-085D-42CD-ABAD-0B60FB3DDBB5}" dt="2023-08-04T00:00:28.849" v="75"/>
          <ac:picMkLst>
            <pc:docMk/>
            <pc:sldMk cId="325129229" sldId="2147479648"/>
            <ac:picMk id="9" creationId="{15887BF4-33EA-A468-090A-94ACB3C77DD7}"/>
          </ac:picMkLst>
        </pc:picChg>
        <pc:picChg chg="ord">
          <ac:chgData name="Celene Abramson" userId="f8acb2d9-60cf-4e8c-9ff6-ed0496accdb1" providerId="ADAL" clId="{C043D498-085D-42CD-ABAD-0B60FB3DDBB5}" dt="2023-08-04T00:00:56.949" v="78"/>
          <ac:picMkLst>
            <pc:docMk/>
            <pc:sldMk cId="325129229" sldId="2147479648"/>
            <ac:picMk id="10" creationId="{144B548A-EC78-506E-7F99-D22648A968B6}"/>
          </ac:picMkLst>
        </pc:picChg>
        <pc:picChg chg="ord">
          <ac:chgData name="Celene Abramson" userId="f8acb2d9-60cf-4e8c-9ff6-ed0496accdb1" providerId="ADAL" clId="{C043D498-085D-42CD-ABAD-0B60FB3DDBB5}" dt="2023-08-04T00:00:18.222" v="73"/>
          <ac:picMkLst>
            <pc:docMk/>
            <pc:sldMk cId="325129229" sldId="2147479648"/>
            <ac:picMk id="12" creationId="{B0EEA3EE-F7F6-BA6A-F342-518877845D44}"/>
          </ac:picMkLst>
        </pc:picChg>
      </pc:sldChg>
      <pc:sldChg chg="modSp mod">
        <pc:chgData name="Celene Abramson" userId="f8acb2d9-60cf-4e8c-9ff6-ed0496accdb1" providerId="ADAL" clId="{C043D498-085D-42CD-ABAD-0B60FB3DDBB5}" dt="2023-08-04T00:08:12.529" v="214"/>
        <pc:sldMkLst>
          <pc:docMk/>
          <pc:sldMk cId="1509357578" sldId="2147479649"/>
        </pc:sldMkLst>
        <pc:spChg chg="ord">
          <ac:chgData name="Celene Abramson" userId="f8acb2d9-60cf-4e8c-9ff6-ed0496accdb1" providerId="ADAL" clId="{C043D498-085D-42CD-ABAD-0B60FB3DDBB5}" dt="2023-08-04T00:08:12.529" v="214"/>
          <ac:spMkLst>
            <pc:docMk/>
            <pc:sldMk cId="1509357578" sldId="2147479649"/>
            <ac:spMk id="3" creationId="{A50FB34A-8396-1ED0-D312-A73DD15CF33C}"/>
          </ac:spMkLst>
        </pc:spChg>
        <pc:spChg chg="ord">
          <ac:chgData name="Celene Abramson" userId="f8acb2d9-60cf-4e8c-9ff6-ed0496accdb1" providerId="ADAL" clId="{C043D498-085D-42CD-ABAD-0B60FB3DDBB5}" dt="2023-08-04T00:02:37.047" v="112"/>
          <ac:spMkLst>
            <pc:docMk/>
            <pc:sldMk cId="1509357578" sldId="2147479649"/>
            <ac:spMk id="4" creationId="{2FE3E430-4D21-6070-565F-549992A363A9}"/>
          </ac:spMkLst>
        </pc:spChg>
        <pc:spChg chg="ord">
          <ac:chgData name="Celene Abramson" userId="f8acb2d9-60cf-4e8c-9ff6-ed0496accdb1" providerId="ADAL" clId="{C043D498-085D-42CD-ABAD-0B60FB3DDBB5}" dt="2023-08-04T00:01:32.364" v="80"/>
          <ac:spMkLst>
            <pc:docMk/>
            <pc:sldMk cId="1509357578" sldId="2147479649"/>
            <ac:spMk id="6" creationId="{4044A96B-6E8F-0626-1F15-2DB8E0B8E052}"/>
          </ac:spMkLst>
        </pc:spChg>
        <pc:spChg chg="ord">
          <ac:chgData name="Celene Abramson" userId="f8acb2d9-60cf-4e8c-9ff6-ed0496accdb1" providerId="ADAL" clId="{C043D498-085D-42CD-ABAD-0B60FB3DDBB5}" dt="2023-08-04T00:02:00.101" v="85"/>
          <ac:spMkLst>
            <pc:docMk/>
            <pc:sldMk cId="1509357578" sldId="2147479649"/>
            <ac:spMk id="8" creationId="{D827E476-C5F2-1EE3-D528-BABA8D3D86DE}"/>
          </ac:spMkLst>
        </pc:spChg>
        <pc:spChg chg="ord">
          <ac:chgData name="Celene Abramson" userId="f8acb2d9-60cf-4e8c-9ff6-ed0496accdb1" providerId="ADAL" clId="{C043D498-085D-42CD-ABAD-0B60FB3DDBB5}" dt="2023-08-04T00:02:05.372" v="90"/>
          <ac:spMkLst>
            <pc:docMk/>
            <pc:sldMk cId="1509357578" sldId="2147479649"/>
            <ac:spMk id="9" creationId="{E81F08F0-69C3-503F-98FA-49046BF52668}"/>
          </ac:spMkLst>
        </pc:spChg>
        <pc:spChg chg="ord">
          <ac:chgData name="Celene Abramson" userId="f8acb2d9-60cf-4e8c-9ff6-ed0496accdb1" providerId="ADAL" clId="{C043D498-085D-42CD-ABAD-0B60FB3DDBB5}" dt="2023-08-04T00:02:24.908" v="101"/>
          <ac:spMkLst>
            <pc:docMk/>
            <pc:sldMk cId="1509357578" sldId="2147479649"/>
            <ac:spMk id="10" creationId="{B56AF5A9-049E-D4E1-241B-A0246FF8C74E}"/>
          </ac:spMkLst>
        </pc:spChg>
        <pc:spChg chg="ord">
          <ac:chgData name="Celene Abramson" userId="f8acb2d9-60cf-4e8c-9ff6-ed0496accdb1" providerId="ADAL" clId="{C043D498-085D-42CD-ABAD-0B60FB3DDBB5}" dt="2023-08-04T00:02:17.721" v="96"/>
          <ac:spMkLst>
            <pc:docMk/>
            <pc:sldMk cId="1509357578" sldId="2147479649"/>
            <ac:spMk id="11" creationId="{872DF97A-AE97-BEEE-3029-CB3AEFF7028B}"/>
          </ac:spMkLst>
        </pc:spChg>
        <pc:spChg chg="ord">
          <ac:chgData name="Celene Abramson" userId="f8acb2d9-60cf-4e8c-9ff6-ed0496accdb1" providerId="ADAL" clId="{C043D498-085D-42CD-ABAD-0B60FB3DDBB5}" dt="2023-08-04T00:03:26.975" v="136"/>
          <ac:spMkLst>
            <pc:docMk/>
            <pc:sldMk cId="1509357578" sldId="2147479649"/>
            <ac:spMk id="28" creationId="{0B8C1002-7AB4-728F-DFD1-D736F69B71BD}"/>
          </ac:spMkLst>
        </pc:spChg>
        <pc:spChg chg="ord">
          <ac:chgData name="Celene Abramson" userId="f8acb2d9-60cf-4e8c-9ff6-ed0496accdb1" providerId="ADAL" clId="{C043D498-085D-42CD-ABAD-0B60FB3DDBB5}" dt="2023-08-04T00:04:12.363" v="144"/>
          <ac:spMkLst>
            <pc:docMk/>
            <pc:sldMk cId="1509357578" sldId="2147479649"/>
            <ac:spMk id="32" creationId="{91BC0955-5F04-8692-97FB-179B5EDB16EB}"/>
          </ac:spMkLst>
        </pc:spChg>
        <pc:spChg chg="ord">
          <ac:chgData name="Celene Abramson" userId="f8acb2d9-60cf-4e8c-9ff6-ed0496accdb1" providerId="ADAL" clId="{C043D498-085D-42CD-ABAD-0B60FB3DDBB5}" dt="2023-08-04T00:03:46.269" v="140"/>
          <ac:spMkLst>
            <pc:docMk/>
            <pc:sldMk cId="1509357578" sldId="2147479649"/>
            <ac:spMk id="33" creationId="{6BA32D2F-A3BB-0F92-562E-47913E4D8086}"/>
          </ac:spMkLst>
        </pc:spChg>
        <pc:picChg chg="ord">
          <ac:chgData name="Celene Abramson" userId="f8acb2d9-60cf-4e8c-9ff6-ed0496accdb1" providerId="ADAL" clId="{C043D498-085D-42CD-ABAD-0B60FB3DDBB5}" dt="2023-08-04T00:03:52.935" v="141"/>
          <ac:picMkLst>
            <pc:docMk/>
            <pc:sldMk cId="1509357578" sldId="2147479649"/>
            <ac:picMk id="12" creationId="{EBF5A11E-96B7-DC94-AA95-8C59BC5256C7}"/>
          </ac:picMkLst>
        </pc:picChg>
        <pc:picChg chg="ord">
          <ac:chgData name="Celene Abramson" userId="f8acb2d9-60cf-4e8c-9ff6-ed0496accdb1" providerId="ADAL" clId="{C043D498-085D-42CD-ABAD-0B60FB3DDBB5}" dt="2023-08-04T00:04:23.858" v="149"/>
          <ac:picMkLst>
            <pc:docMk/>
            <pc:sldMk cId="1509357578" sldId="2147479649"/>
            <ac:picMk id="14" creationId="{693B8A40-AC34-02A8-B4D3-A0BD25F10703}"/>
          </ac:picMkLst>
        </pc:picChg>
      </pc:sldChg>
      <pc:sldChg chg="modSp mod">
        <pc:chgData name="Celene Abramson" userId="f8acb2d9-60cf-4e8c-9ff6-ed0496accdb1" providerId="ADAL" clId="{C043D498-085D-42CD-ABAD-0B60FB3DDBB5}" dt="2023-08-04T00:08:33.496" v="216"/>
        <pc:sldMkLst>
          <pc:docMk/>
          <pc:sldMk cId="1736455465" sldId="2147479651"/>
        </pc:sldMkLst>
        <pc:spChg chg="ord">
          <ac:chgData name="Celene Abramson" userId="f8acb2d9-60cf-4e8c-9ff6-ed0496accdb1" providerId="ADAL" clId="{C043D498-085D-42CD-ABAD-0B60FB3DDBB5}" dt="2023-08-03T23:58:47.489" v="11"/>
          <ac:spMkLst>
            <pc:docMk/>
            <pc:sldMk cId="1736455465" sldId="2147479651"/>
            <ac:spMk id="2" creationId="{5749107B-9C8D-E0E4-10D6-02E35D8389DB}"/>
          </ac:spMkLst>
        </pc:spChg>
        <pc:spChg chg="ord">
          <ac:chgData name="Celene Abramson" userId="f8acb2d9-60cf-4e8c-9ff6-ed0496accdb1" providerId="ADAL" clId="{C043D498-085D-42CD-ABAD-0B60FB3DDBB5}" dt="2023-08-03T23:58:57.193" v="18"/>
          <ac:spMkLst>
            <pc:docMk/>
            <pc:sldMk cId="1736455465" sldId="2147479651"/>
            <ac:spMk id="4" creationId="{695DB93D-1EC9-595D-92A7-994F4EA5AE21}"/>
          </ac:spMkLst>
        </pc:spChg>
        <pc:spChg chg="ord">
          <ac:chgData name="Celene Abramson" userId="f8acb2d9-60cf-4e8c-9ff6-ed0496accdb1" providerId="ADAL" clId="{C043D498-085D-42CD-ABAD-0B60FB3DDBB5}" dt="2023-08-04T00:08:33.496" v="216"/>
          <ac:spMkLst>
            <pc:docMk/>
            <pc:sldMk cId="1736455465" sldId="2147479651"/>
            <ac:spMk id="6" creationId="{8419F366-8562-71B5-8D4E-2AFB33AA2713}"/>
          </ac:spMkLst>
        </pc:spChg>
      </pc:sldChg>
      <pc:sldChg chg="modSp mod">
        <pc:chgData name="Celene Abramson" userId="f8acb2d9-60cf-4e8c-9ff6-ed0496accdb1" providerId="ADAL" clId="{C043D498-085D-42CD-ABAD-0B60FB3DDBB5}" dt="2023-08-04T00:08:00.382" v="213"/>
        <pc:sldMkLst>
          <pc:docMk/>
          <pc:sldMk cId="1649699699" sldId="2147479653"/>
        </pc:sldMkLst>
        <pc:spChg chg="ord">
          <ac:chgData name="Celene Abramson" userId="f8acb2d9-60cf-4e8c-9ff6-ed0496accdb1" providerId="ADAL" clId="{C043D498-085D-42CD-ABAD-0B60FB3DDBB5}" dt="2023-08-04T00:06:39.997" v="186"/>
          <ac:spMkLst>
            <pc:docMk/>
            <pc:sldMk cId="1649699699" sldId="2147479653"/>
            <ac:spMk id="2" creationId="{887758F5-C35D-A291-068D-13C0D6581723}"/>
          </ac:spMkLst>
        </pc:spChg>
        <pc:spChg chg="ord">
          <ac:chgData name="Celene Abramson" userId="f8acb2d9-60cf-4e8c-9ff6-ed0496accdb1" providerId="ADAL" clId="{C043D498-085D-42CD-ABAD-0B60FB3DDBB5}" dt="2023-08-04T00:07:44.156" v="211"/>
          <ac:spMkLst>
            <pc:docMk/>
            <pc:sldMk cId="1649699699" sldId="2147479653"/>
            <ac:spMk id="4" creationId="{B57C90FC-C3E7-0F4C-A80F-A3776B9374E2}"/>
          </ac:spMkLst>
        </pc:spChg>
        <pc:spChg chg="ord">
          <ac:chgData name="Celene Abramson" userId="f8acb2d9-60cf-4e8c-9ff6-ed0496accdb1" providerId="ADAL" clId="{C043D498-085D-42CD-ABAD-0B60FB3DDBB5}" dt="2023-08-04T00:06:43.453" v="189"/>
          <ac:spMkLst>
            <pc:docMk/>
            <pc:sldMk cId="1649699699" sldId="2147479653"/>
            <ac:spMk id="5" creationId="{C6774742-B51A-7AB0-5C2C-8C2CFAC7FA4A}"/>
          </ac:spMkLst>
        </pc:spChg>
        <pc:spChg chg="ord">
          <ac:chgData name="Celene Abramson" userId="f8acb2d9-60cf-4e8c-9ff6-ed0496accdb1" providerId="ADAL" clId="{C043D498-085D-42CD-ABAD-0B60FB3DDBB5}" dt="2023-08-04T00:08:00.382" v="213"/>
          <ac:spMkLst>
            <pc:docMk/>
            <pc:sldMk cId="1649699699" sldId="2147479653"/>
            <ac:spMk id="6" creationId="{6F064A61-E09A-57F4-68B5-EBD8D212C74C}"/>
          </ac:spMkLst>
        </pc:spChg>
        <pc:spChg chg="ord">
          <ac:chgData name="Celene Abramson" userId="f8acb2d9-60cf-4e8c-9ff6-ed0496accdb1" providerId="ADAL" clId="{C043D498-085D-42CD-ABAD-0B60FB3DDBB5}" dt="2023-08-04T00:07:32.188" v="208"/>
          <ac:spMkLst>
            <pc:docMk/>
            <pc:sldMk cId="1649699699" sldId="2147479653"/>
            <ac:spMk id="7" creationId="{D84B1C3C-263F-04A9-DF9B-1C9B8DA93F52}"/>
          </ac:spMkLst>
        </pc:spChg>
        <pc:spChg chg="ord">
          <ac:chgData name="Celene Abramson" userId="f8acb2d9-60cf-4e8c-9ff6-ed0496accdb1" providerId="ADAL" clId="{C043D498-085D-42CD-ABAD-0B60FB3DDBB5}" dt="2023-08-04T00:07:15.581" v="203"/>
          <ac:spMkLst>
            <pc:docMk/>
            <pc:sldMk cId="1649699699" sldId="2147479653"/>
            <ac:spMk id="9" creationId="{D4BA0CA9-7D1C-CAD8-B69B-7DC32EE7B121}"/>
          </ac:spMkLst>
        </pc:spChg>
        <pc:spChg chg="ord">
          <ac:chgData name="Celene Abramson" userId="f8acb2d9-60cf-4e8c-9ff6-ed0496accdb1" providerId="ADAL" clId="{C043D498-085D-42CD-ABAD-0B60FB3DDBB5}" dt="2023-08-04T00:06:48.296" v="196"/>
          <ac:spMkLst>
            <pc:docMk/>
            <pc:sldMk cId="1649699699" sldId="2147479653"/>
            <ac:spMk id="11" creationId="{FF061EA4-8988-693D-F87C-7BF5591F84CD}"/>
          </ac:spMkLst>
        </pc:spChg>
        <pc:spChg chg="ord">
          <ac:chgData name="Celene Abramson" userId="f8acb2d9-60cf-4e8c-9ff6-ed0496accdb1" providerId="ADAL" clId="{C043D498-085D-42CD-ABAD-0B60FB3DDBB5}" dt="2023-08-04T00:07:38.071" v="209"/>
          <ac:spMkLst>
            <pc:docMk/>
            <pc:sldMk cId="1649699699" sldId="2147479653"/>
            <ac:spMk id="27" creationId="{C07FD58F-F1B5-3570-6A96-B28EABD16FF9}"/>
          </ac:spMkLst>
        </pc:spChg>
        <pc:graphicFrameChg chg="ord">
          <ac:chgData name="Celene Abramson" userId="f8acb2d9-60cf-4e8c-9ff6-ed0496accdb1" providerId="ADAL" clId="{C043D498-085D-42CD-ABAD-0B60FB3DDBB5}" dt="2023-08-04T00:07:23.394" v="204"/>
          <ac:graphicFrameMkLst>
            <pc:docMk/>
            <pc:sldMk cId="1649699699" sldId="2147479653"/>
            <ac:graphicFrameMk id="3" creationId="{A464DE02-903A-6800-6755-54FB85E0D2B7}"/>
          </ac:graphicFrameMkLst>
        </pc:graphicFrameChg>
      </pc:sldChg>
    </pc:docChg>
  </pc:docChgLst>
  <pc:docChgLst>
    <pc:chgData name="James Herring" userId="S::jamesh@microsoft.com::142025e8-fb8a-447b-90c5-f2bbb22e3966" providerId="AD" clId="Web-{19FC50F5-0AA3-4900-89B8-061BF7F06F96}"/>
    <pc:docChg chg="modSld">
      <pc:chgData name="James Herring" userId="S::jamesh@microsoft.com::142025e8-fb8a-447b-90c5-f2bbb22e3966" providerId="AD" clId="Web-{19FC50F5-0AA3-4900-89B8-061BF7F06F96}" dt="2023-10-04T23:21:28" v="26" actId="20577"/>
      <pc:docMkLst>
        <pc:docMk/>
      </pc:docMkLst>
      <pc:sldChg chg="delSp modSp">
        <pc:chgData name="James Herring" userId="S::jamesh@microsoft.com::142025e8-fb8a-447b-90c5-f2bbb22e3966" providerId="AD" clId="Web-{19FC50F5-0AA3-4900-89B8-061BF7F06F96}" dt="2023-10-04T23:21:28" v="26" actId="20577"/>
        <pc:sldMkLst>
          <pc:docMk/>
          <pc:sldMk cId="1649699699" sldId="2147479653"/>
        </pc:sldMkLst>
        <pc:spChg chg="mod">
          <ac:chgData name="James Herring" userId="S::jamesh@microsoft.com::142025e8-fb8a-447b-90c5-f2bbb22e3966" providerId="AD" clId="Web-{19FC50F5-0AA3-4900-89B8-061BF7F06F96}" dt="2023-10-04T23:21:28" v="26" actId="20577"/>
          <ac:spMkLst>
            <pc:docMk/>
            <pc:sldMk cId="1649699699" sldId="2147479653"/>
            <ac:spMk id="5" creationId="{C6774742-B51A-7AB0-5C2C-8C2CFAC7FA4A}"/>
          </ac:spMkLst>
        </pc:spChg>
        <pc:spChg chg="del">
          <ac:chgData name="James Herring" userId="S::jamesh@microsoft.com::142025e8-fb8a-447b-90c5-f2bbb22e3966" providerId="AD" clId="Web-{19FC50F5-0AA3-4900-89B8-061BF7F06F96}" dt="2023-10-04T23:20:50.999" v="0"/>
          <ac:spMkLst>
            <pc:docMk/>
            <pc:sldMk cId="1649699699" sldId="2147479653"/>
            <ac:spMk id="6" creationId="{6F064A61-E09A-57F4-68B5-EBD8D212C74C}"/>
          </ac:spMkLst>
        </pc:spChg>
      </pc:sldChg>
    </pc:docChg>
  </pc:docChgLst>
  <pc:docChgLst>
    <pc:chgData name="Celene Abramson" userId="f8acb2d9-60cf-4e8c-9ff6-ed0496accdb1" providerId="ADAL" clId="{094C11C9-C09B-4AC3-B933-5719ECC9AD1A}"/>
    <pc:docChg chg="modSld">
      <pc:chgData name="Celene Abramson" userId="f8acb2d9-60cf-4e8c-9ff6-ed0496accdb1" providerId="ADAL" clId="{094C11C9-C09B-4AC3-B933-5719ECC9AD1A}" dt="2023-08-03T22:06:09.212" v="4"/>
      <pc:docMkLst>
        <pc:docMk/>
      </pc:docMkLst>
      <pc:sldChg chg="modSp mod">
        <pc:chgData name="Celene Abramson" userId="f8acb2d9-60cf-4e8c-9ff6-ed0496accdb1" providerId="ADAL" clId="{094C11C9-C09B-4AC3-B933-5719ECC9AD1A}" dt="2023-08-03T22:06:09.212" v="4"/>
        <pc:sldMkLst>
          <pc:docMk/>
          <pc:sldMk cId="912563709" sldId="2147479600"/>
        </pc:sldMkLst>
        <pc:spChg chg="ord">
          <ac:chgData name="Celene Abramson" userId="f8acb2d9-60cf-4e8c-9ff6-ed0496accdb1" providerId="ADAL" clId="{094C11C9-C09B-4AC3-B933-5719ECC9AD1A}" dt="2023-08-03T22:06:09.212" v="4"/>
          <ac:spMkLst>
            <pc:docMk/>
            <pc:sldMk cId="912563709" sldId="2147479600"/>
            <ac:spMk id="4" creationId="{D6BBF5F6-29D0-B236-53FC-489F721E8B80}"/>
          </ac:spMkLst>
        </pc:spChg>
        <pc:spChg chg="ord">
          <ac:chgData name="Celene Abramson" userId="f8acb2d9-60cf-4e8c-9ff6-ed0496accdb1" providerId="ADAL" clId="{094C11C9-C09B-4AC3-B933-5719ECC9AD1A}" dt="2023-08-03T22:06:04.126" v="1"/>
          <ac:spMkLst>
            <pc:docMk/>
            <pc:sldMk cId="912563709" sldId="2147479600"/>
            <ac:spMk id="34" creationId="{58C755EC-AC0C-9301-7D91-2576B857C6F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6F66B00-6144-45ED-BFDB-3936850BDA03}" type="datetime8">
              <a:rPr lang="en-US" smtClean="0">
                <a:latin typeface="Segoe UI" pitchFamily="34" charset="0"/>
              </a:rPr>
              <a:t>6/15/2026 12:33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61486BA7-839C-4D2B-BD52-EF0BBA8433FD}" type="datetime8">
              <a:rPr lang="en-US" smtClean="0"/>
              <a:t>6/15/2026 12:33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6/22/2026 7:57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3011795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6/22/2026 7:57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717567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6/22/2026 7:57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1703963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en-US" dirty="0" smtClean="0"/>
              <a:t>TLDR</a:t>
            </a:r>
          </a:p>
          <a:p>
            <a:r>
              <a:rPr lang="en-US" sz="882" b="0" i="0" kern="1200" dirty="0" smtClean="0">
                <a:solidFill>
                  <a:schemeClr val="tx1"/>
                </a:solidFill>
                <a:effectLst/>
                <a:latin typeface="Segoe UI Light" pitchFamily="34" charset="0"/>
                <a:ea typeface="+mn-ea"/>
                <a:cs typeface="+mn-cs"/>
              </a:rPr>
              <a:t>1.</a:t>
            </a:r>
            <a:r>
              <a:rPr lang="en-US" sz="882" b="0" i="0" kern="1200" baseline="0" dirty="0" smtClean="0">
                <a:solidFill>
                  <a:schemeClr val="tx1"/>
                </a:solidFill>
                <a:effectLst/>
                <a:latin typeface="Segoe UI Light" pitchFamily="34" charset="0"/>
                <a:ea typeface="+mn-ea"/>
                <a:cs typeface="+mn-cs"/>
              </a:rPr>
              <a:t> </a:t>
            </a:r>
            <a:r>
              <a:rPr lang="en-US" sz="882" b="0" i="0" kern="1200" dirty="0" smtClean="0">
                <a:solidFill>
                  <a:schemeClr val="tx1"/>
                </a:solidFill>
                <a:effectLst/>
                <a:latin typeface="Segoe UI Light" pitchFamily="34" charset="0"/>
                <a:ea typeface="+mn-ea"/>
                <a:cs typeface="+mn-cs"/>
              </a:rPr>
              <a:t>Before we </a:t>
            </a:r>
            <a:r>
              <a:rPr lang="en-US" sz="882" b="0" i="0" kern="1200" dirty="0" smtClean="0">
                <a:solidFill>
                  <a:schemeClr val="tx1"/>
                </a:solidFill>
                <a:effectLst/>
                <a:latin typeface="Segoe UI Light" pitchFamily="34" charset="0"/>
                <a:ea typeface="+mn-ea"/>
                <a:cs typeface="+mn-cs"/>
              </a:rPr>
              <a:t>deep dive </a:t>
            </a:r>
            <a:r>
              <a:rPr lang="en-US" sz="882" b="0" i="0" kern="1200" dirty="0" smtClean="0">
                <a:solidFill>
                  <a:schemeClr val="tx1"/>
                </a:solidFill>
                <a:effectLst/>
                <a:latin typeface="Segoe UI Light" pitchFamily="34" charset="0"/>
                <a:ea typeface="+mn-ea"/>
                <a:cs typeface="+mn-cs"/>
              </a:rPr>
              <a:t>into the 'how,' let’s start with 'why.' Orchestrating data is basically like managing a massive, 24/7 kitchen. We have </a:t>
            </a:r>
            <a:r>
              <a:rPr lang="en-US" sz="882" b="1" i="0" kern="1200" dirty="0" smtClean="0">
                <a:solidFill>
                  <a:schemeClr val="tx1"/>
                </a:solidFill>
                <a:effectLst/>
                <a:latin typeface="Segoe UI Light" pitchFamily="34" charset="0"/>
                <a:ea typeface="+mn-ea"/>
                <a:cs typeface="+mn-cs"/>
              </a:rPr>
              <a:t>Upstream</a:t>
            </a:r>
            <a:r>
              <a:rPr lang="en-US" sz="882" b="0" i="0" kern="1200" dirty="0" smtClean="0">
                <a:solidFill>
                  <a:schemeClr val="tx1"/>
                </a:solidFill>
                <a:effectLst/>
                <a:latin typeface="Segoe UI Light" pitchFamily="34" charset="0"/>
                <a:ea typeface="+mn-ea"/>
                <a:cs typeface="+mn-cs"/>
              </a:rPr>
              <a:t>,</a:t>
            </a:r>
            <a:r>
              <a:rPr lang="en-US" sz="882" b="0" i="0" kern="1200" baseline="0" dirty="0" smtClean="0">
                <a:solidFill>
                  <a:schemeClr val="tx1"/>
                </a:solidFill>
                <a:effectLst/>
                <a:latin typeface="Segoe UI Light" pitchFamily="34" charset="0"/>
                <a:ea typeface="+mn-ea"/>
                <a:cs typeface="+mn-cs"/>
              </a:rPr>
              <a:t> its like </a:t>
            </a:r>
            <a:r>
              <a:rPr lang="en-US" sz="882" b="0" i="0" kern="1200" dirty="0" smtClean="0">
                <a:solidFill>
                  <a:schemeClr val="tx1"/>
                </a:solidFill>
                <a:effectLst/>
                <a:latin typeface="Segoe UI Light" pitchFamily="34" charset="0"/>
                <a:ea typeface="+mn-ea"/>
                <a:cs typeface="+mn-cs"/>
              </a:rPr>
              <a:t>our </a:t>
            </a:r>
            <a:r>
              <a:rPr lang="en-US" sz="882" b="0" i="0" kern="1200" dirty="0" smtClean="0">
                <a:solidFill>
                  <a:schemeClr val="tx1"/>
                </a:solidFill>
                <a:effectLst/>
                <a:latin typeface="Segoe UI Light" pitchFamily="34" charset="0"/>
                <a:ea typeface="+mn-ea"/>
                <a:cs typeface="+mn-cs"/>
              </a:rPr>
              <a:t>suppliers bringing in raw ingredients like APIs and databases </a:t>
            </a:r>
            <a:r>
              <a:rPr lang="en-US" sz="882" b="0" i="0" kern="1200" dirty="0" smtClean="0">
                <a:solidFill>
                  <a:schemeClr val="tx1"/>
                </a:solidFill>
                <a:effectLst/>
                <a:latin typeface="Segoe UI Light" pitchFamily="34" charset="0"/>
                <a:ea typeface="+mn-ea"/>
                <a:cs typeface="+mn-cs"/>
              </a:rPr>
              <a:t>sources</a:t>
            </a:r>
            <a:r>
              <a:rPr lang="en-US" sz="882" b="0" i="0" kern="1200" baseline="0" dirty="0" smtClean="0">
                <a:solidFill>
                  <a:schemeClr val="tx1"/>
                </a:solidFill>
                <a:effectLst/>
                <a:latin typeface="Segoe UI Light" pitchFamily="34" charset="0"/>
                <a:ea typeface="+mn-ea"/>
                <a:cs typeface="+mn-cs"/>
              </a:rPr>
              <a:t> </a:t>
            </a:r>
            <a:r>
              <a:rPr lang="en-US" sz="882" b="0" i="0" kern="1200" dirty="0" smtClean="0">
                <a:solidFill>
                  <a:schemeClr val="tx1"/>
                </a:solidFill>
                <a:effectLst/>
                <a:latin typeface="Segoe UI Light" pitchFamily="34" charset="0"/>
                <a:ea typeface="+mn-ea"/>
                <a:cs typeface="+mn-cs"/>
              </a:rPr>
              <a:t>and</a:t>
            </a:r>
            <a:r>
              <a:rPr lang="en-US" sz="882" b="0" i="0" kern="1200" dirty="0" smtClean="0">
                <a:solidFill>
                  <a:schemeClr val="tx1"/>
                </a:solidFill>
                <a:effectLst/>
                <a:latin typeface="Segoe UI Light" pitchFamily="34" charset="0"/>
                <a:ea typeface="+mn-ea"/>
                <a:cs typeface="+mn-cs"/>
              </a:rPr>
              <a:t> </a:t>
            </a:r>
            <a:r>
              <a:rPr lang="en-US" sz="882" b="1" i="0" kern="1200" dirty="0" smtClean="0">
                <a:solidFill>
                  <a:schemeClr val="tx1"/>
                </a:solidFill>
                <a:effectLst/>
                <a:latin typeface="Segoe UI Light" pitchFamily="34" charset="0"/>
                <a:ea typeface="+mn-ea"/>
                <a:cs typeface="+mn-cs"/>
              </a:rPr>
              <a:t>Downstream</a:t>
            </a:r>
            <a:r>
              <a:rPr lang="en-US" sz="882" b="0" i="0" kern="1200" dirty="0" smtClean="0">
                <a:solidFill>
                  <a:schemeClr val="tx1"/>
                </a:solidFill>
                <a:effectLst/>
                <a:latin typeface="Segoe UI Light" pitchFamily="34" charset="0"/>
                <a:ea typeface="+mn-ea"/>
                <a:cs typeface="+mn-cs"/>
              </a:rPr>
              <a:t>, which is the finished meal served to our customers via </a:t>
            </a:r>
            <a:r>
              <a:rPr lang="en-US" sz="882" b="0" i="0" kern="1200" dirty="0" smtClean="0">
                <a:solidFill>
                  <a:schemeClr val="tx1"/>
                </a:solidFill>
                <a:effectLst/>
                <a:latin typeface="Segoe UI Light" pitchFamily="34" charset="0"/>
                <a:ea typeface="+mn-ea"/>
                <a:cs typeface="+mn-cs"/>
              </a:rPr>
              <a:t>analytics, Silver/Gold</a:t>
            </a:r>
            <a:r>
              <a:rPr lang="en-US" sz="882" b="0" i="0" kern="1200" baseline="0" dirty="0" smtClean="0">
                <a:solidFill>
                  <a:schemeClr val="tx1"/>
                </a:solidFill>
                <a:effectLst/>
                <a:latin typeface="Segoe UI Light" pitchFamily="34" charset="0"/>
                <a:ea typeface="+mn-ea"/>
                <a:cs typeface="+mn-cs"/>
              </a:rPr>
              <a:t> tables</a:t>
            </a:r>
            <a:r>
              <a:rPr lang="en-US" sz="882" b="0" i="0" kern="1200" dirty="0" smtClean="0">
                <a:solidFill>
                  <a:schemeClr val="tx1"/>
                </a:solidFill>
                <a:effectLst/>
                <a:latin typeface="Segoe UI Light" pitchFamily="34" charset="0"/>
                <a:ea typeface="+mn-ea"/>
                <a:cs typeface="+mn-cs"/>
              </a:rPr>
              <a:t> under data medallion design or ML </a:t>
            </a:r>
            <a:r>
              <a:rPr lang="en-US" sz="882" b="0" i="0" kern="1200" dirty="0" smtClean="0">
                <a:solidFill>
                  <a:schemeClr val="tx1"/>
                </a:solidFill>
                <a:effectLst/>
                <a:latin typeface="Segoe UI Light" pitchFamily="34" charset="0"/>
                <a:ea typeface="+mn-ea"/>
                <a:cs typeface="+mn-cs"/>
              </a:rPr>
              <a:t>models.</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Operation Challenges</a:t>
            </a:r>
          </a:p>
          <a:p>
            <a:r>
              <a:rPr lang="en-US" sz="882" b="0" i="0" kern="1200" dirty="0" smtClean="0">
                <a:solidFill>
                  <a:schemeClr val="tx1"/>
                </a:solidFill>
                <a:effectLst/>
                <a:latin typeface="Segoe UI Light" pitchFamily="34" charset="0"/>
                <a:ea typeface="+mn-ea"/>
                <a:cs typeface="+mn-cs"/>
              </a:rPr>
              <a:t>2. But currently, our 'kitchen' is a bit chaotic. We face </a:t>
            </a:r>
            <a:r>
              <a:rPr lang="en-US" sz="882" b="1" i="0" kern="1200" dirty="0" smtClean="0">
                <a:solidFill>
                  <a:schemeClr val="tx1"/>
                </a:solidFill>
                <a:effectLst/>
                <a:latin typeface="Segoe UI Light" pitchFamily="34" charset="0"/>
                <a:ea typeface="+mn-ea"/>
                <a:cs typeface="+mn-cs"/>
              </a:rPr>
              <a:t>Operational Challenges</a:t>
            </a:r>
            <a:r>
              <a:rPr lang="en-US" sz="882" b="0" i="0" kern="1200" dirty="0" smtClean="0">
                <a:solidFill>
                  <a:schemeClr val="tx1"/>
                </a:solidFill>
                <a:effectLst/>
                <a:latin typeface="Segoe UI Light" pitchFamily="34" charset="0"/>
                <a:ea typeface="+mn-ea"/>
                <a:cs typeface="+mn-cs"/>
              </a:rPr>
              <a:t> like 'dependency conflicts.' Example is like Engineer complain</a:t>
            </a:r>
            <a:r>
              <a:rPr lang="en-US" sz="882" b="0" i="0" kern="1200" baseline="0" dirty="0" smtClean="0">
                <a:solidFill>
                  <a:schemeClr val="tx1"/>
                </a:solidFill>
                <a:effectLst/>
                <a:latin typeface="Segoe UI Light" pitchFamily="34" charset="0"/>
                <a:ea typeface="+mn-ea"/>
                <a:cs typeface="+mn-cs"/>
              </a:rPr>
              <a:t> </a:t>
            </a:r>
            <a:r>
              <a:rPr lang="en-US" sz="882" b="0" i="0" kern="1200" dirty="0" smtClean="0">
                <a:solidFill>
                  <a:schemeClr val="tx1"/>
                </a:solidFill>
                <a:effectLst/>
                <a:latin typeface="Segoe UI Light" pitchFamily="34" charset="0"/>
                <a:ea typeface="+mn-ea"/>
                <a:cs typeface="+mn-cs"/>
              </a:rPr>
              <a:t>'it works on my machine' </a:t>
            </a:r>
            <a:r>
              <a:rPr lang="en-US" sz="882" b="0" i="0" kern="1200" dirty="0" smtClean="0">
                <a:solidFill>
                  <a:schemeClr val="tx1"/>
                </a:solidFill>
                <a:effectLst/>
                <a:latin typeface="Segoe UI Light" pitchFamily="34" charset="0"/>
                <a:ea typeface="+mn-ea"/>
                <a:cs typeface="+mn-cs"/>
              </a:rPr>
              <a:t>problem</a:t>
            </a:r>
            <a:r>
              <a:rPr lang="en-US" sz="882" b="0" i="0" kern="1200" baseline="0" dirty="0" smtClean="0">
                <a:solidFill>
                  <a:schemeClr val="tx1"/>
                </a:solidFill>
                <a:effectLst/>
                <a:latin typeface="Segoe UI Light" pitchFamily="34" charset="0"/>
                <a:ea typeface="+mn-ea"/>
                <a:cs typeface="+mn-cs"/>
              </a:rPr>
              <a:t> and also </a:t>
            </a:r>
            <a:r>
              <a:rPr lang="en-US" sz="882" b="0" i="0" kern="1200" dirty="0" smtClean="0">
                <a:solidFill>
                  <a:schemeClr val="tx1"/>
                </a:solidFill>
                <a:effectLst/>
                <a:latin typeface="Segoe UI Light" pitchFamily="34" charset="0"/>
                <a:ea typeface="+mn-ea"/>
                <a:cs typeface="+mn-cs"/>
              </a:rPr>
              <a:t>where </a:t>
            </a:r>
            <a:r>
              <a:rPr lang="en-US" sz="882" b="0" i="0" kern="1200" dirty="0" smtClean="0">
                <a:solidFill>
                  <a:schemeClr val="tx1"/>
                </a:solidFill>
                <a:effectLst/>
                <a:latin typeface="Segoe UI Light" pitchFamily="34" charset="0"/>
                <a:ea typeface="+mn-ea"/>
                <a:cs typeface="+mn-cs"/>
              </a:rPr>
              <a:t>one task needs Python version A, but another needs version B, and they just won't play nice together.</a:t>
            </a:r>
          </a:p>
          <a:p>
            <a:r>
              <a:rPr lang="en-US" sz="882" b="0" i="0" kern="1200" dirty="0" smtClean="0">
                <a:solidFill>
                  <a:schemeClr val="tx1"/>
                </a:solidFill>
                <a:effectLst/>
                <a:latin typeface="Segoe UI Light" pitchFamily="34" charset="0"/>
                <a:ea typeface="+mn-ea"/>
                <a:cs typeface="+mn-cs"/>
              </a:rPr>
              <a:t>3. Also for</a:t>
            </a:r>
            <a:r>
              <a:rPr lang="en-US" sz="882" b="0" i="0" kern="1200" baseline="0" dirty="0" smtClean="0">
                <a:solidFill>
                  <a:schemeClr val="tx1"/>
                </a:solidFill>
                <a:effectLst/>
                <a:latin typeface="Segoe UI Light" pitchFamily="34" charset="0"/>
                <a:ea typeface="+mn-ea"/>
                <a:cs typeface="+mn-cs"/>
              </a:rPr>
              <a:t> the senior role that managing the orchestration, u got </a:t>
            </a:r>
            <a:r>
              <a:rPr lang="en-US" sz="882" b="0" i="0" kern="1200" baseline="0" dirty="0" smtClean="0">
                <a:solidFill>
                  <a:schemeClr val="tx1"/>
                </a:solidFill>
                <a:effectLst/>
                <a:latin typeface="Segoe UI Light" pitchFamily="34" charset="0"/>
                <a:ea typeface="+mn-ea"/>
                <a:cs typeface="+mn-cs"/>
              </a:rPr>
              <a:t>several overhead u need to maintain</a:t>
            </a:r>
            <a:endParaRPr lang="en-US" sz="882" b="0" i="0" kern="1200" dirty="0" smtClean="0">
              <a:solidFill>
                <a:schemeClr val="tx1"/>
              </a:solidFill>
              <a:effectLst/>
              <a:latin typeface="Segoe UI Light" pitchFamily="34" charset="0"/>
              <a:ea typeface="+mn-ea"/>
              <a:cs typeface="+mn-cs"/>
            </a:endParaRPr>
          </a:p>
          <a:p>
            <a:pPr marL="0" marR="0" indent="0" algn="l" defTabSz="914367" rtl="0" eaLnBrk="1" fontAlgn="auto" latinLnBrk="0" hangingPunct="1">
              <a:lnSpc>
                <a:spcPct val="90000"/>
              </a:lnSpc>
              <a:spcBef>
                <a:spcPts val="0"/>
              </a:spcBef>
              <a:spcAft>
                <a:spcPts val="333"/>
              </a:spcAft>
              <a:buClrTx/>
              <a:buSzTx/>
              <a:buFontTx/>
              <a:buNone/>
              <a:tabLst/>
              <a:defRPr/>
            </a:pPr>
            <a:r>
              <a:rPr lang="en-US" sz="882" b="0" i="0" kern="1200" dirty="0" smtClean="0">
                <a:solidFill>
                  <a:schemeClr val="tx1"/>
                </a:solidFill>
                <a:effectLst/>
                <a:latin typeface="Segoe UI Light" pitchFamily="34" charset="0"/>
                <a:ea typeface="+mn-ea"/>
                <a:cs typeface="+mn-cs"/>
              </a:rPr>
              <a:t>4.</a:t>
            </a:r>
            <a:r>
              <a:rPr lang="en-US" sz="882" b="0" i="0" kern="1200" baseline="0" dirty="0" smtClean="0">
                <a:solidFill>
                  <a:schemeClr val="tx1"/>
                </a:solidFill>
                <a:effectLst/>
                <a:latin typeface="Segoe UI Light" pitchFamily="34" charset="0"/>
                <a:ea typeface="+mn-ea"/>
                <a:cs typeface="+mn-cs"/>
              </a:rPr>
              <a:t> Commonly </a:t>
            </a:r>
            <a:r>
              <a:rPr lang="en-US" sz="882" b="0" i="0" kern="1200" dirty="0" smtClean="0">
                <a:solidFill>
                  <a:schemeClr val="tx1"/>
                </a:solidFill>
                <a:effectLst/>
                <a:latin typeface="Segoe UI Light" pitchFamily="34" charset="0"/>
                <a:ea typeface="+mn-ea"/>
                <a:cs typeface="+mn-cs"/>
              </a:rPr>
              <a:t>also </a:t>
            </a:r>
            <a:r>
              <a:rPr lang="en-US" sz="882" b="0" i="0" kern="1200" dirty="0" smtClean="0">
                <a:solidFill>
                  <a:schemeClr val="tx1"/>
                </a:solidFill>
                <a:effectLst/>
                <a:latin typeface="Segoe UI Light" pitchFamily="34" charset="0"/>
                <a:ea typeface="+mn-ea"/>
                <a:cs typeface="+mn-cs"/>
              </a:rPr>
              <a:t>you</a:t>
            </a:r>
            <a:r>
              <a:rPr lang="en-US" sz="882" b="0" i="0" kern="1200" baseline="0" dirty="0" smtClean="0">
                <a:solidFill>
                  <a:schemeClr val="tx1"/>
                </a:solidFill>
                <a:effectLst/>
                <a:latin typeface="Segoe UI Light" pitchFamily="34" charset="0"/>
                <a:ea typeface="+mn-ea"/>
                <a:cs typeface="+mn-cs"/>
              </a:rPr>
              <a:t> would</a:t>
            </a:r>
            <a:r>
              <a:rPr lang="en-US" sz="882" b="0" i="0" kern="1200" dirty="0" smtClean="0">
                <a:solidFill>
                  <a:schemeClr val="tx1"/>
                </a:solidFill>
                <a:effectLst/>
                <a:latin typeface="Segoe UI Light" pitchFamily="34" charset="0"/>
                <a:ea typeface="+mn-ea"/>
                <a:cs typeface="+mn-cs"/>
              </a:rPr>
              <a:t> </a:t>
            </a:r>
            <a:r>
              <a:rPr lang="en-US" sz="882" b="0" i="0" kern="1200" dirty="0" smtClean="0">
                <a:solidFill>
                  <a:schemeClr val="tx1"/>
                </a:solidFill>
                <a:effectLst/>
                <a:latin typeface="Segoe UI Light" pitchFamily="34" charset="0"/>
                <a:ea typeface="+mn-ea"/>
                <a:cs typeface="+mn-cs"/>
              </a:rPr>
              <a:t>struggle with </a:t>
            </a:r>
            <a:r>
              <a:rPr lang="en-US" sz="882" b="1" i="0" kern="1200" dirty="0" smtClean="0">
                <a:solidFill>
                  <a:schemeClr val="tx1"/>
                </a:solidFill>
                <a:effectLst/>
                <a:latin typeface="Segoe UI Light" pitchFamily="34" charset="0"/>
                <a:ea typeface="+mn-ea"/>
                <a:cs typeface="+mn-cs"/>
              </a:rPr>
              <a:t>Resource Inefficiency</a:t>
            </a:r>
            <a:r>
              <a:rPr lang="en-US" sz="882" b="0" i="0" kern="1200" dirty="0" smtClean="0">
                <a:solidFill>
                  <a:schemeClr val="tx1"/>
                </a:solidFill>
                <a:effectLst/>
                <a:latin typeface="Segoe UI Light" pitchFamily="34" charset="0"/>
                <a:ea typeface="+mn-ea"/>
                <a:cs typeface="+mn-cs"/>
              </a:rPr>
              <a:t>. In many old systems, we keep 'workers' (servers) running all the time even when they aren't doing anything, which is like paying kitchen staff to stand around waiting for an order. It’s expensive and hard to manage.</a:t>
            </a:r>
          </a:p>
          <a:p>
            <a:endParaRPr lang="en-US" sz="882" b="0" i="0" kern="1200" dirty="0" smtClean="0">
              <a:solidFill>
                <a:schemeClr val="tx1"/>
              </a:solidFill>
              <a:effectLst/>
              <a:latin typeface="Segoe UI Light" pitchFamily="34" charset="0"/>
              <a:ea typeface="+mn-ea"/>
              <a:cs typeface="+mn-cs"/>
            </a:endParaRPr>
          </a:p>
          <a:p>
            <a:r>
              <a:rPr lang="en-US" sz="882" b="0" i="0" kern="1200" dirty="0" smtClean="0">
                <a:solidFill>
                  <a:schemeClr val="tx1"/>
                </a:solidFill>
                <a:effectLst/>
                <a:latin typeface="Segoe UI Light" pitchFamily="34" charset="0"/>
                <a:ea typeface="+mn-ea"/>
                <a:cs typeface="+mn-cs"/>
              </a:rPr>
              <a:t>Workload</a:t>
            </a:r>
            <a:r>
              <a:rPr lang="en-US" sz="882" b="0" i="0" kern="1200" baseline="0" dirty="0" smtClean="0">
                <a:solidFill>
                  <a:schemeClr val="tx1"/>
                </a:solidFill>
                <a:effectLst/>
                <a:latin typeface="Segoe UI Light" pitchFamily="34" charset="0"/>
                <a:ea typeface="+mn-ea"/>
                <a:cs typeface="+mn-cs"/>
              </a:rPr>
              <a:t> Challenges</a:t>
            </a:r>
            <a:endParaRPr lang="en-US" sz="882" b="0" i="0" kern="1200" dirty="0" smtClean="0">
              <a:solidFill>
                <a:schemeClr val="tx1"/>
              </a:solidFill>
              <a:effectLst/>
              <a:latin typeface="Segoe UI Light" pitchFamily="34" charset="0"/>
              <a:ea typeface="+mn-ea"/>
              <a:cs typeface="+mn-cs"/>
            </a:endParaRPr>
          </a:p>
          <a:p>
            <a:r>
              <a:rPr lang="en-US" dirty="0" smtClean="0"/>
              <a:t>5. When comes to workload, its like every task</a:t>
            </a:r>
            <a:r>
              <a:rPr lang="en-US" baseline="0" dirty="0" smtClean="0"/>
              <a:t> having its own recipe, therefore may require different utensils .. Example of utensils is like spark, </a:t>
            </a:r>
            <a:r>
              <a:rPr lang="en-US" baseline="0" dirty="0" err="1" smtClean="0"/>
              <a:t>dbt</a:t>
            </a:r>
            <a:r>
              <a:rPr lang="en-US" baseline="0" dirty="0" smtClean="0"/>
              <a:t>, API , container </a:t>
            </a:r>
            <a:r>
              <a:rPr lang="en-US" baseline="0" dirty="0" err="1" smtClean="0"/>
              <a:t>etc</a:t>
            </a:r>
            <a:r>
              <a:rPr lang="en-US" baseline="0" dirty="0" smtClean="0"/>
              <a:t/>
            </a:r>
            <a:br>
              <a:rPr lang="en-US" baseline="0" dirty="0" smtClean="0"/>
            </a:br>
            <a:r>
              <a:rPr lang="en-US" baseline="0" dirty="0" smtClean="0"/>
              <a:t/>
            </a:r>
            <a:br>
              <a:rPr lang="en-US" baseline="0" dirty="0" smtClean="0"/>
            </a:br>
            <a:r>
              <a:rPr lang="en-US" baseline="0" dirty="0" smtClean="0"/>
              <a:t>Therefore for this, you may need a services that pretty much cater this situation by itself </a:t>
            </a:r>
            <a:endParaRPr lang="en-MY" dirty="0" smtClean="0"/>
          </a:p>
          <a:p>
            <a:endParaRPr lang="en-MY"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12:33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4156495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TLDR</a:t>
            </a:r>
          </a:p>
          <a:p>
            <a:pPr marL="228600" indent="-228600">
              <a:buAutoNum type="arabicPeriod"/>
            </a:pPr>
            <a:r>
              <a:rPr lang="en-US" sz="882" b="0" i="0" kern="1200" dirty="0" smtClean="0">
                <a:solidFill>
                  <a:schemeClr val="tx1"/>
                </a:solidFill>
                <a:effectLst/>
                <a:latin typeface="Segoe UI Light" pitchFamily="34" charset="0"/>
                <a:ea typeface="+mn-ea"/>
                <a:cs typeface="+mn-cs"/>
              </a:rPr>
              <a:t>So, enter Argo Workflows. It is 1 of service feature under Argo family</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It</a:t>
            </a:r>
            <a:r>
              <a:rPr lang="en-US" sz="882" b="0" i="0" kern="1200" baseline="0" dirty="0" smtClean="0">
                <a:solidFill>
                  <a:schemeClr val="tx1"/>
                </a:solidFill>
                <a:effectLst/>
                <a:latin typeface="Segoe UI Light" pitchFamily="34" charset="0"/>
                <a:ea typeface="+mn-ea"/>
                <a:cs typeface="+mn-cs"/>
              </a:rPr>
              <a:t> is purely</a:t>
            </a:r>
            <a:r>
              <a:rPr lang="en-US" sz="882" b="0" i="0" kern="1200" dirty="0" smtClean="0">
                <a:solidFill>
                  <a:schemeClr val="tx1"/>
                </a:solidFill>
                <a:effectLst/>
                <a:latin typeface="Segoe UI Light" pitchFamily="34" charset="0"/>
                <a:ea typeface="+mn-ea"/>
                <a:cs typeface="+mn-cs"/>
              </a:rPr>
              <a:t> </a:t>
            </a:r>
            <a:r>
              <a:rPr lang="en-US" sz="882" b="0" i="0" kern="1200" dirty="0" smtClean="0">
                <a:solidFill>
                  <a:schemeClr val="tx1"/>
                </a:solidFill>
                <a:effectLst/>
                <a:latin typeface="Segoe UI Light" pitchFamily="34" charset="0"/>
                <a:ea typeface="+mn-ea"/>
                <a:cs typeface="+mn-cs"/>
              </a:rPr>
              <a:t>a </a:t>
            </a:r>
            <a:r>
              <a:rPr lang="en-US" sz="882" b="1" i="0" kern="1200" dirty="0" err="1" smtClean="0">
                <a:solidFill>
                  <a:schemeClr val="tx1"/>
                </a:solidFill>
                <a:effectLst/>
                <a:latin typeface="Segoe UI Light" pitchFamily="34" charset="0"/>
                <a:ea typeface="+mn-ea"/>
                <a:cs typeface="+mn-cs"/>
              </a:rPr>
              <a:t>Kubernetes</a:t>
            </a:r>
            <a:r>
              <a:rPr lang="en-US" sz="882" b="1" i="0" kern="1200" dirty="0" smtClean="0">
                <a:solidFill>
                  <a:schemeClr val="tx1"/>
                </a:solidFill>
                <a:effectLst/>
                <a:latin typeface="Segoe UI Light" pitchFamily="34" charset="0"/>
                <a:ea typeface="+mn-ea"/>
                <a:cs typeface="+mn-cs"/>
              </a:rPr>
              <a:t>-native engine</a:t>
            </a:r>
            <a:r>
              <a:rPr lang="en-US" sz="882" b="0" i="0" kern="1200" dirty="0" smtClean="0">
                <a:solidFill>
                  <a:schemeClr val="tx1"/>
                </a:solidFill>
                <a:effectLst/>
                <a:latin typeface="Segoe UI Light" pitchFamily="34" charset="0"/>
                <a:ea typeface="+mn-ea"/>
                <a:cs typeface="+mn-cs"/>
              </a:rPr>
              <a:t>. In plain English, it’s a system designed specifically to live inside </a:t>
            </a:r>
            <a:r>
              <a:rPr lang="en-US" sz="882" b="0" i="0" kern="1200" dirty="0" err="1" smtClean="0">
                <a:solidFill>
                  <a:schemeClr val="tx1"/>
                </a:solidFill>
                <a:effectLst/>
                <a:latin typeface="Segoe UI Light" pitchFamily="34" charset="0"/>
                <a:ea typeface="+mn-ea"/>
                <a:cs typeface="+mn-cs"/>
              </a:rPr>
              <a:t>Kubernetes</a:t>
            </a:r>
            <a:r>
              <a:rPr lang="en-US" sz="882" b="0" i="0" kern="1200" dirty="0" smtClean="0">
                <a:solidFill>
                  <a:schemeClr val="tx1"/>
                </a:solidFill>
                <a:effectLst/>
                <a:latin typeface="Segoe UI Light" pitchFamily="34" charset="0"/>
                <a:ea typeface="+mn-ea"/>
                <a:cs typeface="+mn-cs"/>
              </a:rPr>
              <a:t> and treat every single step of your work as a </a:t>
            </a:r>
            <a:r>
              <a:rPr lang="en-US" sz="882" b="1" i="0" kern="1200" dirty="0" smtClean="0">
                <a:solidFill>
                  <a:schemeClr val="tx1"/>
                </a:solidFill>
                <a:effectLst/>
                <a:latin typeface="Segoe UI Light" pitchFamily="34" charset="0"/>
                <a:ea typeface="+mn-ea"/>
                <a:cs typeface="+mn-cs"/>
              </a:rPr>
              <a:t>Pod</a:t>
            </a:r>
            <a:r>
              <a:rPr lang="en-US" sz="882" b="0" i="0" kern="1200" dirty="0" smtClean="0">
                <a:solidFill>
                  <a:schemeClr val="tx1"/>
                </a:solidFill>
                <a:effectLst/>
                <a:latin typeface="Segoe UI Light" pitchFamily="34" charset="0"/>
                <a:ea typeface="+mn-ea"/>
                <a:cs typeface="+mn-cs"/>
              </a:rPr>
              <a:t>.</a:t>
            </a:r>
          </a:p>
          <a:p>
            <a:pPr marL="228600" indent="-228600">
              <a:buAutoNum type="arabicPeriod"/>
            </a:pPr>
            <a:r>
              <a:rPr lang="en-US" sz="882" b="0" i="0" kern="1200" dirty="0" smtClean="0">
                <a:solidFill>
                  <a:schemeClr val="tx1"/>
                </a:solidFill>
                <a:effectLst/>
                <a:latin typeface="Segoe UI Light" pitchFamily="34" charset="0"/>
                <a:ea typeface="+mn-ea"/>
                <a:cs typeface="+mn-cs"/>
              </a:rPr>
              <a:t>Think of a </a:t>
            </a:r>
            <a:r>
              <a:rPr lang="en-US" sz="882" b="1" i="0" kern="1200" dirty="0" smtClean="0">
                <a:solidFill>
                  <a:schemeClr val="tx1"/>
                </a:solidFill>
                <a:effectLst/>
                <a:latin typeface="Segoe UI Light" pitchFamily="34" charset="0"/>
                <a:ea typeface="+mn-ea"/>
                <a:cs typeface="+mn-cs"/>
              </a:rPr>
              <a:t>Pod</a:t>
            </a:r>
            <a:r>
              <a:rPr lang="en-US" sz="882" b="0" i="0" kern="1200" dirty="0" smtClean="0">
                <a:solidFill>
                  <a:schemeClr val="tx1"/>
                </a:solidFill>
                <a:effectLst/>
                <a:latin typeface="Segoe UI Light" pitchFamily="34" charset="0"/>
                <a:ea typeface="+mn-ea"/>
                <a:cs typeface="+mn-cs"/>
              </a:rPr>
              <a:t> as a small, temporary shipping container. It holds everything that specific task needs to run. Once the task is done, the container disappears. No mess, no leftovers.</a:t>
            </a:r>
          </a:p>
          <a:p>
            <a:pPr marL="228600" indent="-228600">
              <a:buAutoNum type="arabicPeriod"/>
            </a:pPr>
            <a:endParaRPr lang="en-US" sz="882" b="0" i="0" kern="1200" dirty="0" smtClean="0">
              <a:solidFill>
                <a:schemeClr val="tx1"/>
              </a:solidFill>
              <a:effectLst/>
              <a:latin typeface="Segoe UI Light" pitchFamily="34" charset="0"/>
              <a:ea typeface="+mn-ea"/>
              <a:cs typeface="+mn-cs"/>
            </a:endParaRPr>
          </a:p>
          <a:p>
            <a:pPr marL="0" indent="0">
              <a:buNone/>
            </a:pPr>
            <a:r>
              <a:rPr lang="en-US" sz="882" b="0" i="0" kern="1200" dirty="0" smtClean="0">
                <a:solidFill>
                  <a:schemeClr val="tx1"/>
                </a:solidFill>
                <a:effectLst/>
                <a:latin typeface="Segoe UI Light" pitchFamily="34" charset="0"/>
                <a:ea typeface="+mn-ea"/>
                <a:cs typeface="+mn-cs"/>
              </a:rPr>
              <a:t>Core</a:t>
            </a:r>
            <a:r>
              <a:rPr lang="en-US" sz="882" b="0" i="0" kern="1200" baseline="0" dirty="0" smtClean="0">
                <a:solidFill>
                  <a:schemeClr val="tx1"/>
                </a:solidFill>
                <a:effectLst/>
                <a:latin typeface="Segoe UI Light" pitchFamily="34" charset="0"/>
                <a:ea typeface="+mn-ea"/>
                <a:cs typeface="+mn-cs"/>
              </a:rPr>
              <a:t> Concept</a:t>
            </a:r>
          </a:p>
          <a:p>
            <a:pPr marL="228600" indent="-228600">
              <a:buAutoNum type="arabicPeriod" startAt="3"/>
            </a:pPr>
            <a:r>
              <a:rPr lang="en-US" sz="882" b="0" i="0" kern="1200" baseline="0" dirty="0" smtClean="0">
                <a:solidFill>
                  <a:schemeClr val="tx1"/>
                </a:solidFill>
                <a:effectLst/>
                <a:latin typeface="Segoe UI Light" pitchFamily="34" charset="0"/>
                <a:ea typeface="+mn-ea"/>
                <a:cs typeface="+mn-cs"/>
              </a:rPr>
              <a:t>It have its own dedicated </a:t>
            </a:r>
            <a:r>
              <a:rPr lang="en-US" sz="882" b="1" i="0" kern="1200" baseline="0" dirty="0" smtClean="0">
                <a:solidFill>
                  <a:schemeClr val="tx1"/>
                </a:solidFill>
                <a:effectLst/>
                <a:latin typeface="Segoe UI Light" pitchFamily="34" charset="0"/>
                <a:ea typeface="+mn-ea"/>
                <a:cs typeface="+mn-cs"/>
              </a:rPr>
              <a:t>Custom Resource Definition </a:t>
            </a:r>
            <a:r>
              <a:rPr lang="en-US" sz="882" b="0" i="0" kern="1200" baseline="0" dirty="0" smtClean="0">
                <a:solidFill>
                  <a:schemeClr val="tx1"/>
                </a:solidFill>
                <a:effectLst/>
                <a:latin typeface="Segoe UI Light" pitchFamily="34" charset="0"/>
                <a:ea typeface="+mn-ea"/>
                <a:cs typeface="+mn-cs"/>
              </a:rPr>
              <a:t>of itself</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What is CRD? Basically it’s a </a:t>
            </a:r>
            <a:r>
              <a:rPr lang="en-US" sz="882" b="0" i="0" kern="1200" baseline="0" dirty="0" err="1" smtClean="0">
                <a:solidFill>
                  <a:schemeClr val="tx1"/>
                </a:solidFill>
                <a:effectLst/>
                <a:latin typeface="Segoe UI Light" pitchFamily="34" charset="0"/>
                <a:ea typeface="+mn-ea"/>
                <a:cs typeface="+mn-cs"/>
              </a:rPr>
              <a:t>kubernetes</a:t>
            </a:r>
            <a:r>
              <a:rPr lang="en-US" sz="882" b="0" i="0" kern="1200" baseline="0" dirty="0" smtClean="0">
                <a:solidFill>
                  <a:schemeClr val="tx1"/>
                </a:solidFill>
                <a:effectLst/>
                <a:latin typeface="Segoe UI Light" pitchFamily="34" charset="0"/>
                <a:ea typeface="+mn-ea"/>
                <a:cs typeface="+mn-cs"/>
              </a:rPr>
              <a:t> object, </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what is </a:t>
            </a:r>
            <a:r>
              <a:rPr lang="en-US" sz="882" b="0" i="0" kern="1200" baseline="0" dirty="0" err="1" smtClean="0">
                <a:solidFill>
                  <a:schemeClr val="tx1"/>
                </a:solidFill>
                <a:effectLst/>
                <a:latin typeface="Segoe UI Light" pitchFamily="34" charset="0"/>
                <a:ea typeface="+mn-ea"/>
                <a:cs typeface="+mn-cs"/>
              </a:rPr>
              <a:t>kubernetes</a:t>
            </a:r>
            <a:r>
              <a:rPr lang="en-US" sz="882" b="0" i="0" kern="1200" baseline="0" dirty="0" smtClean="0">
                <a:solidFill>
                  <a:schemeClr val="tx1"/>
                </a:solidFill>
                <a:effectLst/>
                <a:latin typeface="Segoe UI Light" pitchFamily="34" charset="0"/>
                <a:ea typeface="+mn-ea"/>
                <a:cs typeface="+mn-cs"/>
              </a:rPr>
              <a:t> object? I’ll show the example on next slides</a:t>
            </a:r>
          </a:p>
          <a:p>
            <a:pPr marL="228600" indent="-228600">
              <a:buAutoNum type="arabicPeriod" startAt="3"/>
            </a:pPr>
            <a:r>
              <a:rPr lang="en-US" sz="882" b="0" i="0" kern="1200" baseline="0" dirty="0" smtClean="0">
                <a:solidFill>
                  <a:schemeClr val="tx1"/>
                </a:solidFill>
                <a:effectLst/>
                <a:latin typeface="Segoe UI Light" pitchFamily="34" charset="0"/>
                <a:ea typeface="+mn-ea"/>
                <a:cs typeface="+mn-cs"/>
              </a:rPr>
              <a:t>It’s a container based execution</a:t>
            </a:r>
          </a:p>
          <a:p>
            <a:pPr marL="228600" indent="-228600">
              <a:buAutoNum type="arabicPeriod" startAt="3"/>
            </a:pPr>
            <a:r>
              <a:rPr lang="en-US" sz="882" b="0" i="0" kern="1200" baseline="0" dirty="0" smtClean="0">
                <a:solidFill>
                  <a:schemeClr val="tx1"/>
                </a:solidFill>
                <a:effectLst/>
                <a:latin typeface="Segoe UI Light" pitchFamily="34" charset="0"/>
                <a:ea typeface="+mn-ea"/>
                <a:cs typeface="+mn-cs"/>
              </a:rPr>
              <a:t>Every workflow manage </a:t>
            </a:r>
            <a:r>
              <a:rPr lang="en-US" sz="882" b="0" i="0" kern="1200" baseline="0" dirty="0" smtClean="0">
                <a:solidFill>
                  <a:schemeClr val="tx1"/>
                </a:solidFill>
                <a:effectLst/>
                <a:latin typeface="Segoe UI Light" pitchFamily="34" charset="0"/>
                <a:ea typeface="+mn-ea"/>
                <a:cs typeface="+mn-cs"/>
              </a:rPr>
              <a:t>via </a:t>
            </a:r>
            <a:r>
              <a:rPr lang="en-US" sz="882" b="0" i="0" kern="1200" baseline="0" dirty="0" smtClean="0">
                <a:solidFill>
                  <a:schemeClr val="tx1"/>
                </a:solidFill>
                <a:effectLst/>
                <a:latin typeface="Segoe UI Light" pitchFamily="34" charset="0"/>
                <a:ea typeface="+mn-ea"/>
                <a:cs typeface="+mn-cs"/>
              </a:rPr>
              <a:t>YAML </a:t>
            </a:r>
            <a:r>
              <a:rPr lang="en-US" sz="882" b="0" i="0" kern="1200" baseline="0" dirty="0" smtClean="0">
                <a:solidFill>
                  <a:schemeClr val="tx1"/>
                </a:solidFill>
                <a:effectLst/>
                <a:latin typeface="Segoe UI Light" pitchFamily="34" charset="0"/>
                <a:ea typeface="+mn-ea"/>
                <a:cs typeface="+mn-cs"/>
              </a:rPr>
              <a:t>language, which main language for K8s itself to declare a manifest</a:t>
            </a:r>
          </a:p>
          <a:p>
            <a:pPr marL="228600" indent="-228600">
              <a:buAutoNum type="arabicPeriod" startAt="3"/>
            </a:pPr>
            <a:r>
              <a:rPr lang="en-US" sz="882" b="0" i="0" kern="1200" dirty="0" smtClean="0">
                <a:solidFill>
                  <a:schemeClr val="tx1"/>
                </a:solidFill>
                <a:effectLst/>
                <a:latin typeface="Segoe UI Light" pitchFamily="34" charset="0"/>
                <a:ea typeface="+mn-ea"/>
                <a:cs typeface="+mn-cs"/>
              </a:rPr>
              <a:t>It uses a </a:t>
            </a:r>
            <a:r>
              <a:rPr lang="en-US" sz="882" b="1" i="0" kern="1200" dirty="0" smtClean="0">
                <a:solidFill>
                  <a:schemeClr val="tx1"/>
                </a:solidFill>
                <a:effectLst/>
                <a:latin typeface="Segoe UI Light" pitchFamily="34" charset="0"/>
                <a:ea typeface="+mn-ea"/>
                <a:cs typeface="+mn-cs"/>
              </a:rPr>
              <a:t>DAG (Directed Acyclic Graph)</a:t>
            </a:r>
            <a:r>
              <a:rPr lang="en-US" sz="882" b="0" i="0" kern="1200" dirty="0" smtClean="0">
                <a:solidFill>
                  <a:schemeClr val="tx1"/>
                </a:solidFill>
                <a:effectLst/>
                <a:latin typeface="Segoe UI Light" pitchFamily="34" charset="0"/>
                <a:ea typeface="+mn-ea"/>
                <a:cs typeface="+mn-cs"/>
              </a:rPr>
              <a:t>. The definition</a:t>
            </a:r>
            <a:r>
              <a:rPr lang="en-US" sz="882" b="0" i="0" kern="1200" baseline="0" dirty="0" smtClean="0">
                <a:solidFill>
                  <a:schemeClr val="tx1"/>
                </a:solidFill>
                <a:effectLst/>
                <a:latin typeface="Segoe UI Light" pitchFamily="34" charset="0"/>
                <a:ea typeface="+mn-ea"/>
                <a:cs typeface="+mn-cs"/>
              </a:rPr>
              <a:t> may sound sophisticated and hard, actually </a:t>
            </a:r>
            <a:r>
              <a:rPr lang="en-US" sz="882" b="0" i="0" kern="1200" dirty="0" smtClean="0">
                <a:solidFill>
                  <a:schemeClr val="tx1"/>
                </a:solidFill>
                <a:effectLst/>
                <a:latin typeface="Segoe UI Light" pitchFamily="34" charset="0"/>
                <a:ea typeface="+mn-ea"/>
                <a:cs typeface="+mn-cs"/>
              </a:rPr>
              <a:t>it’s more like fancy way of saying a '</a:t>
            </a:r>
            <a:r>
              <a:rPr lang="en-US" sz="882" b="1" i="0" kern="1200" dirty="0" smtClean="0">
                <a:solidFill>
                  <a:schemeClr val="tx1"/>
                </a:solidFill>
                <a:effectLst/>
                <a:latin typeface="Segoe UI Light" pitchFamily="34" charset="0"/>
                <a:ea typeface="+mn-ea"/>
                <a:cs typeface="+mn-cs"/>
              </a:rPr>
              <a:t>one-way flow chart</a:t>
            </a:r>
            <a:r>
              <a:rPr lang="en-US" sz="882" b="0" i="0" kern="1200" dirty="0" smtClean="0">
                <a:solidFill>
                  <a:schemeClr val="tx1"/>
                </a:solidFill>
                <a:effectLst/>
                <a:latin typeface="Segoe UI Light" pitchFamily="34" charset="0"/>
                <a:ea typeface="+mn-ea"/>
                <a:cs typeface="+mn-cs"/>
              </a:rPr>
              <a:t>.' You define your steps in </a:t>
            </a:r>
            <a:r>
              <a:rPr lang="en-US" sz="882" b="1" i="0" kern="1200" dirty="0" smtClean="0">
                <a:solidFill>
                  <a:schemeClr val="tx1"/>
                </a:solidFill>
                <a:effectLst/>
                <a:latin typeface="Segoe UI Light" pitchFamily="34" charset="0"/>
                <a:ea typeface="+mn-ea"/>
                <a:cs typeface="+mn-cs"/>
              </a:rPr>
              <a:t>YAML</a:t>
            </a:r>
            <a:r>
              <a:rPr lang="en-US" sz="882" b="0" i="0" kern="1200" dirty="0" smtClean="0">
                <a:solidFill>
                  <a:schemeClr val="tx1"/>
                </a:solidFill>
                <a:effectLst/>
                <a:latin typeface="Segoe UI Light" pitchFamily="34" charset="0"/>
                <a:ea typeface="+mn-ea"/>
                <a:cs typeface="+mn-cs"/>
              </a:rPr>
              <a:t> </a:t>
            </a:r>
            <a:r>
              <a:rPr lang="en-US" sz="882" b="0" i="0" kern="1200" dirty="0" smtClean="0">
                <a:solidFill>
                  <a:schemeClr val="tx1"/>
                </a:solidFill>
                <a:effectLst/>
                <a:latin typeface="Segoe UI Light" pitchFamily="34" charset="0"/>
                <a:ea typeface="+mn-ea"/>
                <a:cs typeface="+mn-cs"/>
              </a:rPr>
              <a:t>and Argo ensures Step A finishes before Step B starts.</a:t>
            </a:r>
          </a:p>
          <a:p>
            <a:pPr marL="228600" indent="-228600">
              <a:buAutoNum type="arabicPeriod" startAt="3"/>
            </a:pPr>
            <a:r>
              <a:rPr lang="en-US" sz="882" b="0" i="0" kern="1200" dirty="0" smtClean="0">
                <a:solidFill>
                  <a:schemeClr val="tx1"/>
                </a:solidFill>
                <a:effectLst/>
                <a:latin typeface="Segoe UI Light" pitchFamily="34" charset="0"/>
                <a:ea typeface="+mn-ea"/>
                <a:cs typeface="+mn-cs"/>
              </a:rPr>
              <a:t>It’s equip</a:t>
            </a:r>
            <a:r>
              <a:rPr lang="en-US" sz="882" b="0" i="0" kern="1200" baseline="0" dirty="0" smtClean="0">
                <a:solidFill>
                  <a:schemeClr val="tx1"/>
                </a:solidFill>
                <a:effectLst/>
                <a:latin typeface="Segoe UI Light" pitchFamily="34" charset="0"/>
                <a:ea typeface="+mn-ea"/>
                <a:cs typeface="+mn-cs"/>
              </a:rPr>
              <a:t> with poking mechanism which capable for event-driven design</a:t>
            </a:r>
          </a:p>
          <a:p>
            <a:pPr marL="228600" indent="-228600">
              <a:buAutoNum type="arabicPeriod" startAt="3"/>
            </a:pPr>
            <a:r>
              <a:rPr lang="en-US" sz="882" b="0" i="0" kern="1200" baseline="0" dirty="0" smtClean="0">
                <a:solidFill>
                  <a:schemeClr val="tx1"/>
                </a:solidFill>
                <a:effectLst/>
                <a:latin typeface="Segoe UI Light" pitchFamily="34" charset="0"/>
                <a:ea typeface="+mn-ea"/>
                <a:cs typeface="+mn-cs"/>
              </a:rPr>
              <a:t>And of courses CI/CD ready</a:t>
            </a:r>
          </a:p>
          <a:p>
            <a:pPr marL="228600" indent="-228600">
              <a:buAutoNum type="arabicPeriod" startAt="3"/>
            </a:pPr>
            <a:endParaRPr lang="en-US" sz="882" b="0" i="0" kern="1200" baseline="0" dirty="0" smtClean="0">
              <a:solidFill>
                <a:schemeClr val="tx1"/>
              </a:solidFill>
              <a:effectLst/>
              <a:latin typeface="Segoe UI Light" pitchFamily="34" charset="0"/>
              <a:ea typeface="+mn-ea"/>
              <a:cs typeface="+mn-cs"/>
            </a:endParaRPr>
          </a:p>
          <a:p>
            <a:pPr marL="228600" indent="-228600">
              <a:buAutoNum type="arabicPeriod" startAt="3"/>
            </a:pPr>
            <a:endParaRPr lang="en-US" sz="882" b="0" i="0" kern="1200" baseline="0" dirty="0" smtClean="0">
              <a:solidFill>
                <a:schemeClr val="tx1"/>
              </a:solidFill>
              <a:effectLst/>
              <a:latin typeface="Segoe UI Light" pitchFamily="34" charset="0"/>
              <a:ea typeface="+mn-ea"/>
              <a:cs typeface="+mn-cs"/>
            </a:endParaRPr>
          </a:p>
          <a:p>
            <a:pPr marL="0" indent="0">
              <a:buNone/>
            </a:pPr>
            <a:r>
              <a:rPr lang="en-US" sz="882" b="0" i="0" kern="1200" baseline="0" dirty="0" smtClean="0">
                <a:solidFill>
                  <a:schemeClr val="tx1"/>
                </a:solidFill>
                <a:effectLst/>
                <a:latin typeface="Segoe UI Light" pitchFamily="34" charset="0"/>
                <a:ea typeface="+mn-ea"/>
                <a:cs typeface="+mn-cs"/>
              </a:rPr>
              <a:t>Show Image</a:t>
            </a:r>
          </a:p>
          <a:p>
            <a:pPr marL="0" indent="0">
              <a:buNone/>
            </a:pPr>
            <a:endParaRPr lang="en-US" sz="882" b="0" i="0" kern="1200" dirty="0" smtClean="0">
              <a:solidFill>
                <a:schemeClr val="tx1"/>
              </a:solidFill>
              <a:effectLst/>
              <a:latin typeface="Segoe UI Light" pitchFamily="34" charset="0"/>
              <a:ea typeface="+mn-ea"/>
              <a:cs typeface="+mn-cs"/>
            </a:endParaRPr>
          </a:p>
          <a:p>
            <a:endParaRPr lang="en-MY" dirty="0" smtClean="0"/>
          </a:p>
          <a:p>
            <a:endParaRPr lang="en-MY"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12:33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36444310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i="0" kern="1200" dirty="0" smtClean="0">
                <a:solidFill>
                  <a:schemeClr val="tx1"/>
                </a:solidFill>
                <a:effectLst/>
                <a:latin typeface="Segoe UI Light" pitchFamily="34" charset="0"/>
                <a:ea typeface="+mn-ea"/>
                <a:cs typeface="+mn-cs"/>
              </a:rPr>
              <a:t>1.</a:t>
            </a:r>
            <a:r>
              <a:rPr lang="en-US" sz="882" b="0" i="0" kern="1200" baseline="0" dirty="0" smtClean="0">
                <a:solidFill>
                  <a:schemeClr val="tx1"/>
                </a:solidFill>
                <a:effectLst/>
                <a:latin typeface="Segoe UI Light" pitchFamily="34" charset="0"/>
                <a:ea typeface="+mn-ea"/>
                <a:cs typeface="+mn-cs"/>
              </a:rPr>
              <a:t> As nature of </a:t>
            </a:r>
            <a:r>
              <a:rPr lang="en-US" sz="882" b="0" i="0" kern="1200" dirty="0" smtClean="0">
                <a:solidFill>
                  <a:schemeClr val="tx1"/>
                </a:solidFill>
                <a:effectLst/>
                <a:latin typeface="Segoe UI Light" pitchFamily="34" charset="0"/>
                <a:ea typeface="+mn-ea"/>
                <a:cs typeface="+mn-cs"/>
              </a:rPr>
              <a:t>Argo lives inside </a:t>
            </a:r>
            <a:r>
              <a:rPr lang="en-US" sz="882" b="0" i="0" kern="1200" dirty="0" err="1" smtClean="0">
                <a:solidFill>
                  <a:schemeClr val="tx1"/>
                </a:solidFill>
                <a:effectLst/>
                <a:latin typeface="Segoe UI Light" pitchFamily="34" charset="0"/>
                <a:ea typeface="+mn-ea"/>
                <a:cs typeface="+mn-cs"/>
              </a:rPr>
              <a:t>Kubernetes</a:t>
            </a:r>
            <a:r>
              <a:rPr lang="en-US" sz="882" b="0" i="0" kern="1200" baseline="0" dirty="0" smtClean="0">
                <a:solidFill>
                  <a:schemeClr val="tx1"/>
                </a:solidFill>
                <a:effectLst/>
                <a:latin typeface="Segoe UI Light" pitchFamily="34" charset="0"/>
                <a:ea typeface="+mn-ea"/>
                <a:cs typeface="+mn-cs"/>
              </a:rPr>
              <a:t> itself</a:t>
            </a:r>
            <a:r>
              <a:rPr lang="en-US" sz="882" b="0" i="0" kern="1200" dirty="0" smtClean="0">
                <a:solidFill>
                  <a:schemeClr val="tx1"/>
                </a:solidFill>
                <a:effectLst/>
                <a:latin typeface="Segoe UI Light" pitchFamily="34" charset="0"/>
                <a:ea typeface="+mn-ea"/>
                <a:cs typeface="+mn-cs"/>
              </a:rPr>
              <a:t>, it gets all the 'superpowers' of K8s for free.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2. Here list</a:t>
            </a:r>
            <a:r>
              <a:rPr lang="en-US" sz="882" b="0" i="0" kern="1200" baseline="0" dirty="0" smtClean="0">
                <a:solidFill>
                  <a:schemeClr val="tx1"/>
                </a:solidFill>
                <a:effectLst/>
                <a:latin typeface="Segoe UI Light" pitchFamily="34" charset="0"/>
                <a:ea typeface="+mn-ea"/>
                <a:cs typeface="+mn-cs"/>
              </a:rPr>
              <a:t> of common well </a:t>
            </a:r>
            <a:r>
              <a:rPr lang="en-US" sz="882" b="0" i="0" kern="1200" baseline="0" dirty="0" smtClean="0">
                <a:solidFill>
                  <a:schemeClr val="tx1"/>
                </a:solidFill>
                <a:effectLst/>
                <a:latin typeface="Segoe UI Light" pitchFamily="34" charset="0"/>
                <a:ea typeface="+mn-ea"/>
                <a:cs typeface="+mn-cs"/>
              </a:rPr>
              <a:t>known K8s object capability and how Argo make use of it</a:t>
            </a:r>
            <a:r>
              <a:rPr lang="en-US" sz="882" b="0" i="0" kern="1200" baseline="0" dirty="0" smtClean="0">
                <a:solidFill>
                  <a:schemeClr val="tx1"/>
                </a:solidFill>
                <a:effectLst/>
                <a:latin typeface="Segoe UI Light" pitchFamily="34" charset="0"/>
                <a:ea typeface="+mn-ea"/>
                <a:cs typeface="+mn-cs"/>
              </a:rPr>
              <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
            </a:r>
            <a:br>
              <a:rPr lang="en-US" sz="882" b="0" i="0" kern="1200" baseline="0" dirty="0" smtClean="0">
                <a:solidFill>
                  <a:schemeClr val="tx1"/>
                </a:solidFill>
                <a:effectLst/>
                <a:latin typeface="Segoe UI Light" pitchFamily="34" charset="0"/>
                <a:ea typeface="+mn-ea"/>
                <a:cs typeface="+mn-cs"/>
              </a:rPr>
            </a:br>
            <a:r>
              <a:rPr lang="en-US" sz="882" b="0" i="0" kern="1200" baseline="0" dirty="0" err="1" smtClean="0">
                <a:solidFill>
                  <a:schemeClr val="tx1"/>
                </a:solidFill>
                <a:effectLst/>
                <a:latin typeface="Segoe UI Light" pitchFamily="34" charset="0"/>
                <a:ea typeface="+mn-ea"/>
                <a:cs typeface="+mn-cs"/>
              </a:rPr>
              <a:t>Kubernetes</a:t>
            </a:r>
            <a:r>
              <a:rPr lang="en-US" sz="882" b="0" i="0" kern="1200" baseline="0" dirty="0" smtClean="0">
                <a:solidFill>
                  <a:schemeClr val="tx1"/>
                </a:solidFill>
                <a:effectLst/>
                <a:latin typeface="Segoe UI Light" pitchFamily="34" charset="0"/>
                <a:ea typeface="+mn-ea"/>
                <a:cs typeface="+mn-cs"/>
              </a:rPr>
              <a:t> Capability</a:t>
            </a: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3. </a:t>
            </a:r>
            <a:r>
              <a:rPr lang="en-US" sz="882" b="0" i="0" kern="1200" dirty="0" err="1" smtClean="0">
                <a:solidFill>
                  <a:schemeClr val="tx1"/>
                </a:solidFill>
                <a:effectLst/>
                <a:latin typeface="Segoe UI Light" pitchFamily="34" charset="0"/>
                <a:ea typeface="+mn-ea"/>
                <a:cs typeface="+mn-cs"/>
              </a:rPr>
              <a:t>Terang</a:t>
            </a:r>
            <a:r>
              <a:rPr lang="en-US" sz="882" b="0" i="0" kern="1200" baseline="0" dirty="0" smtClean="0">
                <a:solidFill>
                  <a:schemeClr val="tx1"/>
                </a:solidFill>
                <a:effectLst/>
                <a:latin typeface="Segoe UI Light" pitchFamily="34" charset="0"/>
                <a:ea typeface="+mn-ea"/>
                <a:cs typeface="+mn-cs"/>
              </a:rPr>
              <a:t> satu2 each k8s </a:t>
            </a:r>
            <a:r>
              <a:rPr lang="en-US" sz="882" b="0" i="0" kern="1200" baseline="0" dirty="0" err="1" smtClean="0">
                <a:solidFill>
                  <a:schemeClr val="tx1"/>
                </a:solidFill>
                <a:effectLst/>
                <a:latin typeface="Segoe UI Light" pitchFamily="34" charset="0"/>
                <a:ea typeface="+mn-ea"/>
                <a:cs typeface="+mn-cs"/>
              </a:rPr>
              <a:t>tu</a:t>
            </a:r>
            <a:r>
              <a:rPr lang="en-US" sz="882" b="0" i="0" kern="1200" baseline="0" dirty="0" smtClean="0">
                <a:solidFill>
                  <a:schemeClr val="tx1"/>
                </a:solidFill>
                <a:effectLst/>
                <a:latin typeface="Segoe UI Light" pitchFamily="34" charset="0"/>
                <a:ea typeface="+mn-ea"/>
                <a:cs typeface="+mn-cs"/>
              </a:rPr>
              <a:t> how </a:t>
            </a:r>
            <a:r>
              <a:rPr lang="en-US" sz="882" b="0" i="0" kern="1200" baseline="0" dirty="0" err="1" smtClean="0">
                <a:solidFill>
                  <a:schemeClr val="tx1"/>
                </a:solidFill>
                <a:effectLst/>
                <a:latin typeface="Segoe UI Light" pitchFamily="34" charset="0"/>
                <a:ea typeface="+mn-ea"/>
                <a:cs typeface="+mn-cs"/>
              </a:rPr>
              <a:t>argo</a:t>
            </a:r>
            <a:r>
              <a:rPr lang="en-US" sz="882" b="0" i="0" kern="1200" baseline="0" dirty="0" smtClean="0">
                <a:solidFill>
                  <a:schemeClr val="tx1"/>
                </a:solidFill>
                <a:effectLst/>
                <a:latin typeface="Segoe UI Light" pitchFamily="34" charset="0"/>
                <a:ea typeface="+mn-ea"/>
                <a:cs typeface="+mn-cs"/>
              </a:rPr>
              <a:t> pivot </a:t>
            </a:r>
            <a:r>
              <a:rPr lang="en-US" sz="882" b="0" i="0" kern="1200" baseline="0" dirty="0" smtClean="0">
                <a:solidFill>
                  <a:schemeClr val="tx1"/>
                </a:solidFill>
                <a:effectLst/>
                <a:latin typeface="Segoe UI Light" pitchFamily="34" charset="0"/>
                <a:ea typeface="+mn-ea"/>
                <a:cs typeface="+mn-cs"/>
              </a:rPr>
              <a:t>it</a:t>
            </a: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4. So basically Argo does not </a:t>
            </a:r>
            <a:r>
              <a:rPr lang="en-US" sz="882" b="0" i="0" kern="1200" baseline="0" dirty="0" smtClean="0">
                <a:solidFill>
                  <a:schemeClr val="tx1"/>
                </a:solidFill>
                <a:effectLst/>
                <a:latin typeface="Segoe UI Light" pitchFamily="34" charset="0"/>
                <a:ea typeface="+mn-ea"/>
                <a:cs typeface="+mn-cs"/>
              </a:rPr>
              <a:t>integrate </a:t>
            </a:r>
            <a:r>
              <a:rPr lang="en-US" sz="882" b="0" i="0" kern="1200" baseline="0" dirty="0" smtClean="0">
                <a:solidFill>
                  <a:schemeClr val="tx1"/>
                </a:solidFill>
                <a:effectLst/>
                <a:latin typeface="Segoe UI Light" pitchFamily="34" charset="0"/>
                <a:ea typeface="+mn-ea"/>
                <a:cs typeface="+mn-cs"/>
              </a:rPr>
              <a:t>with </a:t>
            </a:r>
            <a:r>
              <a:rPr lang="en-US" sz="882" b="0" i="0" kern="1200" baseline="0" dirty="0" err="1" smtClean="0">
                <a:solidFill>
                  <a:schemeClr val="tx1"/>
                </a:solidFill>
                <a:effectLst/>
                <a:latin typeface="Segoe UI Light" pitchFamily="34" charset="0"/>
                <a:ea typeface="+mn-ea"/>
                <a:cs typeface="+mn-cs"/>
              </a:rPr>
              <a:t>Kubernetes</a:t>
            </a:r>
            <a:r>
              <a:rPr lang="en-US" sz="882" b="0" i="0" kern="1200" baseline="0" dirty="0" smtClean="0">
                <a:solidFill>
                  <a:schemeClr val="tx1"/>
                </a:solidFill>
                <a:effectLst/>
                <a:latin typeface="Segoe UI Light" pitchFamily="34" charset="0"/>
                <a:ea typeface="+mn-ea"/>
                <a:cs typeface="+mn-cs"/>
              </a:rPr>
              <a:t>, </a:t>
            </a:r>
            <a:r>
              <a:rPr lang="en-US" sz="882" b="0" i="0" kern="1200" baseline="0" dirty="0" smtClean="0">
                <a:solidFill>
                  <a:schemeClr val="tx1"/>
                </a:solidFill>
                <a:effectLst/>
                <a:latin typeface="Segoe UI Light" pitchFamily="34" charset="0"/>
                <a:ea typeface="+mn-ea"/>
                <a:cs typeface="+mn-cs"/>
              </a:rPr>
              <a:t>it is </a:t>
            </a:r>
            <a:r>
              <a:rPr lang="en-US" sz="882" b="0" i="0" kern="1200" baseline="0" dirty="0" smtClean="0">
                <a:solidFill>
                  <a:schemeClr val="tx1"/>
                </a:solidFill>
                <a:effectLst/>
                <a:latin typeface="Segoe UI Light" pitchFamily="34" charset="0"/>
                <a:ea typeface="+mn-ea"/>
                <a:cs typeface="+mn-cs"/>
              </a:rPr>
              <a:t>actually emphasize the </a:t>
            </a:r>
            <a:r>
              <a:rPr lang="en-US" sz="882" b="0" i="0" kern="1200" baseline="0" dirty="0" err="1" smtClean="0">
                <a:solidFill>
                  <a:schemeClr val="tx1"/>
                </a:solidFill>
                <a:effectLst/>
                <a:latin typeface="Segoe UI Light" pitchFamily="34" charset="0"/>
                <a:ea typeface="+mn-ea"/>
                <a:cs typeface="+mn-cs"/>
              </a:rPr>
              <a:t>kubernetes</a:t>
            </a:r>
            <a:r>
              <a:rPr lang="en-US" sz="882" b="0" i="0" kern="1200" baseline="0" dirty="0" smtClean="0">
                <a:solidFill>
                  <a:schemeClr val="tx1"/>
                </a:solidFill>
                <a:effectLst/>
                <a:latin typeface="Segoe UI Light" pitchFamily="34" charset="0"/>
                <a:ea typeface="+mn-ea"/>
                <a:cs typeface="+mn-cs"/>
              </a:rPr>
              <a:t> </a:t>
            </a:r>
            <a:r>
              <a:rPr lang="en-US" sz="882" b="0" i="0" kern="1200" baseline="0" dirty="0" smtClean="0">
                <a:solidFill>
                  <a:schemeClr val="tx1"/>
                </a:solidFill>
                <a:effectLst/>
                <a:latin typeface="Segoe UI Light" pitchFamily="34" charset="0"/>
                <a:ea typeface="+mn-ea"/>
                <a:cs typeface="+mn-cs"/>
              </a:rPr>
              <a:t>native capability itself</a:t>
            </a: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endParaRPr lang="en-MY" dirty="0" smtClean="0"/>
          </a:p>
          <a:p>
            <a:endParaRPr lang="en-MY"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6/22/2026 6:34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1901904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endParaRPr lang="en-US" sz="882" b="0" kern="1200" dirty="0" smtClean="0">
              <a:solidFill>
                <a:schemeClr val="tx1"/>
              </a:solidFill>
              <a:effectLst/>
              <a:latin typeface="Segoe UI Light" pitchFamily="34" charset="0"/>
              <a:ea typeface="+mn-ea"/>
              <a:cs typeface="+mn-cs"/>
            </a:endParaRPr>
          </a:p>
          <a:p>
            <a:pPr algn="just"/>
            <a:r>
              <a:rPr lang="en-US" sz="882" b="0" kern="1200" dirty="0" smtClean="0">
                <a:solidFill>
                  <a:schemeClr val="tx1"/>
                </a:solidFill>
                <a:effectLst/>
                <a:latin typeface="Segoe UI Light" pitchFamily="34" charset="0"/>
                <a:ea typeface="+mn-ea"/>
                <a:cs typeface="+mn-cs"/>
              </a:rPr>
              <a:t>1. </a:t>
            </a:r>
            <a:r>
              <a:rPr lang="en-US" sz="882" b="0" i="0" kern="1200" dirty="0" smtClean="0">
                <a:solidFill>
                  <a:schemeClr val="tx1"/>
                </a:solidFill>
                <a:effectLst/>
                <a:latin typeface="Segoe UI Light" pitchFamily="34" charset="0"/>
                <a:ea typeface="+mn-ea"/>
                <a:cs typeface="+mn-cs"/>
              </a:rPr>
              <a:t>Now, let’s talk security. </a:t>
            </a:r>
            <a:r>
              <a:rPr lang="en-US" sz="882" b="0" kern="1200" dirty="0" smtClean="0">
                <a:solidFill>
                  <a:schemeClr val="tx1"/>
                </a:solidFill>
                <a:effectLst/>
                <a:latin typeface="Segoe UI Light" pitchFamily="34" charset="0"/>
                <a:ea typeface="+mn-ea"/>
                <a:cs typeface="+mn-cs"/>
              </a:rPr>
              <a:t>Before we start, maybe</a:t>
            </a:r>
            <a:r>
              <a:rPr lang="en-US" sz="882" b="0" kern="1200" baseline="0" dirty="0" smtClean="0">
                <a:solidFill>
                  <a:schemeClr val="tx1"/>
                </a:solidFill>
                <a:effectLst/>
                <a:latin typeface="Segoe UI Light" pitchFamily="34" charset="0"/>
                <a:ea typeface="+mn-ea"/>
                <a:cs typeface="+mn-cs"/>
              </a:rPr>
              <a:t> I can help to clear up the silver lining </a:t>
            </a:r>
            <a:r>
              <a:rPr lang="en-US" sz="882" b="0" kern="1200" baseline="0" dirty="0" smtClean="0">
                <a:solidFill>
                  <a:schemeClr val="tx1"/>
                </a:solidFill>
                <a:effectLst/>
                <a:latin typeface="Segoe UI Light" pitchFamily="34" charset="0"/>
                <a:ea typeface="+mn-ea"/>
                <a:cs typeface="+mn-cs"/>
              </a:rPr>
              <a:t>between </a:t>
            </a:r>
            <a:r>
              <a:rPr lang="en-US" sz="882" b="0" kern="1200" baseline="0" dirty="0" smtClean="0">
                <a:solidFill>
                  <a:schemeClr val="tx1"/>
                </a:solidFill>
                <a:effectLst/>
                <a:latin typeface="Segoe UI Light" pitchFamily="34" charset="0"/>
                <a:ea typeface="+mn-ea"/>
                <a:cs typeface="+mn-cs"/>
              </a:rPr>
              <a:t>what is Authentication and what is Authorization</a:t>
            </a:r>
            <a:endParaRPr lang="en-US" sz="882" b="0" kern="1200" dirty="0" smtClean="0">
              <a:solidFill>
                <a:schemeClr val="tx1"/>
              </a:solidFill>
              <a:effectLst/>
              <a:latin typeface="Segoe UI Light" pitchFamily="34" charset="0"/>
              <a:ea typeface="+mn-ea"/>
              <a:cs typeface="+mn-cs"/>
            </a:endParaRPr>
          </a:p>
          <a:p>
            <a:pPr fontAlgn="base"/>
            <a:r>
              <a:rPr lang="en-US" sz="882" b="0" i="0" kern="1200" dirty="0" smtClean="0">
                <a:solidFill>
                  <a:schemeClr val="tx1"/>
                </a:solidFill>
                <a:effectLst/>
                <a:latin typeface="Segoe UI Light" pitchFamily="34" charset="0"/>
                <a:ea typeface="+mn-ea"/>
                <a:cs typeface="+mn-cs"/>
              </a:rPr>
              <a:t>Authentication: Is a way for u to </a:t>
            </a:r>
            <a:r>
              <a:rPr lang="en-US" sz="882" b="0" i="0" kern="1200" dirty="0" smtClean="0">
                <a:solidFill>
                  <a:schemeClr val="tx1"/>
                </a:solidFill>
                <a:effectLst/>
                <a:latin typeface="Segoe UI Light" pitchFamily="34" charset="0"/>
                <a:ea typeface="+mn-ea"/>
                <a:cs typeface="+mn-cs"/>
              </a:rPr>
              <a:t>confirms </a:t>
            </a:r>
            <a:r>
              <a:rPr lang="en-US" sz="882" b="0" i="0" kern="1200" dirty="0" smtClean="0">
                <a:solidFill>
                  <a:schemeClr val="tx1"/>
                </a:solidFill>
                <a:effectLst/>
                <a:latin typeface="Segoe UI Light" pitchFamily="34" charset="0"/>
                <a:ea typeface="+mn-ea"/>
                <a:cs typeface="+mn-cs"/>
              </a:rPr>
              <a:t>user’s identity</a:t>
            </a:r>
            <a:r>
              <a:rPr lang="en-US" sz="882" b="0" i="0" kern="1200" baseline="0" dirty="0" smtClean="0">
                <a:solidFill>
                  <a:schemeClr val="tx1"/>
                </a:solidFill>
                <a:effectLst/>
                <a:latin typeface="Segoe UI Light" pitchFamily="34" charset="0"/>
                <a:ea typeface="+mn-ea"/>
                <a:cs typeface="+mn-cs"/>
              </a:rPr>
              <a:t> to access upon certain system</a:t>
            </a:r>
            <a:endParaRPr lang="en-US" sz="882" b="0" i="0" kern="1200" dirty="0" smtClean="0">
              <a:solidFill>
                <a:schemeClr val="tx1"/>
              </a:solidFill>
              <a:effectLst/>
              <a:latin typeface="Segoe UI Light" pitchFamily="34" charset="0"/>
              <a:ea typeface="+mn-ea"/>
              <a:cs typeface="+mn-cs"/>
            </a:endParaRPr>
          </a:p>
          <a:p>
            <a:pPr fontAlgn="base"/>
            <a:r>
              <a:rPr lang="en-US" sz="882" b="0" i="0" kern="1200" dirty="0" smtClean="0">
                <a:solidFill>
                  <a:schemeClr val="tx1"/>
                </a:solidFill>
                <a:effectLst/>
                <a:latin typeface="Segoe UI Light" pitchFamily="34" charset="0"/>
                <a:ea typeface="+mn-ea"/>
                <a:cs typeface="+mn-cs"/>
              </a:rPr>
              <a:t>Authorization: Is a way for u to determines </a:t>
            </a:r>
            <a:r>
              <a:rPr lang="en-US" sz="882" b="0" i="0" kern="1200" dirty="0" smtClean="0">
                <a:solidFill>
                  <a:schemeClr val="tx1"/>
                </a:solidFill>
                <a:effectLst/>
                <a:latin typeface="Segoe UI Light" pitchFamily="34" charset="0"/>
                <a:ea typeface="+mn-ea"/>
                <a:cs typeface="+mn-cs"/>
              </a:rPr>
              <a:t>that dedicated </a:t>
            </a:r>
            <a:r>
              <a:rPr lang="en-US" sz="882" b="0" i="0" kern="1200" baseline="0" dirty="0" smtClean="0">
                <a:solidFill>
                  <a:schemeClr val="tx1"/>
                </a:solidFill>
                <a:effectLst/>
                <a:latin typeface="Segoe UI Light" pitchFamily="34" charset="0"/>
                <a:ea typeface="+mn-ea"/>
                <a:cs typeface="+mn-cs"/>
              </a:rPr>
              <a:t>user</a:t>
            </a:r>
            <a:r>
              <a:rPr lang="en-US" sz="882" b="0" i="0" kern="1200" baseline="0" dirty="0" smtClean="0">
                <a:solidFill>
                  <a:schemeClr val="tx1"/>
                </a:solidFill>
                <a:effectLst/>
                <a:latin typeface="Segoe UI Light" pitchFamily="34" charset="0"/>
                <a:ea typeface="+mn-ea"/>
                <a:cs typeface="+mn-cs"/>
              </a:rPr>
              <a:t>, </a:t>
            </a:r>
            <a:r>
              <a:rPr lang="en-US" sz="882" b="0" i="0" kern="1200" dirty="0" smtClean="0">
                <a:solidFill>
                  <a:schemeClr val="tx1"/>
                </a:solidFill>
                <a:effectLst/>
                <a:latin typeface="Segoe UI Light" pitchFamily="34" charset="0"/>
                <a:ea typeface="+mn-ea"/>
                <a:cs typeface="+mn-cs"/>
              </a:rPr>
              <a:t>what </a:t>
            </a:r>
            <a:r>
              <a:rPr lang="en-US" sz="882" b="0" i="0" kern="1200" dirty="0" smtClean="0">
                <a:solidFill>
                  <a:schemeClr val="tx1"/>
                </a:solidFill>
                <a:effectLst/>
                <a:latin typeface="Segoe UI Light" pitchFamily="34" charset="0"/>
                <a:ea typeface="+mn-ea"/>
                <a:cs typeface="+mn-cs"/>
              </a:rPr>
              <a:t>are</a:t>
            </a:r>
            <a:r>
              <a:rPr lang="en-US" sz="882" b="0" i="0" kern="1200" baseline="0" dirty="0" smtClean="0">
                <a:solidFill>
                  <a:schemeClr val="tx1"/>
                </a:solidFill>
                <a:effectLst/>
                <a:latin typeface="Segoe UI Light" pitchFamily="34" charset="0"/>
                <a:ea typeface="+mn-ea"/>
                <a:cs typeface="+mn-cs"/>
              </a:rPr>
              <a:t> they</a:t>
            </a:r>
            <a:r>
              <a:rPr lang="en-US" sz="882" b="0" i="0" kern="1200" dirty="0" smtClean="0">
                <a:solidFill>
                  <a:schemeClr val="tx1"/>
                </a:solidFill>
                <a:effectLst/>
                <a:latin typeface="Segoe UI Light" pitchFamily="34" charset="0"/>
                <a:ea typeface="+mn-ea"/>
                <a:cs typeface="+mn-cs"/>
              </a:rPr>
              <a:t> allowed </a:t>
            </a:r>
            <a:r>
              <a:rPr lang="en-US" sz="882" b="0" i="0" kern="1200" dirty="0" smtClean="0">
                <a:solidFill>
                  <a:schemeClr val="tx1"/>
                </a:solidFill>
                <a:effectLst/>
                <a:latin typeface="Segoe UI Light" pitchFamily="34" charset="0"/>
                <a:ea typeface="+mn-ea"/>
                <a:cs typeface="+mn-cs"/>
              </a:rPr>
              <a:t>to access or perform</a:t>
            </a:r>
            <a:r>
              <a:rPr lang="en-US" sz="882" b="0" i="0" kern="1200" baseline="0" dirty="0" smtClean="0">
                <a:solidFill>
                  <a:schemeClr val="tx1"/>
                </a:solidFill>
                <a:effectLst/>
                <a:latin typeface="Segoe UI Light" pitchFamily="34" charset="0"/>
                <a:ea typeface="+mn-ea"/>
                <a:cs typeface="+mn-cs"/>
              </a:rPr>
              <a:t> under </a:t>
            </a:r>
            <a:r>
              <a:rPr lang="en-US" sz="882" b="0" i="0" kern="1200" baseline="0" dirty="0" err="1" smtClean="0">
                <a:solidFill>
                  <a:schemeClr val="tx1"/>
                </a:solidFill>
                <a:effectLst/>
                <a:latin typeface="Segoe UI Light" pitchFamily="34" charset="0"/>
                <a:ea typeface="+mn-ea"/>
                <a:cs typeface="+mn-cs"/>
              </a:rPr>
              <a:t>ur</a:t>
            </a:r>
            <a:r>
              <a:rPr lang="en-US" sz="882" b="0" i="0" kern="1200" baseline="0" dirty="0" smtClean="0">
                <a:solidFill>
                  <a:schemeClr val="tx1"/>
                </a:solidFill>
                <a:effectLst/>
                <a:latin typeface="Segoe UI Light" pitchFamily="34" charset="0"/>
                <a:ea typeface="+mn-ea"/>
                <a:cs typeface="+mn-cs"/>
              </a:rPr>
              <a:t> system</a:t>
            </a:r>
            <a:endParaRPr lang="en-US" sz="882" b="0" i="0" kern="1200" dirty="0" smtClean="0">
              <a:solidFill>
                <a:schemeClr val="tx1"/>
              </a:solidFill>
              <a:effectLst/>
              <a:latin typeface="Segoe UI Light" pitchFamily="34" charset="0"/>
              <a:ea typeface="+mn-ea"/>
              <a:cs typeface="+mn-cs"/>
            </a:endParaRPr>
          </a:p>
          <a:p>
            <a:r>
              <a:rPr lang="en-US" dirty="0" smtClean="0"/>
              <a:t/>
            </a:r>
            <a:br>
              <a:rPr lang="en-US" dirty="0" smtClean="0"/>
            </a:br>
            <a:r>
              <a:rPr lang="en-US" dirty="0" smtClean="0"/>
              <a:t>Authentication</a:t>
            </a:r>
          </a:p>
          <a:p>
            <a:r>
              <a:rPr lang="en-US" sz="882" b="0" i="0" kern="1200" dirty="0" smtClean="0">
                <a:solidFill>
                  <a:schemeClr val="tx1"/>
                </a:solidFill>
                <a:effectLst/>
                <a:latin typeface="Segoe UI Light" pitchFamily="34" charset="0"/>
                <a:ea typeface="+mn-ea"/>
                <a:cs typeface="+mn-cs"/>
              </a:rPr>
              <a:t>2.</a:t>
            </a:r>
            <a:r>
              <a:rPr lang="en-US" sz="882" b="0" i="0" kern="1200" baseline="0" dirty="0" smtClean="0">
                <a:solidFill>
                  <a:schemeClr val="tx1"/>
                </a:solidFill>
                <a:effectLst/>
                <a:latin typeface="Segoe UI Light" pitchFamily="34" charset="0"/>
                <a:ea typeface="+mn-ea"/>
                <a:cs typeface="+mn-cs"/>
              </a:rPr>
              <a:t> </a:t>
            </a:r>
            <a:r>
              <a:rPr lang="en-US" sz="882" b="0" i="0" kern="1200" dirty="0" smtClean="0">
                <a:solidFill>
                  <a:schemeClr val="tx1"/>
                </a:solidFill>
                <a:effectLst/>
                <a:latin typeface="Segoe UI Light" pitchFamily="34" charset="0"/>
                <a:ea typeface="+mn-ea"/>
                <a:cs typeface="+mn-cs"/>
              </a:rPr>
              <a:t>We don't want just anyone clicking </a:t>
            </a:r>
            <a:r>
              <a:rPr lang="en-US" sz="882" b="0" i="0" kern="1200" dirty="0" smtClean="0">
                <a:solidFill>
                  <a:schemeClr val="tx1"/>
                </a:solidFill>
                <a:effectLst/>
                <a:latin typeface="Segoe UI Light" pitchFamily="34" charset="0"/>
                <a:ea typeface="+mn-ea"/>
                <a:cs typeface="+mn-cs"/>
              </a:rPr>
              <a:t>'delete/deploy’ </a:t>
            </a:r>
            <a:r>
              <a:rPr lang="en-US" sz="882" b="0" i="0" kern="1200" dirty="0" smtClean="0">
                <a:solidFill>
                  <a:schemeClr val="tx1"/>
                </a:solidFill>
                <a:effectLst/>
                <a:latin typeface="Segoe UI Light" pitchFamily="34" charset="0"/>
                <a:ea typeface="+mn-ea"/>
                <a:cs typeface="+mn-cs"/>
              </a:rPr>
              <a:t>on our pipelines. </a:t>
            </a:r>
            <a:r>
              <a:rPr lang="en-US" sz="882" b="0" i="0" kern="1200" dirty="0" smtClean="0">
                <a:solidFill>
                  <a:schemeClr val="tx1"/>
                </a:solidFill>
                <a:effectLst/>
                <a:latin typeface="Segoe UI Light" pitchFamily="34" charset="0"/>
                <a:ea typeface="+mn-ea"/>
                <a:cs typeface="+mn-cs"/>
              </a:rPr>
              <a:t>Argo use</a:t>
            </a:r>
            <a:r>
              <a:rPr lang="en-US" sz="882" b="0" i="0" kern="1200" dirty="0" smtClean="0">
                <a:solidFill>
                  <a:schemeClr val="tx1"/>
                </a:solidFill>
                <a:effectLst/>
                <a:latin typeface="Segoe UI Light" pitchFamily="34" charset="0"/>
                <a:ea typeface="+mn-ea"/>
                <a:cs typeface="+mn-cs"/>
              </a:rPr>
              <a:t> </a:t>
            </a:r>
            <a:r>
              <a:rPr lang="en-US" sz="882" b="1" i="0" kern="1200" dirty="0" smtClean="0">
                <a:solidFill>
                  <a:schemeClr val="tx1"/>
                </a:solidFill>
                <a:effectLst/>
                <a:latin typeface="Segoe UI Light" pitchFamily="34" charset="0"/>
                <a:ea typeface="+mn-ea"/>
                <a:cs typeface="+mn-cs"/>
              </a:rPr>
              <a:t>Authentication</a:t>
            </a:r>
            <a:r>
              <a:rPr lang="en-US" sz="882" b="0" i="0" kern="1200" dirty="0" smtClean="0">
                <a:solidFill>
                  <a:schemeClr val="tx1"/>
                </a:solidFill>
                <a:effectLst/>
                <a:latin typeface="Segoe UI Light" pitchFamily="34" charset="0"/>
                <a:ea typeface="+mn-ea"/>
                <a:cs typeface="+mn-cs"/>
              </a:rPr>
              <a:t> to verify </a:t>
            </a:r>
            <a:r>
              <a:rPr lang="en-US" sz="882" b="0" i="1" kern="1200" dirty="0" smtClean="0">
                <a:solidFill>
                  <a:schemeClr val="tx1"/>
                </a:solidFill>
                <a:effectLst/>
                <a:latin typeface="Segoe UI Light" pitchFamily="34" charset="0"/>
                <a:ea typeface="+mn-ea"/>
                <a:cs typeface="+mn-cs"/>
              </a:rPr>
              <a:t>who</a:t>
            </a:r>
            <a:r>
              <a:rPr lang="en-US" sz="882" b="0" i="0" kern="1200" dirty="0" smtClean="0">
                <a:solidFill>
                  <a:schemeClr val="tx1"/>
                </a:solidFill>
                <a:effectLst/>
                <a:latin typeface="Segoe UI Light" pitchFamily="34" charset="0"/>
                <a:ea typeface="+mn-ea"/>
                <a:cs typeface="+mn-cs"/>
              </a:rPr>
              <a:t> you are. </a:t>
            </a:r>
            <a:r>
              <a:rPr lang="en-US" sz="882" b="0" i="0" kern="1200" dirty="0" smtClean="0">
                <a:solidFill>
                  <a:schemeClr val="tx1"/>
                </a:solidFill>
                <a:effectLst/>
                <a:latin typeface="Segoe UI Light" pitchFamily="34" charset="0"/>
                <a:ea typeface="+mn-ea"/>
                <a:cs typeface="+mn-cs"/>
              </a:rPr>
              <a:t>Argo can </a:t>
            </a:r>
            <a:r>
              <a:rPr lang="en-US" sz="882" b="0" i="0" kern="1200" dirty="0" smtClean="0">
                <a:solidFill>
                  <a:schemeClr val="tx1"/>
                </a:solidFill>
                <a:effectLst/>
                <a:latin typeface="Segoe UI Light" pitchFamily="34" charset="0"/>
                <a:ea typeface="+mn-ea"/>
                <a:cs typeface="+mn-cs"/>
              </a:rPr>
              <a:t>link this </a:t>
            </a:r>
            <a:r>
              <a:rPr lang="en-US" sz="882" b="0" i="0" kern="1200" dirty="0" smtClean="0">
                <a:solidFill>
                  <a:schemeClr val="tx1"/>
                </a:solidFill>
                <a:effectLst/>
                <a:latin typeface="Segoe UI Light" pitchFamily="34" charset="0"/>
                <a:ea typeface="+mn-ea"/>
                <a:cs typeface="+mn-cs"/>
              </a:rPr>
              <a:t>to</a:t>
            </a:r>
            <a:r>
              <a:rPr lang="en-US" sz="882" b="0" i="0" kern="1200" baseline="0" dirty="0" smtClean="0">
                <a:solidFill>
                  <a:schemeClr val="tx1"/>
                </a:solidFill>
                <a:effectLst/>
                <a:latin typeface="Segoe UI Light" pitchFamily="34" charset="0"/>
                <a:ea typeface="+mn-ea"/>
                <a:cs typeface="+mn-cs"/>
              </a:rPr>
              <a:t> </a:t>
            </a:r>
            <a:r>
              <a:rPr lang="en-US" sz="882" b="1" i="0" kern="1200" dirty="0" smtClean="0">
                <a:solidFill>
                  <a:schemeClr val="tx1"/>
                </a:solidFill>
                <a:effectLst/>
                <a:latin typeface="Segoe UI Light" pitchFamily="34" charset="0"/>
                <a:ea typeface="+mn-ea"/>
                <a:cs typeface="+mn-cs"/>
              </a:rPr>
              <a:t>Single Sign-On</a:t>
            </a:r>
            <a:r>
              <a:rPr lang="en-US" sz="882" b="0" i="0" kern="1200" dirty="0" smtClean="0">
                <a:solidFill>
                  <a:schemeClr val="tx1"/>
                </a:solidFill>
                <a:effectLst/>
                <a:latin typeface="Segoe UI Light" pitchFamily="34" charset="0"/>
                <a:ea typeface="+mn-ea"/>
                <a:cs typeface="+mn-cs"/>
              </a:rPr>
              <a:t> like </a:t>
            </a:r>
            <a:r>
              <a:rPr lang="en-US" sz="882" b="0" i="0" kern="1200" dirty="0" err="1" smtClean="0">
                <a:solidFill>
                  <a:schemeClr val="tx1"/>
                </a:solidFill>
                <a:effectLst/>
                <a:latin typeface="Segoe UI Light" pitchFamily="34" charset="0"/>
                <a:ea typeface="+mn-ea"/>
                <a:cs typeface="+mn-cs"/>
              </a:rPr>
              <a:t>KeyCloak</a:t>
            </a:r>
            <a:r>
              <a:rPr lang="en-US" sz="882" b="0" i="0" kern="1200" dirty="0" smtClean="0">
                <a:solidFill>
                  <a:schemeClr val="tx1"/>
                </a:solidFill>
                <a:effectLst/>
                <a:latin typeface="Segoe UI Light" pitchFamily="34" charset="0"/>
                <a:ea typeface="+mn-ea"/>
                <a:cs typeface="+mn-cs"/>
              </a:rPr>
              <a:t> or </a:t>
            </a:r>
            <a:r>
              <a:rPr lang="en-US" sz="882" b="0" i="0" kern="1200" dirty="0" err="1" smtClean="0">
                <a:solidFill>
                  <a:schemeClr val="tx1"/>
                </a:solidFill>
                <a:effectLst/>
                <a:latin typeface="Segoe UI Light" pitchFamily="34" charset="0"/>
                <a:ea typeface="+mn-ea"/>
                <a:cs typeface="+mn-cs"/>
              </a:rPr>
              <a:t>Dex</a:t>
            </a:r>
            <a:r>
              <a:rPr lang="en-US" sz="882" b="0" i="0" kern="1200" dirty="0" smtClean="0">
                <a:solidFill>
                  <a:schemeClr val="tx1"/>
                </a:solidFill>
                <a:effectLst/>
                <a:latin typeface="Segoe UI Light" pitchFamily="34" charset="0"/>
                <a:ea typeface="+mn-ea"/>
                <a:cs typeface="+mn-cs"/>
              </a:rPr>
              <a:t>, so you can log in with your existing company </a:t>
            </a:r>
            <a:r>
              <a:rPr lang="en-US" sz="882" b="0" i="0" kern="1200" dirty="0" smtClean="0">
                <a:solidFill>
                  <a:schemeClr val="tx1"/>
                </a:solidFill>
                <a:effectLst/>
                <a:latin typeface="Segoe UI Light" pitchFamily="34" charset="0"/>
                <a:ea typeface="+mn-ea"/>
                <a:cs typeface="+mn-cs"/>
              </a:rPr>
              <a:t>ID</a:t>
            </a:r>
            <a:r>
              <a:rPr lang="en-US" sz="882" b="0" i="0" kern="1200" baseline="0" dirty="0" smtClean="0">
                <a:solidFill>
                  <a:schemeClr val="tx1"/>
                </a:solidFill>
                <a:effectLst/>
                <a:latin typeface="Segoe UI Light" pitchFamily="34" charset="0"/>
                <a:ea typeface="+mn-ea"/>
                <a:cs typeface="+mn-cs"/>
              </a:rPr>
              <a:t> or dedicated username</a:t>
            </a: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FYI</a:t>
            </a:r>
            <a:r>
              <a:rPr lang="en-US" sz="882" b="0" i="0" kern="1200" baseline="0" dirty="0" smtClean="0">
                <a:solidFill>
                  <a:schemeClr val="tx1"/>
                </a:solidFill>
                <a:effectLst/>
                <a:latin typeface="Segoe UI Light" pitchFamily="34" charset="0"/>
                <a:ea typeface="+mn-ea"/>
                <a:cs typeface="+mn-cs"/>
              </a:rPr>
              <a:t> to anyone that never heard of it, </a:t>
            </a:r>
            <a:r>
              <a:rPr lang="en-US" sz="882" b="1" i="0" kern="1200" baseline="0" dirty="0" err="1" smtClean="0">
                <a:solidFill>
                  <a:schemeClr val="tx1"/>
                </a:solidFill>
                <a:effectLst/>
                <a:latin typeface="Segoe UI Light" pitchFamily="34" charset="0"/>
                <a:ea typeface="+mn-ea"/>
                <a:cs typeface="+mn-cs"/>
              </a:rPr>
              <a:t>KeyCloak</a:t>
            </a:r>
            <a:r>
              <a:rPr lang="en-US" sz="882" b="1" i="0" kern="1200" baseline="0" dirty="0" smtClean="0">
                <a:solidFill>
                  <a:schemeClr val="tx1"/>
                </a:solidFill>
                <a:effectLst/>
                <a:latin typeface="Segoe UI Light" pitchFamily="34" charset="0"/>
                <a:ea typeface="+mn-ea"/>
                <a:cs typeface="+mn-cs"/>
              </a:rPr>
              <a:t> or </a:t>
            </a:r>
            <a:r>
              <a:rPr lang="en-US" sz="882" b="1" i="0" kern="1200" baseline="0" dirty="0" err="1" smtClean="0">
                <a:solidFill>
                  <a:schemeClr val="tx1"/>
                </a:solidFill>
                <a:effectLst/>
                <a:latin typeface="Segoe UI Light" pitchFamily="34" charset="0"/>
                <a:ea typeface="+mn-ea"/>
                <a:cs typeface="+mn-cs"/>
              </a:rPr>
              <a:t>Dex</a:t>
            </a:r>
            <a:r>
              <a:rPr lang="en-US" sz="882" b="0" i="0" kern="1200" baseline="0" dirty="0" smtClean="0">
                <a:solidFill>
                  <a:schemeClr val="tx1"/>
                </a:solidFill>
                <a:effectLst/>
                <a:latin typeface="Segoe UI Light" pitchFamily="34" charset="0"/>
                <a:ea typeface="+mn-ea"/>
                <a:cs typeface="+mn-cs"/>
              </a:rPr>
              <a:t> is another system that specialized upon </a:t>
            </a:r>
            <a:r>
              <a:rPr lang="en-US" sz="882" b="1" i="0" kern="1200" baseline="0" dirty="0" smtClean="0">
                <a:solidFill>
                  <a:schemeClr val="tx1"/>
                </a:solidFill>
                <a:effectLst/>
                <a:latin typeface="Segoe UI Light" pitchFamily="34" charset="0"/>
                <a:ea typeface="+mn-ea"/>
                <a:cs typeface="+mn-cs"/>
              </a:rPr>
              <a:t>OIDC (</a:t>
            </a:r>
            <a:r>
              <a:rPr lang="en-US" sz="882" b="1" i="0" kern="1200" baseline="0" dirty="0" err="1" smtClean="0">
                <a:solidFill>
                  <a:schemeClr val="tx1"/>
                </a:solidFill>
                <a:effectLst/>
                <a:latin typeface="Segoe UI Light" pitchFamily="34" charset="0"/>
                <a:ea typeface="+mn-ea"/>
                <a:cs typeface="+mn-cs"/>
              </a:rPr>
              <a:t>OpenID</a:t>
            </a:r>
            <a:r>
              <a:rPr lang="en-US" sz="882" b="1" i="0" kern="1200" baseline="0" dirty="0" smtClean="0">
                <a:solidFill>
                  <a:schemeClr val="tx1"/>
                </a:solidFill>
                <a:effectLst/>
                <a:latin typeface="Segoe UI Light" pitchFamily="34" charset="0"/>
                <a:ea typeface="+mn-ea"/>
                <a:cs typeface="+mn-cs"/>
              </a:rPr>
              <a:t> Connect)</a:t>
            </a:r>
            <a:r>
              <a:rPr lang="en-US" sz="882" b="0" i="0" kern="1200" baseline="0" dirty="0" smtClean="0">
                <a:solidFill>
                  <a:schemeClr val="tx1"/>
                </a:solidFill>
                <a:effectLst/>
                <a:latin typeface="Segoe UI Light" pitchFamily="34" charset="0"/>
                <a:ea typeface="+mn-ea"/>
                <a:cs typeface="+mn-cs"/>
              </a:rPr>
              <a:t> </a:t>
            </a:r>
            <a:r>
              <a:rPr lang="en-US" sz="882" b="0" i="0" kern="1200" baseline="0" dirty="0" smtClean="0">
                <a:solidFill>
                  <a:schemeClr val="tx1"/>
                </a:solidFill>
                <a:effectLst/>
                <a:latin typeface="Segoe UI Light" pitchFamily="34" charset="0"/>
                <a:ea typeface="+mn-ea"/>
                <a:cs typeface="+mn-cs"/>
              </a:rPr>
              <a:t>design</a:t>
            </a: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Authorization</a:t>
            </a:r>
          </a:p>
          <a:p>
            <a:r>
              <a:rPr lang="en-US" sz="882" b="0" i="0" kern="1200" dirty="0" smtClean="0">
                <a:solidFill>
                  <a:schemeClr val="tx1"/>
                </a:solidFill>
                <a:effectLst/>
                <a:latin typeface="Segoe UI Light" pitchFamily="34" charset="0"/>
                <a:ea typeface="+mn-ea"/>
                <a:cs typeface="+mn-cs"/>
              </a:rPr>
              <a:t>3. Then we have </a:t>
            </a:r>
            <a:r>
              <a:rPr lang="en-US" sz="882" b="1" i="0" kern="1200" dirty="0" smtClean="0">
                <a:solidFill>
                  <a:schemeClr val="tx1"/>
                </a:solidFill>
                <a:effectLst/>
                <a:latin typeface="Segoe UI Light" pitchFamily="34" charset="0"/>
                <a:ea typeface="+mn-ea"/>
                <a:cs typeface="+mn-cs"/>
              </a:rPr>
              <a:t>RBAC</a:t>
            </a:r>
            <a:r>
              <a:rPr lang="en-US" sz="882" b="0" i="0" kern="1200" dirty="0" smtClean="0">
                <a:solidFill>
                  <a:schemeClr val="tx1"/>
                </a:solidFill>
                <a:effectLst/>
                <a:latin typeface="Segoe UI Light" pitchFamily="34" charset="0"/>
                <a:ea typeface="+mn-ea"/>
                <a:cs typeface="+mn-cs"/>
              </a:rPr>
              <a:t>—or Role-Based Access Control. As</a:t>
            </a:r>
            <a:r>
              <a:rPr lang="en-US" sz="882" b="0" i="0" kern="1200" baseline="0" dirty="0" smtClean="0">
                <a:solidFill>
                  <a:schemeClr val="tx1"/>
                </a:solidFill>
                <a:effectLst/>
                <a:latin typeface="Segoe UI Light" pitchFamily="34" charset="0"/>
                <a:ea typeface="+mn-ea"/>
                <a:cs typeface="+mn-cs"/>
              </a:rPr>
              <a:t> mention t</a:t>
            </a:r>
            <a:r>
              <a:rPr lang="en-US" sz="882" b="0" i="0" kern="1200" dirty="0" smtClean="0">
                <a:solidFill>
                  <a:schemeClr val="tx1"/>
                </a:solidFill>
                <a:effectLst/>
                <a:latin typeface="Segoe UI Light" pitchFamily="34" charset="0"/>
                <a:ea typeface="+mn-ea"/>
                <a:cs typeface="+mn-cs"/>
              </a:rPr>
              <a:t>his defines </a:t>
            </a:r>
            <a:r>
              <a:rPr lang="en-US" sz="882" b="0" i="1" kern="1200" dirty="0" smtClean="0">
                <a:solidFill>
                  <a:schemeClr val="tx1"/>
                </a:solidFill>
                <a:effectLst/>
                <a:latin typeface="Segoe UI Light" pitchFamily="34" charset="0"/>
                <a:ea typeface="+mn-ea"/>
                <a:cs typeface="+mn-cs"/>
              </a:rPr>
              <a:t>what</a:t>
            </a:r>
            <a:r>
              <a:rPr lang="en-US" sz="882" b="0" i="0" kern="1200" dirty="0" smtClean="0">
                <a:solidFill>
                  <a:schemeClr val="tx1"/>
                </a:solidFill>
                <a:effectLst/>
                <a:latin typeface="Segoe UI Light" pitchFamily="34" charset="0"/>
                <a:ea typeface="+mn-ea"/>
                <a:cs typeface="+mn-cs"/>
              </a:rPr>
              <a:t> you can do. </a:t>
            </a:r>
            <a:r>
              <a:rPr lang="en-US" sz="882" b="0" i="0" kern="1200" dirty="0" smtClean="0">
                <a:solidFill>
                  <a:schemeClr val="tx1"/>
                </a:solidFill>
                <a:effectLst/>
                <a:latin typeface="Segoe UI Light" pitchFamily="34" charset="0"/>
                <a:ea typeface="+mn-ea"/>
                <a:cs typeface="+mn-cs"/>
              </a:rPr>
              <a:t>This</a:t>
            </a:r>
            <a:r>
              <a:rPr lang="en-US" sz="882" b="0" i="0" kern="1200" baseline="0" dirty="0" smtClean="0">
                <a:solidFill>
                  <a:schemeClr val="tx1"/>
                </a:solidFill>
                <a:effectLst/>
                <a:latin typeface="Segoe UI Light" pitchFamily="34" charset="0"/>
                <a:ea typeface="+mn-ea"/>
                <a:cs typeface="+mn-cs"/>
              </a:rPr>
              <a:t> is where it make use of </a:t>
            </a:r>
            <a:r>
              <a:rPr lang="en-US" sz="882" b="0" i="0" kern="1200" dirty="0" smtClean="0">
                <a:solidFill>
                  <a:schemeClr val="tx1"/>
                </a:solidFill>
                <a:effectLst/>
                <a:latin typeface="Segoe UI Light" pitchFamily="34" charset="0"/>
                <a:ea typeface="+mn-ea"/>
                <a:cs typeface="+mn-cs"/>
              </a:rPr>
              <a:t>K8s </a:t>
            </a:r>
            <a:r>
              <a:rPr lang="en-US" sz="882" b="0" i="0" kern="1200" dirty="0" smtClean="0">
                <a:solidFill>
                  <a:schemeClr val="tx1"/>
                </a:solidFill>
                <a:effectLst/>
                <a:latin typeface="Segoe UI Light" pitchFamily="34" charset="0"/>
                <a:ea typeface="+mn-ea"/>
                <a:cs typeface="+mn-cs"/>
              </a:rPr>
              <a:t>RBAC solution like </a:t>
            </a:r>
            <a:r>
              <a:rPr lang="en-US" sz="882" b="1" i="0" kern="1200" dirty="0" smtClean="0">
                <a:solidFill>
                  <a:schemeClr val="tx1"/>
                </a:solidFill>
                <a:effectLst/>
                <a:latin typeface="Segoe UI Light" pitchFamily="34" charset="0"/>
                <a:ea typeface="+mn-ea"/>
                <a:cs typeface="+mn-cs"/>
              </a:rPr>
              <a:t>service account and role </a:t>
            </a:r>
            <a:r>
              <a:rPr lang="en-US" sz="882" b="1" i="0" kern="1200" dirty="0" smtClean="0">
                <a:solidFill>
                  <a:schemeClr val="tx1"/>
                </a:solidFill>
                <a:effectLst/>
                <a:latin typeface="Segoe UI Light" pitchFamily="34" charset="0"/>
                <a:ea typeface="+mn-ea"/>
                <a:cs typeface="+mn-cs"/>
              </a:rPr>
              <a:t>binding</a:t>
            </a:r>
            <a:r>
              <a:rPr lang="en-US" sz="882" b="1" i="0" kern="1200" baseline="0" dirty="0" smtClean="0">
                <a:solidFill>
                  <a:schemeClr val="tx1"/>
                </a:solidFill>
                <a:effectLst/>
                <a:latin typeface="Segoe UI Light" pitchFamily="34" charset="0"/>
                <a:ea typeface="+mn-ea"/>
                <a:cs typeface="+mn-cs"/>
              </a:rPr>
              <a:t> object</a:t>
            </a:r>
            <a:endParaRPr lang="en-US" sz="882" b="0" i="0" kern="1200" dirty="0" smtClean="0">
              <a:solidFill>
                <a:schemeClr val="tx1"/>
              </a:solidFill>
              <a:effectLst/>
              <a:latin typeface="Segoe UI Light" pitchFamily="34" charset="0"/>
              <a:ea typeface="+mn-ea"/>
              <a:cs typeface="+mn-cs"/>
            </a:endParaRPr>
          </a:p>
          <a:p>
            <a:r>
              <a:rPr lang="en-US" sz="882" b="0" i="0" kern="1200" dirty="0" smtClean="0">
                <a:solidFill>
                  <a:schemeClr val="tx1"/>
                </a:solidFill>
                <a:effectLst/>
                <a:latin typeface="Segoe UI Light" pitchFamily="34" charset="0"/>
                <a:ea typeface="+mn-ea"/>
                <a:cs typeface="+mn-cs"/>
              </a:rPr>
              <a:t>4.</a:t>
            </a:r>
            <a:r>
              <a:rPr lang="en-US" sz="882" b="0" i="0" kern="1200" baseline="0" dirty="0" smtClean="0">
                <a:solidFill>
                  <a:schemeClr val="tx1"/>
                </a:solidFill>
                <a:effectLst/>
                <a:latin typeface="Segoe UI Light" pitchFamily="34" charset="0"/>
                <a:ea typeface="+mn-ea"/>
                <a:cs typeface="+mn-cs"/>
              </a:rPr>
              <a:t> From here, you can define a team-based access control and namespace isolation</a:t>
            </a: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5. Think of it like </a:t>
            </a:r>
            <a:r>
              <a:rPr lang="en-US" sz="882" b="0" i="0" kern="1200" dirty="0" smtClean="0">
                <a:solidFill>
                  <a:schemeClr val="tx1"/>
                </a:solidFill>
                <a:effectLst/>
                <a:latin typeface="Segoe UI Light" pitchFamily="34" charset="0"/>
                <a:ea typeface="+mn-ea"/>
                <a:cs typeface="+mn-cs"/>
              </a:rPr>
              <a:t>a</a:t>
            </a:r>
            <a:r>
              <a:rPr lang="en-US" sz="882" b="0" i="0" kern="1200" baseline="0" dirty="0" smtClean="0">
                <a:solidFill>
                  <a:schemeClr val="tx1"/>
                </a:solidFill>
                <a:effectLst/>
                <a:latin typeface="Segoe UI Light" pitchFamily="34" charset="0"/>
                <a:ea typeface="+mn-ea"/>
                <a:cs typeface="+mn-cs"/>
              </a:rPr>
              <a:t> condo access given by the guard, if you r a visitor, upon register u can access into the building but only residents access is granted to use related facilities </a:t>
            </a:r>
            <a:endParaRPr lang="en-US" sz="882" b="0" i="0" kern="1200" dirty="0" smtClean="0">
              <a:solidFill>
                <a:schemeClr val="tx1"/>
              </a:solidFill>
              <a:effectLst/>
              <a:latin typeface="Segoe UI Light" pitchFamily="34" charset="0"/>
              <a:ea typeface="+mn-ea"/>
              <a:cs typeface="+mn-cs"/>
            </a:endParaRPr>
          </a:p>
          <a:p>
            <a:r>
              <a:rPr lang="en-US" sz="882" b="0" i="0" kern="1200" dirty="0" smtClean="0">
                <a:solidFill>
                  <a:schemeClr val="tx1"/>
                </a:solidFill>
                <a:effectLst/>
                <a:latin typeface="Segoe UI Light" pitchFamily="34" charset="0"/>
                <a:ea typeface="+mn-ea"/>
                <a:cs typeface="+mn-cs"/>
              </a:rPr>
              <a:t>6</a:t>
            </a:r>
            <a:r>
              <a:rPr lang="en-US" sz="882" b="0" i="0" kern="1200" dirty="0" smtClean="0">
                <a:solidFill>
                  <a:schemeClr val="tx1"/>
                </a:solidFill>
                <a:effectLst/>
                <a:latin typeface="Segoe UI Light" pitchFamily="34" charset="0"/>
                <a:ea typeface="+mn-ea"/>
                <a:cs typeface="+mn-cs"/>
              </a:rPr>
              <a:t>.</a:t>
            </a:r>
            <a:r>
              <a:rPr lang="en-US" sz="882" b="0" i="0" kern="1200" baseline="0" dirty="0" smtClean="0">
                <a:solidFill>
                  <a:schemeClr val="tx1"/>
                </a:solidFill>
                <a:effectLst/>
                <a:latin typeface="Segoe UI Light" pitchFamily="34" charset="0"/>
                <a:ea typeface="+mn-ea"/>
                <a:cs typeface="+mn-cs"/>
              </a:rPr>
              <a:t> </a:t>
            </a:r>
            <a:r>
              <a:rPr lang="en-US" sz="882" b="0" i="0" kern="1200" dirty="0" smtClean="0">
                <a:solidFill>
                  <a:schemeClr val="tx1"/>
                </a:solidFill>
                <a:effectLst/>
                <a:latin typeface="Segoe UI Light" pitchFamily="34" charset="0"/>
                <a:ea typeface="+mn-ea"/>
                <a:cs typeface="+mn-cs"/>
              </a:rPr>
              <a:t>By combining these, it ensure that even in a huge organization, related teams can work in total isolation and safety.</a:t>
            </a:r>
          </a:p>
          <a:p>
            <a:endParaRPr lang="en-MY" dirty="0" smtClean="0"/>
          </a:p>
          <a:p>
            <a:r>
              <a:rPr lang="en-US" dirty="0" smtClean="0"/>
              <a:t>Architecture </a:t>
            </a:r>
            <a:r>
              <a:rPr lang="en-US" dirty="0" smtClean="0"/>
              <a:t>flow</a:t>
            </a:r>
          </a:p>
          <a:p>
            <a:r>
              <a:rPr lang="en-US" dirty="0" smtClean="0"/>
              <a:t>7. Here </a:t>
            </a:r>
            <a:r>
              <a:rPr lang="en-US" dirty="0" smtClean="0"/>
              <a:t>basically simple diagram of it</a:t>
            </a:r>
            <a:br>
              <a:rPr lang="en-US" dirty="0" smtClean="0"/>
            </a:br>
            <a:r>
              <a:rPr lang="en-US" dirty="0" smtClean="0"/>
              <a:t>A </a:t>
            </a:r>
            <a:r>
              <a:rPr lang="en-US" dirty="0" smtClean="0"/>
              <a:t>developer -&gt; goes</a:t>
            </a:r>
            <a:r>
              <a:rPr lang="en-US" baseline="0" dirty="0" smtClean="0"/>
              <a:t> to Argo Workflow UI -&gt; </a:t>
            </a:r>
            <a:r>
              <a:rPr lang="en-US" baseline="0" dirty="0" err="1" smtClean="0"/>
              <a:t>Autheticate</a:t>
            </a:r>
            <a:r>
              <a:rPr lang="en-US" baseline="0" dirty="0" smtClean="0"/>
              <a:t> using favorable OIDC service</a:t>
            </a:r>
            <a:r>
              <a:rPr lang="en-US" dirty="0" smtClean="0"/>
              <a:t> -&gt; Get Authorize base on attaches service Account to related group/user -&gt; </a:t>
            </a:r>
            <a:r>
              <a:rPr lang="en-US" dirty="0" smtClean="0"/>
              <a:t>granted towards</a:t>
            </a:r>
            <a:r>
              <a:rPr lang="en-US" baseline="0" dirty="0" smtClean="0"/>
              <a:t> </a:t>
            </a:r>
            <a:r>
              <a:rPr lang="en-US" baseline="0" dirty="0" smtClean="0"/>
              <a:t>related namespace or </a:t>
            </a:r>
            <a:r>
              <a:rPr lang="en-US" baseline="0" dirty="0" smtClean="0"/>
              <a:t>object</a:t>
            </a:r>
            <a:endParaRPr lang="en-US" baseline="0" dirty="0" smtClean="0"/>
          </a:p>
          <a:p>
            <a:endParaRPr lang="en-US" baseline="0" dirty="0" smtClean="0"/>
          </a:p>
          <a:p>
            <a:endParaRPr lang="en-US" baseline="0" dirty="0" smtClean="0"/>
          </a:p>
          <a:p>
            <a:r>
              <a:rPr lang="en-US" dirty="0" smtClean="0"/>
              <a:t/>
            </a:r>
            <a:br>
              <a:rPr lang="en-US" dirty="0" smtClean="0"/>
            </a:br>
            <a:r>
              <a:rPr lang="en-US" dirty="0" smtClean="0"/>
              <a:t/>
            </a:r>
            <a:br>
              <a:rPr lang="en-US" dirty="0" smtClean="0"/>
            </a:br>
            <a:endParaRPr lang="en-MY"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12:33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23447151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Component</a:t>
            </a:r>
            <a:br>
              <a:rPr lang="en-US" sz="882" b="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1.</a:t>
            </a:r>
            <a:r>
              <a:rPr lang="en-US" sz="882" b="0" i="0" kern="1200" baseline="0" dirty="0" smtClean="0">
                <a:solidFill>
                  <a:schemeClr val="tx1"/>
                </a:solidFill>
                <a:effectLst/>
                <a:latin typeface="Segoe UI Light" pitchFamily="34" charset="0"/>
                <a:ea typeface="+mn-ea"/>
                <a:cs typeface="+mn-cs"/>
              </a:rPr>
              <a:t> </a:t>
            </a:r>
            <a:r>
              <a:rPr lang="en-US" sz="882" b="0" i="0" kern="1200" dirty="0" smtClean="0">
                <a:solidFill>
                  <a:schemeClr val="tx1"/>
                </a:solidFill>
                <a:effectLst/>
                <a:latin typeface="Segoe UI Light" pitchFamily="34" charset="0"/>
                <a:ea typeface="+mn-ea"/>
                <a:cs typeface="+mn-cs"/>
              </a:rPr>
              <a:t>Let’s look under the hood. There are a few main parts making the magic happen. To simplify :-</a:t>
            </a:r>
          </a:p>
          <a:p>
            <a:r>
              <a:rPr lang="en-US" sz="882" b="0" i="0" kern="1200" dirty="0" smtClean="0">
                <a:solidFill>
                  <a:schemeClr val="tx1"/>
                </a:solidFill>
                <a:effectLst/>
                <a:latin typeface="Segoe UI Light" pitchFamily="34" charset="0"/>
                <a:ea typeface="+mn-ea"/>
                <a:cs typeface="+mn-cs"/>
              </a:rPr>
              <a:t>Show list</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The </a:t>
            </a:r>
            <a:r>
              <a:rPr lang="en-US" sz="882" b="1" i="0" kern="1200" dirty="0" smtClean="0">
                <a:solidFill>
                  <a:schemeClr val="tx1"/>
                </a:solidFill>
                <a:effectLst/>
                <a:latin typeface="Segoe UI Light" pitchFamily="34" charset="0"/>
                <a:ea typeface="+mn-ea"/>
                <a:cs typeface="+mn-cs"/>
              </a:rPr>
              <a:t>Argo Server</a:t>
            </a:r>
            <a:r>
              <a:rPr lang="en-US" sz="882" b="0" i="0" kern="1200" dirty="0" smtClean="0">
                <a:solidFill>
                  <a:schemeClr val="tx1"/>
                </a:solidFill>
                <a:effectLst/>
                <a:latin typeface="Segoe UI Light" pitchFamily="34" charset="0"/>
                <a:ea typeface="+mn-ea"/>
                <a:cs typeface="+mn-cs"/>
              </a:rPr>
              <a:t> is like</a:t>
            </a:r>
            <a:r>
              <a:rPr lang="en-US" sz="882" b="0" i="0" kern="1200" baseline="0" dirty="0" smtClean="0">
                <a:solidFill>
                  <a:schemeClr val="tx1"/>
                </a:solidFill>
                <a:effectLst/>
                <a:latin typeface="Segoe UI Light" pitchFamily="34" charset="0"/>
                <a:ea typeface="+mn-ea"/>
                <a:cs typeface="+mn-cs"/>
              </a:rPr>
              <a:t> the</a:t>
            </a:r>
            <a:r>
              <a:rPr lang="en-US" sz="882" b="0" i="0" kern="1200" dirty="0" smtClean="0">
                <a:solidFill>
                  <a:schemeClr val="tx1"/>
                </a:solidFill>
                <a:effectLst/>
                <a:latin typeface="Segoe UI Light" pitchFamily="34" charset="0"/>
                <a:ea typeface="+mn-ea"/>
                <a:cs typeface="+mn-cs"/>
              </a:rPr>
              <a:t> 'receptionist'—it provides the UI and the API you interact with.</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Then</a:t>
            </a:r>
            <a:r>
              <a:rPr lang="en-US" sz="882" b="0" i="0" kern="1200" baseline="0" dirty="0" smtClean="0">
                <a:solidFill>
                  <a:schemeClr val="tx1"/>
                </a:solidFill>
                <a:effectLst/>
                <a:latin typeface="Segoe UI Light" pitchFamily="34" charset="0"/>
                <a:ea typeface="+mn-ea"/>
                <a:cs typeface="+mn-cs"/>
              </a:rPr>
              <a:t> it got </a:t>
            </a:r>
            <a:r>
              <a:rPr lang="en-US" sz="882" b="1" i="0" kern="1200" dirty="0" smtClean="0">
                <a:solidFill>
                  <a:schemeClr val="tx1"/>
                </a:solidFill>
                <a:effectLst/>
                <a:latin typeface="Segoe UI Light" pitchFamily="34" charset="0"/>
                <a:ea typeface="+mn-ea"/>
                <a:cs typeface="+mn-cs"/>
              </a:rPr>
              <a:t>Workflow Controller</a:t>
            </a:r>
            <a:r>
              <a:rPr lang="en-US" sz="882" b="0" i="0" kern="1200" dirty="0" smtClean="0">
                <a:solidFill>
                  <a:schemeClr val="tx1"/>
                </a:solidFill>
                <a:effectLst/>
                <a:latin typeface="Segoe UI Light" pitchFamily="34" charset="0"/>
                <a:ea typeface="+mn-ea"/>
                <a:cs typeface="+mn-cs"/>
              </a:rPr>
              <a:t> which more like the 'project manager.' It reads your YAML instructions and tells the </a:t>
            </a:r>
            <a:r>
              <a:rPr lang="en-US" sz="882" b="1" i="0" kern="1200" dirty="0" err="1" smtClean="0">
                <a:solidFill>
                  <a:schemeClr val="tx1"/>
                </a:solidFill>
                <a:effectLst/>
                <a:latin typeface="Segoe UI Light" pitchFamily="34" charset="0"/>
                <a:ea typeface="+mn-ea"/>
                <a:cs typeface="+mn-cs"/>
              </a:rPr>
              <a:t>Kubernetes</a:t>
            </a:r>
            <a:r>
              <a:rPr lang="en-US" sz="882" b="1" i="0" kern="1200" dirty="0" smtClean="0">
                <a:solidFill>
                  <a:schemeClr val="tx1"/>
                </a:solidFill>
                <a:effectLst/>
                <a:latin typeface="Segoe UI Light" pitchFamily="34" charset="0"/>
                <a:ea typeface="+mn-ea"/>
                <a:cs typeface="+mn-cs"/>
              </a:rPr>
              <a:t> API</a:t>
            </a:r>
            <a:r>
              <a:rPr lang="en-US" sz="882" b="0" i="0" kern="1200" dirty="0" smtClean="0">
                <a:solidFill>
                  <a:schemeClr val="tx1"/>
                </a:solidFill>
                <a:effectLst/>
                <a:latin typeface="Segoe UI Light" pitchFamily="34" charset="0"/>
                <a:ea typeface="+mn-ea"/>
                <a:cs typeface="+mn-cs"/>
              </a:rPr>
              <a:t> to create the Pods.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Then, the </a:t>
            </a:r>
            <a:r>
              <a:rPr lang="en-US" sz="882" b="1" i="0" kern="1200" dirty="0" smtClean="0">
                <a:solidFill>
                  <a:schemeClr val="tx1"/>
                </a:solidFill>
                <a:effectLst/>
                <a:latin typeface="Segoe UI Light" pitchFamily="34" charset="0"/>
                <a:ea typeface="+mn-ea"/>
                <a:cs typeface="+mn-cs"/>
              </a:rPr>
              <a:t>Workflow</a:t>
            </a:r>
            <a:r>
              <a:rPr lang="en-US" sz="882" b="1" i="0" kern="1200" baseline="0" dirty="0" smtClean="0">
                <a:solidFill>
                  <a:schemeClr val="tx1"/>
                </a:solidFill>
                <a:effectLst/>
                <a:latin typeface="Segoe UI Light" pitchFamily="34" charset="0"/>
                <a:ea typeface="+mn-ea"/>
                <a:cs typeface="+mn-cs"/>
              </a:rPr>
              <a:t> </a:t>
            </a:r>
            <a:r>
              <a:rPr lang="en-US" sz="882" b="1" i="0" kern="1200" dirty="0" smtClean="0">
                <a:solidFill>
                  <a:schemeClr val="tx1"/>
                </a:solidFill>
                <a:effectLst/>
                <a:latin typeface="Segoe UI Light" pitchFamily="34" charset="0"/>
                <a:ea typeface="+mn-ea"/>
                <a:cs typeface="+mn-cs"/>
              </a:rPr>
              <a:t>Executor</a:t>
            </a:r>
            <a:r>
              <a:rPr lang="en-US" sz="882" b="0" i="0" kern="1200" dirty="0" smtClean="0">
                <a:solidFill>
                  <a:schemeClr val="tx1"/>
                </a:solidFill>
                <a:effectLst/>
                <a:latin typeface="Segoe UI Light" pitchFamily="34" charset="0"/>
                <a:ea typeface="+mn-ea"/>
                <a:cs typeface="+mn-cs"/>
              </a:rPr>
              <a:t> is the actual worker inside that pod doing the heavy lifting.</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Finally, when a task is done, it sends its logs and results to the </a:t>
            </a:r>
            <a:r>
              <a:rPr lang="en-US" sz="882" b="1" i="0" kern="1200" dirty="0" smtClean="0">
                <a:solidFill>
                  <a:schemeClr val="tx1"/>
                </a:solidFill>
                <a:effectLst/>
                <a:latin typeface="Segoe UI Light" pitchFamily="34" charset="0"/>
                <a:ea typeface="+mn-ea"/>
                <a:cs typeface="+mn-cs"/>
              </a:rPr>
              <a:t>Artifact Repository</a:t>
            </a:r>
            <a:r>
              <a:rPr lang="en-US" sz="882" b="0" i="0" kern="1200" dirty="0" smtClean="0">
                <a:solidFill>
                  <a:schemeClr val="tx1"/>
                </a:solidFill>
                <a:effectLst/>
                <a:latin typeface="Segoe UI Light" pitchFamily="34" charset="0"/>
                <a:ea typeface="+mn-ea"/>
                <a:cs typeface="+mn-cs"/>
              </a:rPr>
              <a:t>. Think of this as the 'filing cabinet' where all the evidence of the work is stored for later review.</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2. To simplify, its like this</a:t>
            </a:r>
            <a:r>
              <a:rPr lang="en-US" sz="882" b="0" i="0" kern="1200" baseline="0" dirty="0" smtClean="0">
                <a:solidFill>
                  <a:schemeClr val="tx1"/>
                </a:solidFill>
                <a:effectLst/>
                <a:latin typeface="Segoe UI Light" pitchFamily="34" charset="0"/>
                <a:ea typeface="+mn-ea"/>
                <a:cs typeface="+mn-cs"/>
              </a:rPr>
              <a:t> </a:t>
            </a:r>
            <a:r>
              <a:rPr lang="en-US" sz="882" b="0" i="0" kern="1200" baseline="0" dirty="0" err="1" smtClean="0">
                <a:solidFill>
                  <a:schemeClr val="tx1"/>
                </a:solidFill>
                <a:effectLst/>
                <a:latin typeface="Segoe UI Light" pitchFamily="34" charset="0"/>
                <a:ea typeface="+mn-ea"/>
                <a:cs typeface="+mn-cs"/>
              </a:rPr>
              <a:t>lah</a:t>
            </a: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Purpose</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Supporting Component</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3. Apart of it, it also got supporting component that complete the orchestrator, like :-</a:t>
            </a:r>
            <a:br>
              <a:rPr lang="en-US" sz="882" b="0" i="0" kern="1200" dirty="0" smtClean="0">
                <a:solidFill>
                  <a:schemeClr val="tx1"/>
                </a:solidFill>
                <a:effectLst/>
                <a:latin typeface="Segoe UI Light" pitchFamily="34" charset="0"/>
                <a:ea typeface="+mn-ea"/>
                <a:cs typeface="+mn-cs"/>
              </a:rPr>
            </a:br>
            <a:r>
              <a:rPr lang="en-US" sz="882" b="1" i="0" kern="1200" dirty="0" smtClean="0">
                <a:solidFill>
                  <a:schemeClr val="tx1"/>
                </a:solidFill>
                <a:effectLst/>
                <a:latin typeface="Segoe UI Light" pitchFamily="34" charset="0"/>
                <a:ea typeface="+mn-ea"/>
                <a:cs typeface="+mn-cs"/>
              </a:rPr>
              <a:t>Artifact</a:t>
            </a:r>
            <a:r>
              <a:rPr lang="en-US" sz="882" b="1" i="0" kern="1200" baseline="0" dirty="0" smtClean="0">
                <a:solidFill>
                  <a:schemeClr val="tx1"/>
                </a:solidFill>
                <a:effectLst/>
                <a:latin typeface="Segoe UI Light" pitchFamily="34" charset="0"/>
                <a:ea typeface="+mn-ea"/>
                <a:cs typeface="+mn-cs"/>
              </a:rPr>
              <a:t> Storage</a:t>
            </a:r>
            <a:r>
              <a:rPr lang="en-US" sz="882" b="0" i="0" kern="1200" baseline="0" dirty="0" smtClean="0">
                <a:solidFill>
                  <a:schemeClr val="tx1"/>
                </a:solidFill>
                <a:effectLst/>
                <a:latin typeface="Segoe UI Light" pitchFamily="34" charset="0"/>
                <a:ea typeface="+mn-ea"/>
                <a:cs typeface="+mn-cs"/>
              </a:rPr>
              <a:t>: where u can integrate with any S3 solution like </a:t>
            </a:r>
            <a:r>
              <a:rPr lang="en-US" sz="882" b="0" i="0" kern="1200" baseline="0" dirty="0" err="1" smtClean="0">
                <a:solidFill>
                  <a:schemeClr val="tx1"/>
                </a:solidFill>
                <a:effectLst/>
                <a:latin typeface="Segoe UI Light" pitchFamily="34" charset="0"/>
                <a:ea typeface="+mn-ea"/>
                <a:cs typeface="+mn-cs"/>
              </a:rPr>
              <a:t>minio</a:t>
            </a:r>
            <a:r>
              <a:rPr lang="en-US" sz="882" b="0" i="0" kern="1200" baseline="0" dirty="0" smtClean="0">
                <a:solidFill>
                  <a:schemeClr val="tx1"/>
                </a:solidFill>
                <a:effectLst/>
                <a:latin typeface="Segoe UI Light" pitchFamily="34" charset="0"/>
                <a:ea typeface="+mn-ea"/>
                <a:cs typeface="+mn-cs"/>
              </a:rPr>
              <a:t> / </a:t>
            </a:r>
            <a:r>
              <a:rPr lang="en-US" sz="882" b="0" i="0" kern="1200" baseline="0" dirty="0" err="1" smtClean="0">
                <a:solidFill>
                  <a:schemeClr val="tx1"/>
                </a:solidFill>
                <a:effectLst/>
                <a:latin typeface="Segoe UI Light" pitchFamily="34" charset="0"/>
                <a:ea typeface="+mn-ea"/>
                <a:cs typeface="+mn-cs"/>
              </a:rPr>
              <a:t>aws</a:t>
            </a:r>
            <a:r>
              <a:rPr lang="en-US" sz="882" b="0" i="0" kern="1200" baseline="0" dirty="0" smtClean="0">
                <a:solidFill>
                  <a:schemeClr val="tx1"/>
                </a:solidFill>
                <a:effectLst/>
                <a:latin typeface="Segoe UI Light" pitchFamily="34" charset="0"/>
                <a:ea typeface="+mn-ea"/>
                <a:cs typeface="+mn-cs"/>
              </a:rPr>
              <a:t> S3 / </a:t>
            </a:r>
            <a:r>
              <a:rPr lang="en-US" sz="882" b="0" i="0" kern="1200" baseline="0" dirty="0" err="1" smtClean="0">
                <a:solidFill>
                  <a:schemeClr val="tx1"/>
                </a:solidFill>
                <a:effectLst/>
                <a:latin typeface="Segoe UI Light" pitchFamily="34" charset="0"/>
                <a:ea typeface="+mn-ea"/>
                <a:cs typeface="+mn-cs"/>
              </a:rPr>
              <a:t>gcp</a:t>
            </a:r>
            <a:r>
              <a:rPr lang="en-US" sz="882" b="0" i="0" kern="1200" baseline="0" dirty="0" smtClean="0">
                <a:solidFill>
                  <a:schemeClr val="tx1"/>
                </a:solidFill>
                <a:effectLst/>
                <a:latin typeface="Segoe UI Light" pitchFamily="34" charset="0"/>
                <a:ea typeface="+mn-ea"/>
                <a:cs typeface="+mn-cs"/>
              </a:rPr>
              <a:t> cloud storage / azure blob storage / </a:t>
            </a:r>
            <a:r>
              <a:rPr lang="en-US" sz="882" b="0" i="0" kern="1200" baseline="0" dirty="0" err="1" smtClean="0">
                <a:solidFill>
                  <a:schemeClr val="tx1"/>
                </a:solidFill>
                <a:effectLst/>
                <a:latin typeface="Segoe UI Light" pitchFamily="34" charset="0"/>
                <a:ea typeface="+mn-ea"/>
                <a:cs typeface="+mn-cs"/>
              </a:rPr>
              <a:t>alibaba</a:t>
            </a:r>
            <a:r>
              <a:rPr lang="en-US" sz="882" b="0" i="0" kern="1200" baseline="0" dirty="0" smtClean="0">
                <a:solidFill>
                  <a:schemeClr val="tx1"/>
                </a:solidFill>
                <a:effectLst/>
                <a:latin typeface="Segoe UI Light" pitchFamily="34" charset="0"/>
                <a:ea typeface="+mn-ea"/>
                <a:cs typeface="+mn-cs"/>
              </a:rPr>
              <a:t> OSS</a:t>
            </a:r>
            <a:br>
              <a:rPr lang="en-US" sz="882" b="0" i="0" kern="1200" baseline="0" dirty="0" smtClean="0">
                <a:solidFill>
                  <a:schemeClr val="tx1"/>
                </a:solidFill>
                <a:effectLst/>
                <a:latin typeface="Segoe UI Light" pitchFamily="34" charset="0"/>
                <a:ea typeface="+mn-ea"/>
                <a:cs typeface="+mn-cs"/>
              </a:rPr>
            </a:br>
            <a:r>
              <a:rPr lang="en-US" sz="882" b="1" i="0" kern="1200" baseline="0" dirty="0" smtClean="0">
                <a:solidFill>
                  <a:schemeClr val="tx1"/>
                </a:solidFill>
                <a:effectLst/>
                <a:latin typeface="Segoe UI Light" pitchFamily="34" charset="0"/>
                <a:ea typeface="+mn-ea"/>
                <a:cs typeface="+mn-cs"/>
              </a:rPr>
              <a:t>Workflow templates</a:t>
            </a:r>
            <a:r>
              <a:rPr lang="en-US" sz="882" b="0" i="0" kern="1200" baseline="0" dirty="0" smtClean="0">
                <a:solidFill>
                  <a:schemeClr val="tx1"/>
                </a:solidFill>
                <a:effectLst/>
                <a:latin typeface="Segoe UI Light" pitchFamily="34" charset="0"/>
                <a:ea typeface="+mn-ea"/>
                <a:cs typeface="+mn-cs"/>
              </a:rPr>
              <a:t>: for u to standardize certain task method</a:t>
            </a:r>
            <a:br>
              <a:rPr lang="en-US" sz="882" b="0" i="0" kern="1200" baseline="0" dirty="0" smtClean="0">
                <a:solidFill>
                  <a:schemeClr val="tx1"/>
                </a:solidFill>
                <a:effectLst/>
                <a:latin typeface="Segoe UI Light" pitchFamily="34" charset="0"/>
                <a:ea typeface="+mn-ea"/>
                <a:cs typeface="+mn-cs"/>
              </a:rPr>
            </a:br>
            <a:r>
              <a:rPr lang="en-US" sz="882" b="1" i="0" kern="1200" baseline="0" dirty="0" err="1" smtClean="0">
                <a:solidFill>
                  <a:schemeClr val="tx1"/>
                </a:solidFill>
                <a:effectLst/>
                <a:latin typeface="Segoe UI Light" pitchFamily="34" charset="0"/>
                <a:ea typeface="+mn-ea"/>
                <a:cs typeface="+mn-cs"/>
              </a:rPr>
              <a:t>Cron</a:t>
            </a:r>
            <a:r>
              <a:rPr lang="en-US" sz="882" b="1" i="0" kern="1200" baseline="0" dirty="0" smtClean="0">
                <a:solidFill>
                  <a:schemeClr val="tx1"/>
                </a:solidFill>
                <a:effectLst/>
                <a:latin typeface="Segoe UI Light" pitchFamily="34" charset="0"/>
                <a:ea typeface="+mn-ea"/>
                <a:cs typeface="+mn-cs"/>
              </a:rPr>
              <a:t> Workflow</a:t>
            </a:r>
            <a:r>
              <a:rPr lang="en-US" sz="882" b="0" i="0" kern="1200" baseline="0" dirty="0" smtClean="0">
                <a:solidFill>
                  <a:schemeClr val="tx1"/>
                </a:solidFill>
                <a:effectLst/>
                <a:latin typeface="Segoe UI Light" pitchFamily="34" charset="0"/>
                <a:ea typeface="+mn-ea"/>
                <a:cs typeface="+mn-cs"/>
              </a:rPr>
              <a:t>: for scheduling purpose</a:t>
            </a:r>
            <a:br>
              <a:rPr lang="en-US" sz="882" b="0" i="0" kern="1200" baseline="0" dirty="0" smtClean="0">
                <a:solidFill>
                  <a:schemeClr val="tx1"/>
                </a:solidFill>
                <a:effectLst/>
                <a:latin typeface="Segoe UI Light" pitchFamily="34" charset="0"/>
                <a:ea typeface="+mn-ea"/>
                <a:cs typeface="+mn-cs"/>
              </a:rPr>
            </a:br>
            <a:r>
              <a:rPr lang="en-US" sz="882" b="1" i="0" kern="1200" baseline="0" dirty="0" smtClean="0">
                <a:solidFill>
                  <a:schemeClr val="tx1"/>
                </a:solidFill>
                <a:effectLst/>
                <a:latin typeface="Segoe UI Light" pitchFamily="34" charset="0"/>
                <a:ea typeface="+mn-ea"/>
                <a:cs typeface="+mn-cs"/>
              </a:rPr>
              <a:t>Event Triggers</a:t>
            </a:r>
            <a:r>
              <a:rPr lang="en-US" sz="882" b="0" i="0" kern="1200" baseline="0" dirty="0" smtClean="0">
                <a:solidFill>
                  <a:schemeClr val="tx1"/>
                </a:solidFill>
                <a:effectLst/>
                <a:latin typeface="Segoe UI Light" pitchFamily="34" charset="0"/>
                <a:ea typeface="+mn-ea"/>
                <a:cs typeface="+mn-cs"/>
              </a:rPr>
              <a:t>: where u can integrate with another Argo solution which is </a:t>
            </a:r>
            <a:r>
              <a:rPr lang="en-US" sz="882" b="1" i="0" kern="1200" baseline="0" dirty="0" smtClean="0">
                <a:solidFill>
                  <a:schemeClr val="tx1"/>
                </a:solidFill>
                <a:effectLst/>
                <a:latin typeface="Segoe UI Light" pitchFamily="34" charset="0"/>
                <a:ea typeface="+mn-ea"/>
                <a:cs typeface="+mn-cs"/>
              </a:rPr>
              <a:t>Argo Event and Argo Sensor</a:t>
            </a:r>
          </a:p>
          <a:p>
            <a:r>
              <a:rPr lang="en-US" sz="882" b="0" i="0" kern="1200" baseline="0" dirty="0" smtClean="0">
                <a:solidFill>
                  <a:schemeClr val="tx1"/>
                </a:solidFill>
                <a:effectLst/>
                <a:latin typeface="Segoe UI Light" pitchFamily="34" charset="0"/>
                <a:ea typeface="+mn-ea"/>
                <a:cs typeface="+mn-cs"/>
              </a:rPr>
              <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Examples</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4. </a:t>
            </a:r>
            <a:r>
              <a:rPr lang="en-US" sz="882" b="0" i="0" kern="1200" baseline="0" dirty="0" err="1" smtClean="0">
                <a:solidFill>
                  <a:schemeClr val="tx1"/>
                </a:solidFill>
                <a:effectLst/>
                <a:latin typeface="Segoe UI Light" pitchFamily="34" charset="0"/>
                <a:ea typeface="+mn-ea"/>
                <a:cs typeface="+mn-cs"/>
              </a:rPr>
              <a:t>Terang</a:t>
            </a:r>
            <a:r>
              <a:rPr lang="en-US" sz="882" b="0" i="0" kern="1200" baseline="0" dirty="0" smtClean="0">
                <a:solidFill>
                  <a:schemeClr val="tx1"/>
                </a:solidFill>
                <a:effectLst/>
                <a:latin typeface="Segoe UI Light" pitchFamily="34" charset="0"/>
                <a:ea typeface="+mn-ea"/>
                <a:cs typeface="+mn-cs"/>
              </a:rPr>
              <a:t> step on example</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
            </a:r>
            <a:br>
              <a:rPr lang="en-US" sz="882" b="0" i="0" kern="1200" baseline="0" dirty="0" smtClean="0">
                <a:solidFill>
                  <a:schemeClr val="tx1"/>
                </a:solidFill>
                <a:effectLst/>
                <a:latin typeface="Segoe UI Light" pitchFamily="34" charset="0"/>
                <a:ea typeface="+mn-ea"/>
                <a:cs typeface="+mn-cs"/>
              </a:rPr>
            </a:br>
            <a:endParaRPr lang="en-US" sz="882" b="0" i="0" kern="1200" dirty="0" smtClean="0">
              <a:solidFill>
                <a:schemeClr val="tx1"/>
              </a:solidFill>
              <a:effectLst/>
              <a:latin typeface="Segoe UI Light" pitchFamily="34" charset="0"/>
              <a:ea typeface="+mn-ea"/>
              <a:cs typeface="+mn-cs"/>
            </a:endParaRPr>
          </a:p>
          <a:p>
            <a:endParaRPr lang="en-US" sz="882" b="0" kern="1200" dirty="0" smtClean="0">
              <a:solidFill>
                <a:schemeClr val="tx1"/>
              </a:solidFill>
              <a:effectLst/>
              <a:latin typeface="Segoe UI Light" pitchFamily="34" charset="0"/>
              <a:ea typeface="+mn-ea"/>
              <a:cs typeface="+mn-cs"/>
            </a:endParaRPr>
          </a:p>
          <a:p>
            <a:endParaRPr lang="en-MY"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12:42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1523474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1. Here are the Core Features of Argo Workflow that strengthen Data</a:t>
            </a:r>
            <a:r>
              <a:rPr lang="en-US" sz="882" b="0" kern="1200" baseline="0" dirty="0" smtClean="0">
                <a:solidFill>
                  <a:schemeClr val="tx1"/>
                </a:solidFill>
                <a:effectLst/>
                <a:latin typeface="Segoe UI Light" pitchFamily="34" charset="0"/>
                <a:ea typeface="+mn-ea"/>
                <a:cs typeface="+mn-cs"/>
              </a:rPr>
              <a:t> </a:t>
            </a:r>
            <a:r>
              <a:rPr lang="en-US" sz="882" b="0" kern="1200" baseline="0" dirty="0" err="1" smtClean="0">
                <a:solidFill>
                  <a:schemeClr val="tx1"/>
                </a:solidFill>
                <a:effectLst/>
                <a:latin typeface="Segoe UI Light" pitchFamily="34" charset="0"/>
                <a:ea typeface="+mn-ea"/>
                <a:cs typeface="+mn-cs"/>
              </a:rPr>
              <a:t>Ochestration</a:t>
            </a:r>
            <a:r>
              <a:rPr lang="en-US" sz="882" b="0" kern="1200" baseline="0" dirty="0" smtClean="0">
                <a:solidFill>
                  <a:schemeClr val="tx1"/>
                </a:solidFill>
                <a:effectLst/>
                <a:latin typeface="Segoe UI Light" pitchFamily="34" charset="0"/>
                <a:ea typeface="+mn-ea"/>
                <a:cs typeface="+mn-cs"/>
              </a:rPr>
              <a:t/>
            </a:r>
            <a:br>
              <a:rPr lang="en-US" sz="882" b="0" kern="1200" baseline="0" dirty="0" smtClean="0">
                <a:solidFill>
                  <a:schemeClr val="tx1"/>
                </a:solidFill>
                <a:effectLst/>
                <a:latin typeface="Segoe UI Light" pitchFamily="34" charset="0"/>
                <a:ea typeface="+mn-ea"/>
                <a:cs typeface="+mn-cs"/>
              </a:rPr>
            </a:br>
            <a:r>
              <a:rPr lang="en-US" sz="882" b="0" kern="1200" baseline="0" dirty="0" smtClean="0">
                <a:solidFill>
                  <a:schemeClr val="tx1"/>
                </a:solidFill>
                <a:effectLst/>
                <a:latin typeface="Segoe UI Light" pitchFamily="34" charset="0"/>
                <a:ea typeface="+mn-ea"/>
                <a:cs typeface="+mn-cs"/>
              </a:rPr>
              <a:t>Core Feature</a:t>
            </a: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2. Yet still, </a:t>
            </a:r>
            <a:r>
              <a:rPr lang="en-US" sz="882" b="0" kern="1200" dirty="0" smtClean="0">
                <a:solidFill>
                  <a:schemeClr val="tx1"/>
                </a:solidFill>
                <a:effectLst/>
                <a:latin typeface="Segoe UI Light" pitchFamily="34" charset="0"/>
                <a:ea typeface="+mn-ea"/>
                <a:cs typeface="+mn-cs"/>
              </a:rPr>
              <a:t>as the </a:t>
            </a:r>
            <a:r>
              <a:rPr lang="en-US" sz="882" b="0" kern="1200" dirty="0" smtClean="0">
                <a:solidFill>
                  <a:schemeClr val="tx1"/>
                </a:solidFill>
                <a:effectLst/>
                <a:latin typeface="Segoe UI Light" pitchFamily="34" charset="0"/>
                <a:ea typeface="+mn-ea"/>
                <a:cs typeface="+mn-cs"/>
              </a:rPr>
              <a:t>key advantage of Argo Workflow is </a:t>
            </a:r>
            <a:r>
              <a:rPr lang="en-US" sz="882" b="1" kern="1200" dirty="0" smtClean="0">
                <a:solidFill>
                  <a:schemeClr val="tx1"/>
                </a:solidFill>
                <a:effectLst/>
                <a:latin typeface="Segoe UI Light" pitchFamily="34" charset="0"/>
                <a:ea typeface="+mn-ea"/>
                <a:cs typeface="+mn-cs"/>
              </a:rPr>
              <a:t>anything</a:t>
            </a:r>
            <a:r>
              <a:rPr lang="en-US" sz="882" b="1" kern="1200" baseline="0" dirty="0" smtClean="0">
                <a:solidFill>
                  <a:schemeClr val="tx1"/>
                </a:solidFill>
                <a:effectLst/>
                <a:latin typeface="Segoe UI Light" pitchFamily="34" charset="0"/>
                <a:ea typeface="+mn-ea"/>
                <a:cs typeface="+mn-cs"/>
              </a:rPr>
              <a:t> that is</a:t>
            </a:r>
            <a:r>
              <a:rPr lang="en-US" sz="882" b="1" kern="1200" dirty="0" smtClean="0">
                <a:solidFill>
                  <a:schemeClr val="tx1"/>
                </a:solidFill>
                <a:effectLst/>
                <a:latin typeface="Segoe UI Light" pitchFamily="34" charset="0"/>
                <a:ea typeface="+mn-ea"/>
                <a:cs typeface="+mn-cs"/>
              </a:rPr>
              <a:t> runnable inside a container can become a workflow step</a:t>
            </a:r>
            <a:r>
              <a:rPr lang="en-US" sz="882" b="1" kern="1200" dirty="0" smtClean="0">
                <a:solidFill>
                  <a:schemeClr val="tx1"/>
                </a:solidFill>
                <a:effectLst/>
                <a:latin typeface="Segoe UI Light" pitchFamily="34" charset="0"/>
                <a:ea typeface="+mn-ea"/>
                <a:cs typeface="+mn-cs"/>
              </a:rPr>
              <a:t>.</a:t>
            </a:r>
          </a:p>
          <a:p>
            <a:r>
              <a:rPr kumimoji="0" lang="en-US" sz="882" b="0" i="0" u="none" strike="noStrike" kern="1200" cap="none" spc="0" normalizeH="0" baseline="0" noProof="0" dirty="0" smtClean="0">
                <a:ln>
                  <a:noFill/>
                </a:ln>
                <a:solidFill>
                  <a:prstClr val="black"/>
                </a:solidFill>
                <a:effectLst/>
                <a:uLnTx/>
                <a:uFillTx/>
                <a:latin typeface="Segoe UI Light" pitchFamily="34" charset="0"/>
                <a:ea typeface="+mn-ea"/>
                <a:cs typeface="+mn-cs"/>
              </a:rPr>
              <a:t>Platform Feature</a:t>
            </a:r>
          </a:p>
          <a:p>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3. </a:t>
            </a:r>
            <a:r>
              <a:rPr lang="en-US" sz="882" b="0" kern="1200" dirty="0" smtClean="0">
                <a:solidFill>
                  <a:schemeClr val="tx1"/>
                </a:solidFill>
                <a:effectLst/>
                <a:latin typeface="Segoe UI Light" pitchFamily="34" charset="0"/>
                <a:ea typeface="+mn-ea"/>
                <a:cs typeface="+mn-cs"/>
              </a:rPr>
              <a:t>Therefore, apart</a:t>
            </a:r>
            <a:r>
              <a:rPr lang="en-US" sz="882" b="0" kern="1200" baseline="0" dirty="0" smtClean="0">
                <a:solidFill>
                  <a:schemeClr val="tx1"/>
                </a:solidFill>
                <a:effectLst/>
                <a:latin typeface="Segoe UI Light" pitchFamily="34" charset="0"/>
                <a:ea typeface="+mn-ea"/>
                <a:cs typeface="+mn-cs"/>
              </a:rPr>
              <a:t> of it serving Data </a:t>
            </a:r>
            <a:r>
              <a:rPr lang="en-US" sz="882" b="0" kern="1200" baseline="0" dirty="0" smtClean="0">
                <a:solidFill>
                  <a:schemeClr val="tx1"/>
                </a:solidFill>
                <a:effectLst/>
                <a:latin typeface="Segoe UI Light" pitchFamily="34" charset="0"/>
                <a:ea typeface="+mn-ea"/>
                <a:cs typeface="+mn-cs"/>
              </a:rPr>
              <a:t>Engineering POV, with right architecture it also can meet Platform Engineering model </a:t>
            </a:r>
            <a:r>
              <a:rPr lang="en-US" sz="882" b="1" kern="1200" baseline="0" dirty="0" smtClean="0">
                <a:solidFill>
                  <a:schemeClr val="tx1"/>
                </a:solidFill>
                <a:effectLst/>
                <a:latin typeface="Segoe UI Light" pitchFamily="34" charset="0"/>
                <a:ea typeface="+mn-ea"/>
                <a:cs typeface="+mn-cs"/>
              </a:rPr>
              <a:t>especially on micro service</a:t>
            </a:r>
            <a:br>
              <a:rPr lang="en-US" sz="882" b="1" kern="1200" baseline="0" dirty="0" smtClean="0">
                <a:solidFill>
                  <a:schemeClr val="tx1"/>
                </a:solidFill>
                <a:effectLst/>
                <a:latin typeface="Segoe UI Light" pitchFamily="34" charset="0"/>
                <a:ea typeface="+mn-ea"/>
                <a:cs typeface="+mn-cs"/>
              </a:rPr>
            </a:br>
            <a:r>
              <a:rPr lang="en-US" sz="882" b="1" kern="1200" baseline="0" smtClean="0">
                <a:solidFill>
                  <a:schemeClr val="tx1"/>
                </a:solidFill>
                <a:effectLst/>
                <a:latin typeface="Segoe UI Light" pitchFamily="34" charset="0"/>
                <a:ea typeface="+mn-ea"/>
                <a:cs typeface="+mn-cs"/>
              </a:rPr>
              <a:t/>
            </a:r>
            <a:br>
              <a:rPr lang="en-US" sz="882" b="1" kern="1200" baseline="0" smtClean="0">
                <a:solidFill>
                  <a:schemeClr val="tx1"/>
                </a:solidFill>
                <a:effectLst/>
                <a:latin typeface="Segoe UI Light" pitchFamily="34" charset="0"/>
                <a:ea typeface="+mn-ea"/>
                <a:cs typeface="+mn-cs"/>
              </a:rPr>
            </a:br>
            <a:endParaRPr lang="en-US" sz="882" b="0" kern="1200" dirty="0" smtClean="0">
              <a:solidFill>
                <a:schemeClr val="tx1"/>
              </a:solidFill>
              <a:effectLst/>
              <a:latin typeface="Segoe UI Light" pitchFamily="34" charset="0"/>
              <a:ea typeface="+mn-ea"/>
              <a:cs typeface="+mn-cs"/>
            </a:endParaRPr>
          </a:p>
          <a:p>
            <a:endParaRPr lang="en-MY"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12:52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29112182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kern="1200" dirty="0" smtClean="0">
                <a:solidFill>
                  <a:schemeClr val="tx1"/>
                </a:solidFill>
                <a:effectLst/>
                <a:latin typeface="Segoe UI Light" pitchFamily="34" charset="0"/>
                <a:ea typeface="+mn-ea"/>
                <a:cs typeface="+mn-cs"/>
              </a:rPr>
              <a:t>1. Now, lets go to might</a:t>
            </a:r>
            <a:r>
              <a:rPr lang="en-US" sz="882" b="0" kern="1200" baseline="0" dirty="0" smtClean="0">
                <a:solidFill>
                  <a:schemeClr val="tx1"/>
                </a:solidFill>
                <a:effectLst/>
                <a:latin typeface="Segoe UI Light" pitchFamily="34" charset="0"/>
                <a:ea typeface="+mn-ea"/>
                <a:cs typeface="+mn-cs"/>
              </a:rPr>
              <a:t> be a heated page, what does it make any difference with Airflow itself</a:t>
            </a:r>
          </a:p>
          <a:p>
            <a:r>
              <a:rPr lang="en-US" sz="882" b="0" kern="1200" baseline="0" dirty="0" smtClean="0">
                <a:solidFill>
                  <a:schemeClr val="tx1"/>
                </a:solidFill>
                <a:effectLst/>
                <a:latin typeface="Segoe UI Light" pitchFamily="34" charset="0"/>
                <a:ea typeface="+mn-ea"/>
                <a:cs typeface="+mn-cs"/>
              </a:rPr>
              <a:t>I believe everyone’s here that </a:t>
            </a:r>
            <a:r>
              <a:rPr lang="en-US" sz="882" b="0" kern="1200" baseline="0" dirty="0" err="1" smtClean="0">
                <a:solidFill>
                  <a:schemeClr val="tx1"/>
                </a:solidFill>
                <a:effectLst/>
                <a:latin typeface="Segoe UI Light" pitchFamily="34" charset="0"/>
                <a:ea typeface="+mn-ea"/>
                <a:cs typeface="+mn-cs"/>
              </a:rPr>
              <a:t>hav</a:t>
            </a:r>
            <a:r>
              <a:rPr lang="en-US" sz="882" b="0" kern="1200" baseline="0" dirty="0" smtClean="0">
                <a:solidFill>
                  <a:schemeClr val="tx1"/>
                </a:solidFill>
                <a:effectLst/>
                <a:latin typeface="Segoe UI Light" pitchFamily="34" charset="0"/>
                <a:ea typeface="+mn-ea"/>
                <a:cs typeface="+mn-cs"/>
              </a:rPr>
              <a:t> use Airflow would know how matured and important Airflow is to Data Engineering as orchestration solution for BAU task</a:t>
            </a:r>
            <a:br>
              <a:rPr lang="en-US" sz="882" b="0" kern="1200" baseline="0" dirty="0" smtClean="0">
                <a:solidFill>
                  <a:schemeClr val="tx1"/>
                </a:solidFill>
                <a:effectLst/>
                <a:latin typeface="Segoe UI Light" pitchFamily="34" charset="0"/>
                <a:ea typeface="+mn-ea"/>
                <a:cs typeface="+mn-cs"/>
              </a:rPr>
            </a:br>
            <a:r>
              <a:rPr lang="en-US" sz="882" b="0" kern="1200" baseline="0" dirty="0" smtClean="0">
                <a:solidFill>
                  <a:schemeClr val="tx1"/>
                </a:solidFill>
                <a:effectLst/>
                <a:latin typeface="Segoe UI Light" pitchFamily="34" charset="0"/>
                <a:ea typeface="+mn-ea"/>
                <a:cs typeface="+mn-cs"/>
              </a:rPr>
              <a:t/>
            </a:r>
            <a:br>
              <a:rPr lang="en-US" sz="882" b="0" kern="1200" baseline="0" dirty="0" smtClean="0">
                <a:solidFill>
                  <a:schemeClr val="tx1"/>
                </a:solidFill>
                <a:effectLst/>
                <a:latin typeface="Segoe UI Light" pitchFamily="34" charset="0"/>
                <a:ea typeface="+mn-ea"/>
                <a:cs typeface="+mn-cs"/>
              </a:rPr>
            </a:br>
            <a:r>
              <a:rPr lang="en-US" sz="882" b="0" kern="1200" baseline="0" dirty="0" smtClean="0">
                <a:solidFill>
                  <a:schemeClr val="tx1"/>
                </a:solidFill>
                <a:effectLst/>
                <a:latin typeface="Segoe UI Light" pitchFamily="34" charset="0"/>
                <a:ea typeface="+mn-ea"/>
                <a:cs typeface="+mn-cs"/>
              </a:rPr>
              <a:t>2. Just to let everyone aware, </a:t>
            </a:r>
            <a:r>
              <a:rPr lang="en-US" sz="882" b="0" kern="1200" dirty="0" smtClean="0">
                <a:solidFill>
                  <a:schemeClr val="tx1"/>
                </a:solidFill>
                <a:effectLst/>
                <a:latin typeface="Segoe UI Light" pitchFamily="34" charset="0"/>
                <a:ea typeface="+mn-ea"/>
                <a:cs typeface="+mn-cs"/>
              </a:rPr>
              <a:t>I’ve use Airflow way back since 2018 therefore pretty much can say I also a fan of Airflow</a:t>
            </a:r>
          </a:p>
          <a:p>
            <a:r>
              <a:rPr lang="en-US" sz="882" b="0" kern="1200" dirty="0" smtClean="0">
                <a:solidFill>
                  <a:schemeClr val="tx1"/>
                </a:solidFill>
                <a:effectLst/>
                <a:latin typeface="Segoe UI Light" pitchFamily="34" charset="0"/>
                <a:ea typeface="+mn-ea"/>
                <a:cs typeface="+mn-cs"/>
              </a:rPr>
              <a:t>3.</a:t>
            </a:r>
            <a:r>
              <a:rPr lang="en-US" sz="882" b="0" kern="1200" baseline="0" dirty="0" smtClean="0">
                <a:solidFill>
                  <a:schemeClr val="tx1"/>
                </a:solidFill>
                <a:effectLst/>
                <a:latin typeface="Segoe UI Light" pitchFamily="34" charset="0"/>
                <a:ea typeface="+mn-ea"/>
                <a:cs typeface="+mn-cs"/>
              </a:rPr>
              <a:t> Thus having experience and familiar on both, here </a:t>
            </a:r>
            <a:r>
              <a:rPr lang="en-US" sz="882" b="0" kern="1200" baseline="0" dirty="0" err="1" smtClean="0">
                <a:solidFill>
                  <a:schemeClr val="tx1"/>
                </a:solidFill>
                <a:effectLst/>
                <a:latin typeface="Segoe UI Light" pitchFamily="34" charset="0"/>
                <a:ea typeface="+mn-ea"/>
                <a:cs typeface="+mn-cs"/>
              </a:rPr>
              <a:t>im</a:t>
            </a:r>
            <a:r>
              <a:rPr lang="en-US" sz="882" b="0" kern="1200" baseline="0" dirty="0" smtClean="0">
                <a:solidFill>
                  <a:schemeClr val="tx1"/>
                </a:solidFill>
                <a:effectLst/>
                <a:latin typeface="Segoe UI Light" pitchFamily="34" charset="0"/>
                <a:ea typeface="+mn-ea"/>
                <a:cs typeface="+mn-cs"/>
              </a:rPr>
              <a:t> jotting down some of the things </a:t>
            </a:r>
            <a:r>
              <a:rPr lang="en-US" sz="882" b="0" kern="1200" baseline="0" dirty="0" err="1" smtClean="0">
                <a:solidFill>
                  <a:schemeClr val="tx1"/>
                </a:solidFill>
                <a:effectLst/>
                <a:latin typeface="Segoe UI Light" pitchFamily="34" charset="0"/>
                <a:ea typeface="+mn-ea"/>
                <a:cs typeface="+mn-cs"/>
              </a:rPr>
              <a:t>tht</a:t>
            </a:r>
            <a:r>
              <a:rPr lang="en-US" sz="882" b="0" kern="1200" baseline="0" dirty="0" smtClean="0">
                <a:solidFill>
                  <a:schemeClr val="tx1"/>
                </a:solidFill>
                <a:effectLst/>
                <a:latin typeface="Segoe UI Light" pitchFamily="34" charset="0"/>
                <a:ea typeface="+mn-ea"/>
                <a:cs typeface="+mn-cs"/>
              </a:rPr>
              <a:t> differ between both side and what I love towards each of it</a:t>
            </a:r>
            <a:br>
              <a:rPr lang="en-US" sz="882" b="0" kern="1200" baseline="0" dirty="0" smtClean="0">
                <a:solidFill>
                  <a:schemeClr val="tx1"/>
                </a:solidFill>
                <a:effectLst/>
                <a:latin typeface="Segoe UI Light" pitchFamily="34" charset="0"/>
                <a:ea typeface="+mn-ea"/>
                <a:cs typeface="+mn-cs"/>
              </a:rPr>
            </a:br>
            <a:r>
              <a:rPr lang="en-US" sz="882" b="0" kern="1200" baseline="0" dirty="0" smtClean="0">
                <a:solidFill>
                  <a:schemeClr val="tx1"/>
                </a:solidFill>
                <a:effectLst/>
                <a:latin typeface="Segoe UI Light" pitchFamily="34" charset="0"/>
                <a:ea typeface="+mn-ea"/>
                <a:cs typeface="+mn-cs"/>
              </a:rPr>
              <a:t/>
            </a:r>
            <a:br>
              <a:rPr lang="en-US" sz="882" b="0" kern="1200" baseline="0" dirty="0" smtClean="0">
                <a:solidFill>
                  <a:schemeClr val="tx1"/>
                </a:solidFill>
                <a:effectLst/>
                <a:latin typeface="Segoe UI Light" pitchFamily="34" charset="0"/>
                <a:ea typeface="+mn-ea"/>
                <a:cs typeface="+mn-cs"/>
              </a:rPr>
            </a:br>
            <a:r>
              <a:rPr lang="en-US" sz="882" b="0" kern="1200" baseline="0" dirty="0" smtClean="0">
                <a:solidFill>
                  <a:schemeClr val="tx1"/>
                </a:solidFill>
                <a:effectLst/>
                <a:latin typeface="Segoe UI Light" pitchFamily="34" charset="0"/>
                <a:ea typeface="+mn-ea"/>
                <a:cs typeface="+mn-cs"/>
              </a:rPr>
              <a:t>Capability</a:t>
            </a:r>
            <a:endParaRPr lang="en-US" sz="882" b="0" kern="1200" dirty="0" smtClean="0">
              <a:solidFill>
                <a:schemeClr val="tx1"/>
              </a:solidFill>
              <a:effectLst/>
              <a:latin typeface="Segoe UI Light" pitchFamily="34" charset="0"/>
              <a:ea typeface="+mn-ea"/>
              <a:cs typeface="+mn-cs"/>
            </a:endParaRPr>
          </a:p>
          <a:p>
            <a:r>
              <a:rPr lang="en-US" sz="882" b="0" kern="1200" dirty="0" smtClean="0">
                <a:solidFill>
                  <a:schemeClr val="tx1"/>
                </a:solidFill>
                <a:effectLst/>
                <a:latin typeface="Segoe UI Light" pitchFamily="34" charset="0"/>
                <a:ea typeface="+mn-ea"/>
                <a:cs typeface="+mn-cs"/>
              </a:rPr>
              <a:t>4. Simplify</a:t>
            </a:r>
            <a:r>
              <a:rPr lang="en-US" sz="882" b="0" kern="1200" baseline="0" dirty="0" smtClean="0">
                <a:solidFill>
                  <a:schemeClr val="tx1"/>
                </a:solidFill>
                <a:effectLst/>
                <a:latin typeface="Segoe UI Light" pitchFamily="34" charset="0"/>
                <a:ea typeface="+mn-ea"/>
                <a:cs typeface="+mn-cs"/>
              </a:rPr>
              <a:t> satu2</a:t>
            </a:r>
          </a:p>
          <a:p>
            <a:endParaRPr lang="en-US" sz="882" b="0" kern="1200" baseline="0" dirty="0" smtClean="0">
              <a:solidFill>
                <a:schemeClr val="tx1"/>
              </a:solidFill>
              <a:effectLst/>
              <a:latin typeface="Segoe UI Light" pitchFamily="34" charset="0"/>
              <a:ea typeface="+mn-ea"/>
              <a:cs typeface="+mn-cs"/>
            </a:endParaRPr>
          </a:p>
          <a:p>
            <a:r>
              <a:rPr lang="en-US" sz="882" b="0" kern="1200" baseline="0" dirty="0" smtClean="0">
                <a:solidFill>
                  <a:schemeClr val="tx1"/>
                </a:solidFill>
                <a:effectLst/>
                <a:latin typeface="Segoe UI Light" pitchFamily="34" charset="0"/>
                <a:ea typeface="+mn-ea"/>
                <a:cs typeface="+mn-cs"/>
              </a:rPr>
              <a:t>5. So now, as we basically understand the thin-line differences between both, how would I decide which is better to my organization if I want to deploy or enhance my current infrastructure</a:t>
            </a:r>
            <a:br>
              <a:rPr lang="en-US" sz="882" b="0" kern="1200" baseline="0" dirty="0" smtClean="0">
                <a:solidFill>
                  <a:schemeClr val="tx1"/>
                </a:solidFill>
                <a:effectLst/>
                <a:latin typeface="Segoe UI Light" pitchFamily="34" charset="0"/>
                <a:ea typeface="+mn-ea"/>
                <a:cs typeface="+mn-cs"/>
              </a:rPr>
            </a:br>
            <a:r>
              <a:rPr lang="en-US" sz="882" b="0" kern="1200" baseline="0" dirty="0" smtClean="0">
                <a:solidFill>
                  <a:schemeClr val="tx1"/>
                </a:solidFill>
                <a:effectLst/>
                <a:latin typeface="Segoe UI Light" pitchFamily="34" charset="0"/>
                <a:ea typeface="+mn-ea"/>
                <a:cs typeface="+mn-cs"/>
              </a:rPr>
              <a:t>6. Of coz, this is not entirely best practice but its good as a baseline for u guys know</a:t>
            </a:r>
            <a:br>
              <a:rPr lang="en-US" sz="882" b="0" kern="1200" baseline="0" dirty="0" smtClean="0">
                <a:solidFill>
                  <a:schemeClr val="tx1"/>
                </a:solidFill>
                <a:effectLst/>
                <a:latin typeface="Segoe UI Light" pitchFamily="34" charset="0"/>
                <a:ea typeface="+mn-ea"/>
                <a:cs typeface="+mn-cs"/>
              </a:rPr>
            </a:br>
            <a:endParaRPr lang="en-US" sz="882" b="0" kern="1200" baseline="0" dirty="0" smtClean="0">
              <a:solidFill>
                <a:schemeClr val="tx1"/>
              </a:solidFill>
              <a:effectLst/>
              <a:latin typeface="Segoe UI Light" pitchFamily="34" charset="0"/>
              <a:ea typeface="+mn-ea"/>
              <a:cs typeface="+mn-cs"/>
            </a:endParaRPr>
          </a:p>
          <a:p>
            <a:r>
              <a:rPr lang="en-US" sz="882" b="0" kern="1200" baseline="0" dirty="0" smtClean="0">
                <a:solidFill>
                  <a:schemeClr val="tx1"/>
                </a:solidFill>
                <a:effectLst/>
                <a:latin typeface="Segoe UI Light" pitchFamily="34" charset="0"/>
                <a:ea typeface="+mn-ea"/>
                <a:cs typeface="+mn-cs"/>
              </a:rPr>
              <a:t>Airflow/Argo</a:t>
            </a:r>
          </a:p>
          <a:p>
            <a:r>
              <a:rPr lang="en-US" sz="882" b="0" kern="1200" baseline="0" dirty="0" smtClean="0">
                <a:solidFill>
                  <a:schemeClr val="tx1"/>
                </a:solidFill>
                <a:effectLst/>
                <a:latin typeface="Segoe UI Light" pitchFamily="34" charset="0"/>
                <a:ea typeface="+mn-ea"/>
                <a:cs typeface="+mn-cs"/>
              </a:rPr>
              <a:t>7. For me as designing end-2-end solution myself, I’d go for Airflow if (click 1 by 1):-</a:t>
            </a:r>
          </a:p>
          <a:p>
            <a:pPr marL="171450" marR="0" indent="-171450" algn="l" defTabSz="914367" rtl="0" eaLnBrk="1" fontAlgn="auto" latinLnBrk="0" hangingPunct="1">
              <a:lnSpc>
                <a:spcPct val="90000"/>
              </a:lnSpc>
              <a:spcBef>
                <a:spcPts val="0"/>
              </a:spcBef>
              <a:spcAft>
                <a:spcPts val="333"/>
              </a:spcAft>
              <a:buClrTx/>
              <a:buSzTx/>
              <a:buFontTx/>
              <a:buChar char="-"/>
              <a:tabLst/>
              <a:defRPr/>
            </a:pPr>
            <a:r>
              <a:rPr lang="en-US" sz="882" b="0" kern="1200" baseline="0" dirty="0" smtClean="0">
                <a:solidFill>
                  <a:schemeClr val="tx1"/>
                </a:solidFill>
                <a:effectLst/>
                <a:latin typeface="Segoe UI Light" pitchFamily="34" charset="0"/>
                <a:ea typeface="+mn-ea"/>
                <a:cs typeface="+mn-cs"/>
              </a:rPr>
              <a:t>I have a team of traditional data engineer myself where mainly well verse in python language</a:t>
            </a:r>
          </a:p>
          <a:p>
            <a:pPr marL="171450" marR="0" indent="-171450" algn="l" defTabSz="914367" rtl="0" eaLnBrk="1" fontAlgn="auto" latinLnBrk="0" hangingPunct="1">
              <a:lnSpc>
                <a:spcPct val="90000"/>
              </a:lnSpc>
              <a:spcBef>
                <a:spcPts val="0"/>
              </a:spcBef>
              <a:spcAft>
                <a:spcPts val="333"/>
              </a:spcAft>
              <a:buClrTx/>
              <a:buSzTx/>
              <a:buFontTx/>
              <a:buChar char="-"/>
              <a:tabLst/>
              <a:defRPr/>
            </a:pPr>
            <a:r>
              <a:rPr lang="en-US" sz="882" b="0" kern="1200" dirty="0" smtClean="0">
                <a:solidFill>
                  <a:schemeClr val="tx1"/>
                </a:solidFill>
                <a:effectLst/>
                <a:latin typeface="Segoe UI Light" pitchFamily="34" charset="0"/>
                <a:ea typeface="+mn-ea"/>
                <a:cs typeface="+mn-cs"/>
              </a:rPr>
              <a:t>90% of BAU pipeline are SQL heavy DML process, so I can make use of various build in Operator like </a:t>
            </a:r>
            <a:r>
              <a:rPr lang="en-US" sz="882" b="0" kern="1200" dirty="0" err="1" smtClean="0">
                <a:solidFill>
                  <a:schemeClr val="tx1"/>
                </a:solidFill>
                <a:effectLst/>
                <a:latin typeface="Segoe UI Light" pitchFamily="34" charset="0"/>
                <a:ea typeface="+mn-ea"/>
                <a:cs typeface="+mn-cs"/>
              </a:rPr>
              <a:t>PostgreSQLOp</a:t>
            </a:r>
            <a:r>
              <a:rPr lang="en-US" sz="882" b="0" kern="1200" baseline="0" dirty="0" smtClean="0">
                <a:solidFill>
                  <a:schemeClr val="tx1"/>
                </a:solidFill>
                <a:effectLst/>
                <a:latin typeface="Segoe UI Light" pitchFamily="34" charset="0"/>
                <a:ea typeface="+mn-ea"/>
                <a:cs typeface="+mn-cs"/>
              </a:rPr>
              <a:t> or </a:t>
            </a:r>
            <a:r>
              <a:rPr lang="en-US" sz="882" b="0" kern="1200" baseline="0" dirty="0" err="1" smtClean="0">
                <a:solidFill>
                  <a:schemeClr val="tx1"/>
                </a:solidFill>
                <a:effectLst/>
                <a:latin typeface="Segoe UI Light" pitchFamily="34" charset="0"/>
                <a:ea typeface="+mn-ea"/>
                <a:cs typeface="+mn-cs"/>
              </a:rPr>
              <a:t>MySQLOperator</a:t>
            </a:r>
            <a:endParaRPr lang="en-US" sz="882" b="0" kern="1200" dirty="0" smtClean="0">
              <a:solidFill>
                <a:schemeClr val="tx1"/>
              </a:solidFill>
              <a:effectLst/>
              <a:latin typeface="Segoe UI Light" pitchFamily="34" charset="0"/>
              <a:ea typeface="+mn-ea"/>
              <a:cs typeface="+mn-cs"/>
            </a:endParaRPr>
          </a:p>
          <a:p>
            <a:pPr marL="171450" indent="-171450">
              <a:buFontTx/>
              <a:buChar char="-"/>
            </a:pPr>
            <a:r>
              <a:rPr lang="en-US" sz="882" b="0" kern="1200" dirty="0" smtClean="0">
                <a:solidFill>
                  <a:schemeClr val="tx1"/>
                </a:solidFill>
                <a:effectLst/>
                <a:latin typeface="Segoe UI Light" pitchFamily="34" charset="0"/>
                <a:ea typeface="+mn-ea"/>
                <a:cs typeface="+mn-cs"/>
              </a:rPr>
              <a:t>My organization are already in enterprise</a:t>
            </a:r>
            <a:r>
              <a:rPr lang="en-US" sz="882" b="0" kern="1200" baseline="0" dirty="0" smtClean="0">
                <a:solidFill>
                  <a:schemeClr val="tx1"/>
                </a:solidFill>
                <a:effectLst/>
                <a:latin typeface="Segoe UI Light" pitchFamily="34" charset="0"/>
                <a:ea typeface="+mn-ea"/>
                <a:cs typeface="+mn-cs"/>
              </a:rPr>
              <a:t> ecosystem where everything pretty much have its own dedicated team to </a:t>
            </a:r>
            <a:r>
              <a:rPr lang="en-US" sz="882" b="0" kern="1200" baseline="0" dirty="0" err="1" smtClean="0">
                <a:solidFill>
                  <a:schemeClr val="tx1"/>
                </a:solidFill>
                <a:effectLst/>
                <a:latin typeface="Segoe UI Light" pitchFamily="34" charset="0"/>
                <a:ea typeface="+mn-ea"/>
                <a:cs typeface="+mn-cs"/>
              </a:rPr>
              <a:t>solutionize</a:t>
            </a:r>
            <a:r>
              <a:rPr lang="en-US" sz="882" b="0" kern="1200" baseline="0" dirty="0" smtClean="0">
                <a:solidFill>
                  <a:schemeClr val="tx1"/>
                </a:solidFill>
                <a:effectLst/>
                <a:latin typeface="Segoe UI Light" pitchFamily="34" charset="0"/>
                <a:ea typeface="+mn-ea"/>
                <a:cs typeface="+mn-cs"/>
              </a:rPr>
              <a:t> the decision</a:t>
            </a:r>
          </a:p>
          <a:p>
            <a:pPr marL="0" indent="0">
              <a:buFontTx/>
              <a:buNone/>
            </a:pPr>
            <a:endParaRPr lang="en-US" sz="882" b="0" kern="1200" baseline="0" dirty="0" smtClean="0">
              <a:solidFill>
                <a:schemeClr val="tx1"/>
              </a:solidFill>
              <a:effectLst/>
              <a:latin typeface="Segoe UI Light" pitchFamily="34" charset="0"/>
              <a:ea typeface="+mn-ea"/>
              <a:cs typeface="+mn-cs"/>
            </a:endParaRPr>
          </a:p>
          <a:p>
            <a:pPr marL="0" indent="0">
              <a:buFontTx/>
              <a:buNone/>
            </a:pPr>
            <a:r>
              <a:rPr lang="en-US" sz="882" b="0" kern="1200" baseline="0" dirty="0" smtClean="0">
                <a:solidFill>
                  <a:schemeClr val="tx1"/>
                </a:solidFill>
                <a:effectLst/>
                <a:latin typeface="Segoe UI Light" pitchFamily="34" charset="0"/>
                <a:ea typeface="+mn-ea"/>
                <a:cs typeface="+mn-cs"/>
              </a:rPr>
              <a:t>7. For </a:t>
            </a:r>
            <a:r>
              <a:rPr lang="en-US" sz="882" b="0" kern="1200" baseline="0" dirty="0" err="1" smtClean="0">
                <a:solidFill>
                  <a:schemeClr val="tx1"/>
                </a:solidFill>
                <a:effectLst/>
                <a:latin typeface="Segoe UI Light" pitchFamily="34" charset="0"/>
                <a:ea typeface="+mn-ea"/>
                <a:cs typeface="+mn-cs"/>
              </a:rPr>
              <a:t>argo</a:t>
            </a:r>
            <a:r>
              <a:rPr lang="en-US" sz="882" b="0" kern="1200" baseline="0" dirty="0" smtClean="0">
                <a:solidFill>
                  <a:schemeClr val="tx1"/>
                </a:solidFill>
                <a:effectLst/>
                <a:latin typeface="Segoe UI Light" pitchFamily="34" charset="0"/>
                <a:ea typeface="+mn-ea"/>
                <a:cs typeface="+mn-cs"/>
              </a:rPr>
              <a:t> itself, I’d go for it if (click 1 by 1):-</a:t>
            </a:r>
          </a:p>
          <a:p>
            <a:pPr marL="171450" indent="-171450">
              <a:buFontTx/>
              <a:buChar char="-"/>
            </a:pPr>
            <a:r>
              <a:rPr lang="en-US" sz="882" b="0" kern="1200" baseline="0" dirty="0" smtClean="0">
                <a:solidFill>
                  <a:schemeClr val="tx1"/>
                </a:solidFill>
                <a:effectLst/>
                <a:latin typeface="Segoe UI Light" pitchFamily="34" charset="0"/>
                <a:ea typeface="+mn-ea"/>
                <a:cs typeface="+mn-cs"/>
              </a:rPr>
              <a:t>I want to setup a roadmap of container-first mindset as solution architecture</a:t>
            </a:r>
          </a:p>
          <a:p>
            <a:pPr marL="171450" indent="-171450">
              <a:buFontTx/>
              <a:buChar char="-"/>
            </a:pPr>
            <a:r>
              <a:rPr lang="en-US" sz="882" b="0" kern="1200" baseline="0" dirty="0" smtClean="0">
                <a:solidFill>
                  <a:schemeClr val="tx1"/>
                </a:solidFill>
                <a:effectLst/>
                <a:latin typeface="Segoe UI Light" pitchFamily="34" charset="0"/>
                <a:ea typeface="+mn-ea"/>
                <a:cs typeface="+mn-cs"/>
              </a:rPr>
              <a:t>I want to adopt platform engineering model together like micro service solution</a:t>
            </a:r>
          </a:p>
          <a:p>
            <a:pPr marL="171450" indent="-171450">
              <a:buFontTx/>
              <a:buChar char="-"/>
            </a:pPr>
            <a:r>
              <a:rPr lang="en-US" sz="882" b="0" kern="1200" baseline="0" dirty="0" smtClean="0">
                <a:solidFill>
                  <a:schemeClr val="tx1"/>
                </a:solidFill>
                <a:effectLst/>
                <a:latin typeface="Segoe UI Light" pitchFamily="34" charset="0"/>
                <a:ea typeface="+mn-ea"/>
                <a:cs typeface="+mn-cs"/>
              </a:rPr>
              <a:t>I want to closer the gap of Data Analysis and Online Learning together to build various ML feature store</a:t>
            </a:r>
          </a:p>
          <a:p>
            <a:pPr marL="0" indent="0">
              <a:buFontTx/>
              <a:buNone/>
            </a:pPr>
            <a:endParaRPr lang="en-US" sz="882" b="0" kern="1200" baseline="0" dirty="0" smtClean="0">
              <a:solidFill>
                <a:schemeClr val="tx1"/>
              </a:solidFill>
              <a:effectLst/>
              <a:latin typeface="Segoe UI Light" pitchFamily="34" charset="0"/>
              <a:ea typeface="+mn-ea"/>
              <a:cs typeface="+mn-cs"/>
            </a:endParaRPr>
          </a:p>
          <a:p>
            <a:r>
              <a:rPr lang="en-US" sz="882" b="0" kern="1200" baseline="0" dirty="0" smtClean="0">
                <a:solidFill>
                  <a:schemeClr val="tx1"/>
                </a:solidFill>
                <a:effectLst/>
                <a:latin typeface="Segoe UI Light" pitchFamily="34" charset="0"/>
                <a:ea typeface="+mn-ea"/>
                <a:cs typeface="+mn-cs"/>
              </a:rPr>
              <a:t>8. All in all, </a:t>
            </a:r>
            <a:r>
              <a:rPr lang="en-US" sz="882" b="1" kern="1200" baseline="0" dirty="0" smtClean="0">
                <a:solidFill>
                  <a:schemeClr val="tx1"/>
                </a:solidFill>
                <a:effectLst/>
                <a:latin typeface="Segoe UI Light" pitchFamily="34" charset="0"/>
                <a:ea typeface="+mn-ea"/>
                <a:cs typeface="+mn-cs"/>
              </a:rPr>
              <a:t>the important comparison</a:t>
            </a:r>
            <a:r>
              <a:rPr lang="en-US" sz="882" b="0" kern="1200" baseline="0" dirty="0" smtClean="0">
                <a:solidFill>
                  <a:schemeClr val="tx1"/>
                </a:solidFill>
                <a:effectLst/>
                <a:latin typeface="Segoe UI Light" pitchFamily="34" charset="0"/>
                <a:ea typeface="+mn-ea"/>
                <a:cs typeface="+mn-cs"/>
              </a:rPr>
              <a:t> that I could express upon this 2 service is</a:t>
            </a:r>
            <a:br>
              <a:rPr lang="en-US" sz="882" b="0" kern="1200" baseline="0" dirty="0" smtClean="0">
                <a:solidFill>
                  <a:schemeClr val="tx1"/>
                </a:solidFill>
                <a:effectLst/>
                <a:latin typeface="Segoe UI Light" pitchFamily="34" charset="0"/>
                <a:ea typeface="+mn-ea"/>
                <a:cs typeface="+mn-cs"/>
              </a:rPr>
            </a:br>
            <a:r>
              <a:rPr lang="en-US" sz="882" b="1" kern="1200" dirty="0" smtClean="0">
                <a:solidFill>
                  <a:schemeClr val="tx1"/>
                </a:solidFill>
                <a:effectLst/>
                <a:latin typeface="Segoe UI Light" pitchFamily="34" charset="0"/>
                <a:ea typeface="+mn-ea"/>
                <a:cs typeface="+mn-cs"/>
              </a:rPr>
              <a:t>- With Airflow</a:t>
            </a:r>
            <a:r>
              <a:rPr lang="en-US" sz="882" b="0" kern="1200" dirty="0" smtClean="0">
                <a:solidFill>
                  <a:schemeClr val="tx1"/>
                </a:solidFill>
                <a:effectLst/>
                <a:latin typeface="Segoe UI Light" pitchFamily="34" charset="0"/>
                <a:ea typeface="+mn-ea"/>
                <a:cs typeface="+mn-cs"/>
              </a:rPr>
              <a:t>, when comes to </a:t>
            </a:r>
            <a:r>
              <a:rPr lang="en-US" sz="882" b="0" kern="1200" dirty="0" err="1" smtClean="0">
                <a:solidFill>
                  <a:schemeClr val="tx1"/>
                </a:solidFill>
                <a:effectLst/>
                <a:latin typeface="Segoe UI Light" pitchFamily="34" charset="0"/>
                <a:ea typeface="+mn-ea"/>
                <a:cs typeface="+mn-cs"/>
              </a:rPr>
              <a:t>Kubernetes</a:t>
            </a:r>
            <a:r>
              <a:rPr lang="en-US" sz="882" b="0" kern="1200" dirty="0" smtClean="0">
                <a:solidFill>
                  <a:schemeClr val="tx1"/>
                </a:solidFill>
                <a:effectLst/>
                <a:latin typeface="Segoe UI Light" pitchFamily="34" charset="0"/>
                <a:ea typeface="+mn-ea"/>
                <a:cs typeface="+mn-cs"/>
              </a:rPr>
              <a:t>,</a:t>
            </a:r>
            <a:r>
              <a:rPr lang="en-US" sz="882" b="0" kern="1200" baseline="0" dirty="0" smtClean="0">
                <a:solidFill>
                  <a:schemeClr val="tx1"/>
                </a:solidFill>
                <a:effectLst/>
                <a:latin typeface="Segoe UI Light" pitchFamily="34" charset="0"/>
                <a:ea typeface="+mn-ea"/>
                <a:cs typeface="+mn-cs"/>
              </a:rPr>
              <a:t> </a:t>
            </a:r>
            <a:r>
              <a:rPr lang="en-US" sz="882" b="0" kern="1200" dirty="0" smtClean="0">
                <a:solidFill>
                  <a:schemeClr val="tx1"/>
                </a:solidFill>
                <a:effectLst/>
                <a:latin typeface="Segoe UI Light" pitchFamily="34" charset="0"/>
                <a:ea typeface="+mn-ea"/>
                <a:cs typeface="+mn-cs"/>
              </a:rPr>
              <a:t>it is often use as executor plugin</a:t>
            </a:r>
            <a:r>
              <a:rPr lang="en-US" sz="882" b="0" kern="1200" baseline="0" dirty="0" smtClean="0">
                <a:solidFill>
                  <a:schemeClr val="tx1"/>
                </a:solidFill>
                <a:effectLst/>
                <a:latin typeface="Segoe UI Light" pitchFamily="34" charset="0"/>
                <a:ea typeface="+mn-ea"/>
                <a:cs typeface="+mn-cs"/>
              </a:rPr>
              <a:t> via its own build-in Operators</a:t>
            </a:r>
            <a:endParaRPr lang="en-US" sz="882" b="0" kern="1200" dirty="0" smtClean="0">
              <a:solidFill>
                <a:schemeClr val="tx1"/>
              </a:solidFill>
              <a:effectLst/>
              <a:latin typeface="Segoe UI Light" pitchFamily="34" charset="0"/>
              <a:ea typeface="+mn-ea"/>
              <a:cs typeface="+mn-cs"/>
            </a:endParaRPr>
          </a:p>
          <a:p>
            <a:r>
              <a:rPr lang="en-US" sz="882" b="1" kern="1200" dirty="0" smtClean="0">
                <a:solidFill>
                  <a:schemeClr val="tx1"/>
                </a:solidFill>
                <a:effectLst/>
                <a:latin typeface="Segoe UI Light" pitchFamily="34" charset="0"/>
                <a:ea typeface="+mn-ea"/>
                <a:cs typeface="+mn-cs"/>
              </a:rPr>
              <a:t>- With Argo</a:t>
            </a:r>
            <a:r>
              <a:rPr lang="en-US" sz="882" b="0" kern="1200" dirty="0" smtClean="0">
                <a:solidFill>
                  <a:schemeClr val="tx1"/>
                </a:solidFill>
                <a:effectLst/>
                <a:latin typeface="Segoe UI Light" pitchFamily="34" charset="0"/>
                <a:ea typeface="+mn-ea"/>
                <a:cs typeface="+mn-cs"/>
              </a:rPr>
              <a:t>, the </a:t>
            </a:r>
            <a:r>
              <a:rPr lang="en-US" sz="882" b="0" kern="1200" dirty="0" err="1" smtClean="0">
                <a:solidFill>
                  <a:schemeClr val="tx1"/>
                </a:solidFill>
                <a:effectLst/>
                <a:latin typeface="Segoe UI Light" pitchFamily="34" charset="0"/>
                <a:ea typeface="+mn-ea"/>
                <a:cs typeface="+mn-cs"/>
              </a:rPr>
              <a:t>Kubernetes</a:t>
            </a:r>
            <a:r>
              <a:rPr lang="en-US" sz="882" b="0" kern="1200" dirty="0" smtClean="0">
                <a:solidFill>
                  <a:schemeClr val="tx1"/>
                </a:solidFill>
                <a:effectLst/>
                <a:latin typeface="Segoe UI Light" pitchFamily="34" charset="0"/>
                <a:ea typeface="+mn-ea"/>
                <a:cs typeface="+mn-cs"/>
              </a:rPr>
              <a:t> </a:t>
            </a:r>
            <a:r>
              <a:rPr lang="en-US" sz="882" b="1" kern="1200" dirty="0" smtClean="0">
                <a:solidFill>
                  <a:schemeClr val="tx1"/>
                </a:solidFill>
                <a:effectLst/>
                <a:latin typeface="Segoe UI Light" pitchFamily="34" charset="0"/>
                <a:ea typeface="+mn-ea"/>
                <a:cs typeface="+mn-cs"/>
              </a:rPr>
              <a:t>IS the execution engine</a:t>
            </a:r>
            <a:r>
              <a:rPr lang="en-US" sz="882" b="0" kern="1200" dirty="0" smtClean="0">
                <a:solidFill>
                  <a:schemeClr val="tx1"/>
                </a:solidFill>
                <a:effectLst/>
                <a:latin typeface="Segoe UI Light" pitchFamily="34" charset="0"/>
                <a:ea typeface="+mn-ea"/>
                <a:cs typeface="+mn-cs"/>
              </a:rPr>
              <a:t>.</a:t>
            </a:r>
          </a:p>
          <a:p>
            <a:pPr marL="0" indent="0">
              <a:buFontTx/>
              <a:buNone/>
            </a:pP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endParaRPr lang="en-US" sz="882" b="0" i="0" kern="1200" dirty="0" smtClean="0">
              <a:solidFill>
                <a:schemeClr val="tx1"/>
              </a:solidFill>
              <a:effectLst/>
              <a:latin typeface="Segoe UI Light" pitchFamily="34" charset="0"/>
              <a:ea typeface="+mn-ea"/>
              <a:cs typeface="+mn-cs"/>
            </a:endParaRPr>
          </a:p>
          <a:p>
            <a:endParaRPr lang="en-US" sz="882" b="0" kern="1200" dirty="0" smtClean="0">
              <a:solidFill>
                <a:schemeClr val="tx1"/>
              </a:solidFill>
              <a:effectLst/>
              <a:latin typeface="Segoe UI Light" pitchFamily="34" charset="0"/>
              <a:ea typeface="+mn-ea"/>
              <a:cs typeface="+mn-cs"/>
            </a:endParaRPr>
          </a:p>
          <a:p>
            <a:endParaRPr lang="en-US" sz="882" b="0" kern="1200" dirty="0" smtClean="0">
              <a:solidFill>
                <a:schemeClr val="tx1"/>
              </a:solidFill>
              <a:effectLst/>
              <a:latin typeface="Segoe UI Light" pitchFamily="34" charset="0"/>
              <a:ea typeface="+mn-ea"/>
              <a:cs typeface="+mn-cs"/>
            </a:endParaRPr>
          </a:p>
          <a:p>
            <a:endParaRPr lang="en-US" sz="882" b="0" kern="1200" dirty="0" smtClean="0">
              <a:solidFill>
                <a:schemeClr val="tx1"/>
              </a:solidFill>
              <a:effectLst/>
              <a:latin typeface="Segoe UI Light" pitchFamily="34" charset="0"/>
              <a:ea typeface="+mn-ea"/>
              <a:cs typeface="+mn-cs"/>
            </a:endParaRPr>
          </a:p>
          <a:p>
            <a:endParaRPr lang="en-US" sz="882" b="0" kern="1200" dirty="0" smtClean="0">
              <a:solidFill>
                <a:schemeClr val="tx1"/>
              </a:solidFill>
              <a:effectLst/>
              <a:latin typeface="Segoe UI Light" pitchFamily="34" charset="0"/>
              <a:ea typeface="+mn-ea"/>
              <a:cs typeface="+mn-cs"/>
            </a:endParaRPr>
          </a:p>
          <a:p>
            <a:endParaRPr lang="en-US" sz="882" b="0" kern="1200" dirty="0" smtClean="0">
              <a:solidFill>
                <a:schemeClr val="tx1"/>
              </a:solidFill>
              <a:effectLst/>
              <a:latin typeface="Segoe UI Light" pitchFamily="34" charset="0"/>
              <a:ea typeface="+mn-ea"/>
              <a:cs typeface="+mn-cs"/>
            </a:endParaRPr>
          </a:p>
          <a:p>
            <a:endParaRPr lang="en-MY"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1:12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20472555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kern="1200" dirty="0" smtClean="0">
                <a:solidFill>
                  <a:schemeClr val="tx1"/>
                </a:solidFill>
                <a:effectLst/>
                <a:latin typeface="Segoe UI Light" pitchFamily="34" charset="0"/>
                <a:ea typeface="+mn-ea"/>
                <a:cs typeface="+mn-cs"/>
              </a:rPr>
              <a:t>Challenges</a:t>
            </a:r>
          </a:p>
          <a:p>
            <a:pPr marL="0" indent="0">
              <a:buFont typeface="Arial" panose="020B0604020202020204" pitchFamily="34" charset="0"/>
              <a:buNone/>
            </a:pPr>
            <a:r>
              <a:rPr lang="en-US" sz="882" b="0" kern="1200" dirty="0" smtClean="0">
                <a:solidFill>
                  <a:schemeClr val="tx1"/>
                </a:solidFill>
                <a:effectLst/>
                <a:latin typeface="Segoe UI Light" pitchFamily="34" charset="0"/>
                <a:ea typeface="+mn-ea"/>
                <a:cs typeface="+mn-cs"/>
              </a:rPr>
              <a:t>1.Base</a:t>
            </a:r>
            <a:r>
              <a:rPr lang="en-US" sz="882" b="0" kern="1200" baseline="0" dirty="0" smtClean="0">
                <a:solidFill>
                  <a:schemeClr val="tx1"/>
                </a:solidFill>
                <a:effectLst/>
                <a:latin typeface="Segoe UI Light" pitchFamily="34" charset="0"/>
                <a:ea typeface="+mn-ea"/>
                <a:cs typeface="+mn-cs"/>
              </a:rPr>
              <a:t> on the beauty of the service and hurdle I’ve learn, as usual I want to be real with u, its not all sunshine and rainbows, here are some of big challenges that u may face towards the journey to Argo Workflow</a:t>
            </a:r>
            <a:br>
              <a:rPr lang="en-US" sz="882" b="0" kern="1200" baseline="0" dirty="0" smtClean="0">
                <a:solidFill>
                  <a:schemeClr val="tx1"/>
                </a:solidFill>
                <a:effectLst/>
                <a:latin typeface="Segoe UI Light" pitchFamily="34" charset="0"/>
                <a:ea typeface="+mn-ea"/>
                <a:cs typeface="+mn-cs"/>
              </a:rPr>
            </a:br>
            <a:r>
              <a:rPr lang="en-US" sz="882" b="0" kern="1200" baseline="0" dirty="0" smtClean="0">
                <a:solidFill>
                  <a:schemeClr val="tx1"/>
                </a:solidFill>
                <a:effectLst/>
                <a:latin typeface="Segoe UI Light" pitchFamily="34" charset="0"/>
                <a:ea typeface="+mn-ea"/>
                <a:cs typeface="+mn-cs"/>
              </a:rPr>
              <a:t>2. </a:t>
            </a:r>
            <a:r>
              <a:rPr lang="en-US" sz="882" b="0" kern="1200" baseline="0" dirty="0" err="1" smtClean="0">
                <a:solidFill>
                  <a:schemeClr val="tx1"/>
                </a:solidFill>
                <a:effectLst/>
                <a:latin typeface="Segoe UI Light" pitchFamily="34" charset="0"/>
                <a:ea typeface="+mn-ea"/>
                <a:cs typeface="+mn-cs"/>
              </a:rPr>
              <a:t>Terang</a:t>
            </a:r>
            <a:r>
              <a:rPr lang="en-US" sz="882" b="0" kern="1200" baseline="0" dirty="0" smtClean="0">
                <a:solidFill>
                  <a:schemeClr val="tx1"/>
                </a:solidFill>
                <a:effectLst/>
                <a:latin typeface="Segoe UI Light" pitchFamily="34" charset="0"/>
                <a:ea typeface="+mn-ea"/>
                <a:cs typeface="+mn-cs"/>
              </a:rPr>
              <a:t> satu2 challenge</a:t>
            </a:r>
            <a:br>
              <a:rPr lang="en-US" sz="882" b="0" kern="1200" baseline="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Argo simplifies </a:t>
            </a:r>
            <a:r>
              <a:rPr lang="en-US" sz="882" b="0" kern="1200" dirty="0" err="1" smtClean="0">
                <a:solidFill>
                  <a:schemeClr val="tx1"/>
                </a:solidFill>
                <a:effectLst/>
                <a:latin typeface="Segoe UI Light" pitchFamily="34" charset="0"/>
                <a:ea typeface="+mn-ea"/>
                <a:cs typeface="+mn-cs"/>
              </a:rPr>
              <a:t>Kubernetes</a:t>
            </a:r>
            <a:r>
              <a:rPr lang="en-US" sz="882" b="0" kern="1200" dirty="0" smtClean="0">
                <a:solidFill>
                  <a:schemeClr val="tx1"/>
                </a:solidFill>
                <a:effectLst/>
                <a:latin typeface="Segoe UI Light" pitchFamily="34" charset="0"/>
                <a:ea typeface="+mn-ea"/>
                <a:cs typeface="+mn-cs"/>
              </a:rPr>
              <a:t>-native orchestration, but operational </a:t>
            </a:r>
            <a:r>
              <a:rPr lang="en-US" sz="882" b="0" kern="1200" dirty="0" err="1" smtClean="0">
                <a:solidFill>
                  <a:schemeClr val="tx1"/>
                </a:solidFill>
                <a:effectLst/>
                <a:latin typeface="Segoe UI Light" pitchFamily="34" charset="0"/>
                <a:ea typeface="+mn-ea"/>
                <a:cs typeface="+mn-cs"/>
              </a:rPr>
              <a:t>Kubernetes</a:t>
            </a:r>
            <a:r>
              <a:rPr lang="en-US" sz="882" b="0" kern="1200" dirty="0" smtClean="0">
                <a:solidFill>
                  <a:schemeClr val="tx1"/>
                </a:solidFill>
                <a:effectLst/>
                <a:latin typeface="Segoe UI Light" pitchFamily="34" charset="0"/>
                <a:ea typeface="+mn-ea"/>
                <a:cs typeface="+mn-cs"/>
              </a:rPr>
              <a:t> knowledge remains essential.</a:t>
            </a:r>
            <a:r>
              <a:rPr lang="en-US" sz="882" b="0" kern="1200" baseline="0" dirty="0" smtClean="0">
                <a:solidFill>
                  <a:schemeClr val="tx1"/>
                </a:solidFill>
                <a:effectLst/>
                <a:latin typeface="Segoe UI Light" pitchFamily="34" charset="0"/>
                <a:ea typeface="+mn-ea"/>
                <a:cs typeface="+mn-cs"/>
              </a:rPr>
              <a:t/>
            </a:r>
            <a:br>
              <a:rPr lang="en-US" sz="882" b="0" kern="1200" baseline="0" dirty="0" smtClean="0">
                <a:solidFill>
                  <a:schemeClr val="tx1"/>
                </a:solidFill>
                <a:effectLst/>
                <a:latin typeface="Segoe UI Light" pitchFamily="34" charset="0"/>
                <a:ea typeface="+mn-ea"/>
                <a:cs typeface="+mn-cs"/>
              </a:rPr>
            </a:br>
            <a:r>
              <a:rPr lang="en-US" sz="882" b="0" kern="1200" baseline="0" dirty="0" smtClean="0">
                <a:solidFill>
                  <a:schemeClr val="tx1"/>
                </a:solidFill>
                <a:effectLst/>
                <a:latin typeface="Segoe UI Light" pitchFamily="34" charset="0"/>
                <a:ea typeface="+mn-ea"/>
                <a:cs typeface="+mn-cs"/>
              </a:rPr>
              <a:t/>
            </a:r>
            <a:br>
              <a:rPr lang="en-US" sz="882" b="0" kern="1200" baseline="0" dirty="0" smtClean="0">
                <a:solidFill>
                  <a:schemeClr val="tx1"/>
                </a:solidFill>
                <a:effectLst/>
                <a:latin typeface="Segoe UI Light" pitchFamily="34" charset="0"/>
                <a:ea typeface="+mn-ea"/>
                <a:cs typeface="+mn-cs"/>
              </a:rPr>
            </a:br>
            <a:r>
              <a:rPr lang="en-US" sz="882" b="0" kern="1200" baseline="0" dirty="0" smtClean="0">
                <a:solidFill>
                  <a:schemeClr val="tx1"/>
                </a:solidFill>
                <a:effectLst/>
                <a:latin typeface="Segoe UI Light" pitchFamily="34" charset="0"/>
                <a:ea typeface="+mn-ea"/>
                <a:cs typeface="+mn-cs"/>
              </a:rPr>
              <a:t>Lesson learned</a:t>
            </a:r>
            <a:endParaRPr lang="en-US" sz="882" b="0" kern="1200" dirty="0" smtClean="0">
              <a:solidFill>
                <a:schemeClr val="tx1"/>
              </a:solidFill>
              <a:effectLst/>
              <a:latin typeface="Segoe UI Light" pitchFamily="34" charset="0"/>
              <a:ea typeface="+mn-ea"/>
              <a:cs typeface="+mn-cs"/>
            </a:endParaRPr>
          </a:p>
          <a:p>
            <a:pPr marL="0" indent="0">
              <a:buFont typeface="Arial" panose="020B0604020202020204" pitchFamily="34" charset="0"/>
              <a:buNone/>
            </a:pPr>
            <a:r>
              <a:rPr lang="en-US" sz="882" b="0" kern="1200" dirty="0" smtClean="0">
                <a:solidFill>
                  <a:schemeClr val="tx1"/>
                </a:solidFill>
                <a:effectLst/>
                <a:latin typeface="Segoe UI Light" pitchFamily="34" charset="0"/>
                <a:ea typeface="+mn-ea"/>
                <a:cs typeface="+mn-cs"/>
              </a:rPr>
              <a:t>3. Here are my</a:t>
            </a:r>
            <a:r>
              <a:rPr lang="en-US" sz="882" b="0" kern="1200" baseline="0" dirty="0" smtClean="0">
                <a:solidFill>
                  <a:schemeClr val="tx1"/>
                </a:solidFill>
                <a:effectLst/>
                <a:latin typeface="Segoe UI Light" pitchFamily="34" charset="0"/>
                <a:ea typeface="+mn-ea"/>
                <a:cs typeface="+mn-cs"/>
              </a:rPr>
              <a:t> biggest lesson learned that could be very helpful to everyone</a:t>
            </a:r>
            <a:br>
              <a:rPr lang="en-US" sz="882" b="0" kern="1200" baseline="0" dirty="0" smtClean="0">
                <a:solidFill>
                  <a:schemeClr val="tx1"/>
                </a:solidFill>
                <a:effectLst/>
                <a:latin typeface="Segoe UI Light" pitchFamily="34" charset="0"/>
                <a:ea typeface="+mn-ea"/>
                <a:cs typeface="+mn-cs"/>
              </a:rPr>
            </a:br>
            <a:r>
              <a:rPr lang="en-US" sz="882" b="0" kern="1200" baseline="0" dirty="0" smtClean="0">
                <a:solidFill>
                  <a:schemeClr val="tx1"/>
                </a:solidFill>
                <a:effectLst/>
                <a:latin typeface="Segoe UI Light" pitchFamily="34" charset="0"/>
                <a:ea typeface="+mn-ea"/>
                <a:cs typeface="+mn-cs"/>
              </a:rPr>
              <a:t>4. </a:t>
            </a:r>
            <a:r>
              <a:rPr lang="en-US" sz="882" b="0" kern="1200" baseline="0" dirty="0" err="1" smtClean="0">
                <a:solidFill>
                  <a:schemeClr val="tx1"/>
                </a:solidFill>
                <a:effectLst/>
                <a:latin typeface="Segoe UI Light" pitchFamily="34" charset="0"/>
                <a:ea typeface="+mn-ea"/>
                <a:cs typeface="+mn-cs"/>
              </a:rPr>
              <a:t>Terang</a:t>
            </a:r>
            <a:r>
              <a:rPr lang="en-US" sz="882" b="0" kern="1200" baseline="0" dirty="0" smtClean="0">
                <a:solidFill>
                  <a:schemeClr val="tx1"/>
                </a:solidFill>
                <a:effectLst/>
                <a:latin typeface="Segoe UI Light" pitchFamily="34" charset="0"/>
                <a:ea typeface="+mn-ea"/>
                <a:cs typeface="+mn-cs"/>
              </a:rPr>
              <a:t> satu2</a:t>
            </a:r>
            <a:endParaRPr lang="en-US" sz="882" b="0" kern="1200" dirty="0" smtClean="0">
              <a:solidFill>
                <a:schemeClr val="tx1"/>
              </a:solidFill>
              <a:effectLst/>
              <a:latin typeface="Segoe UI Light" pitchFamily="34" charset="0"/>
              <a:ea typeface="+mn-ea"/>
              <a:cs typeface="+mn-cs"/>
            </a:endParaRPr>
          </a:p>
          <a:p>
            <a:pPr marL="0" indent="0">
              <a:buFont typeface="Arial" panose="020B0604020202020204" pitchFamily="34" charset="0"/>
              <a:buNone/>
            </a:pPr>
            <a:endParaRPr lang="en-US" sz="882" b="0" kern="1200" dirty="0" smtClean="0">
              <a:solidFill>
                <a:schemeClr val="tx1"/>
              </a:solidFill>
              <a:effectLst/>
              <a:latin typeface="Segoe UI Light" pitchFamily="34" charset="0"/>
              <a:ea typeface="+mn-ea"/>
              <a:cs typeface="+mn-cs"/>
            </a:endParaRPr>
          </a:p>
          <a:p>
            <a:pPr marL="0" indent="0">
              <a:buFont typeface="Arial" panose="020B0604020202020204" pitchFamily="34" charset="0"/>
              <a:buNone/>
            </a:pPr>
            <a:r>
              <a:rPr lang="en-US" sz="882" b="0" kern="1200" dirty="0" smtClean="0">
                <a:solidFill>
                  <a:schemeClr val="tx1"/>
                </a:solidFill>
                <a:effectLst/>
                <a:latin typeface="Segoe UI Light" pitchFamily="34" charset="0"/>
                <a:ea typeface="+mn-ea"/>
                <a:cs typeface="+mn-cs"/>
              </a:rPr>
              <a:t>In the end, the goal isn’t </a:t>
            </a:r>
            <a:r>
              <a:rPr lang="en-US" sz="882" b="0" kern="1200" dirty="0" err="1" smtClean="0">
                <a:solidFill>
                  <a:schemeClr val="tx1"/>
                </a:solidFill>
                <a:effectLst/>
                <a:latin typeface="Segoe UI Light" pitchFamily="34" charset="0"/>
                <a:ea typeface="+mn-ea"/>
                <a:cs typeface="+mn-cs"/>
              </a:rPr>
              <a:t>juz</a:t>
            </a:r>
            <a:r>
              <a:rPr lang="en-US" sz="882" b="0" kern="1200" dirty="0" smtClean="0">
                <a:solidFill>
                  <a:schemeClr val="tx1"/>
                </a:solidFill>
                <a:effectLst/>
                <a:latin typeface="Segoe UI Light" pitchFamily="34" charset="0"/>
                <a:ea typeface="+mn-ea"/>
                <a:cs typeface="+mn-cs"/>
              </a:rPr>
              <a:t> to run code, its to create a system</a:t>
            </a:r>
            <a:r>
              <a:rPr lang="en-US" sz="882" b="0" kern="1200" baseline="0" dirty="0" smtClean="0">
                <a:solidFill>
                  <a:schemeClr val="tx1"/>
                </a:solidFill>
                <a:effectLst/>
                <a:latin typeface="Segoe UI Light" pitchFamily="34" charset="0"/>
                <a:ea typeface="+mn-ea"/>
                <a:cs typeface="+mn-cs"/>
              </a:rPr>
              <a:t> </a:t>
            </a:r>
            <a:r>
              <a:rPr lang="en-US" sz="882" b="0" kern="1200" baseline="0" dirty="0" err="1" smtClean="0">
                <a:solidFill>
                  <a:schemeClr val="tx1"/>
                </a:solidFill>
                <a:effectLst/>
                <a:latin typeface="Segoe UI Light" pitchFamily="34" charset="0"/>
                <a:ea typeface="+mn-ea"/>
                <a:cs typeface="+mn-cs"/>
              </a:rPr>
              <a:t>tht</a:t>
            </a:r>
            <a:r>
              <a:rPr lang="en-US" sz="882" b="0" kern="1200" baseline="0" dirty="0" smtClean="0">
                <a:solidFill>
                  <a:schemeClr val="tx1"/>
                </a:solidFill>
                <a:effectLst/>
                <a:latin typeface="Segoe UI Light" pitchFamily="34" charset="0"/>
                <a:ea typeface="+mn-ea"/>
                <a:cs typeface="+mn-cs"/>
              </a:rPr>
              <a:t> run concept of DRY or </a:t>
            </a:r>
            <a:r>
              <a:rPr lang="en-US" sz="882" b="1" kern="1200" baseline="0" dirty="0" smtClean="0">
                <a:solidFill>
                  <a:schemeClr val="tx1"/>
                </a:solidFill>
                <a:effectLst/>
                <a:latin typeface="Segoe UI Light" pitchFamily="34" charset="0"/>
                <a:ea typeface="+mn-ea"/>
                <a:cs typeface="+mn-cs"/>
              </a:rPr>
              <a:t>set and forget </a:t>
            </a:r>
            <a:r>
              <a:rPr lang="en-US" sz="882" b="0" kern="1200" baseline="0" dirty="0" smtClean="0">
                <a:solidFill>
                  <a:schemeClr val="tx1"/>
                </a:solidFill>
                <a:effectLst/>
                <a:latin typeface="Segoe UI Light" pitchFamily="34" charset="0"/>
                <a:ea typeface="+mn-ea"/>
                <a:cs typeface="+mn-cs"/>
              </a:rPr>
              <a:t>so u can focus on building feature, not fixing pipelines</a:t>
            </a: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endParaRPr lang="en-US" sz="882" b="0" kern="1200" dirty="0" smtClean="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6/21/2026 7:41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15190531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1:35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81987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6/22/2026 7:57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19784442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kern="1200" dirty="0" smtClean="0">
                <a:solidFill>
                  <a:schemeClr val="tx1"/>
                </a:solidFill>
                <a:effectLst/>
                <a:latin typeface="Segoe UI Light" pitchFamily="34" charset="0"/>
                <a:ea typeface="+mn-ea"/>
                <a:cs typeface="+mn-cs"/>
              </a:rPr>
              <a:t>* Introduce yourself briefly</a:t>
            </a:r>
          </a:p>
          <a:p>
            <a:r>
              <a:rPr lang="en-US" sz="882" b="0" kern="1200" dirty="0" smtClean="0">
                <a:solidFill>
                  <a:schemeClr val="tx1"/>
                </a:solidFill>
                <a:effectLst/>
                <a:latin typeface="Segoe UI Light" pitchFamily="34" charset="0"/>
                <a:ea typeface="+mn-ea"/>
                <a:cs typeface="+mn-cs"/>
              </a:rPr>
              <a:t>* Mention role and background in data engineering / platform engineering</a:t>
            </a:r>
          </a:p>
          <a:p>
            <a:r>
              <a:rPr lang="en-US" sz="882" b="0" kern="1200" dirty="0" smtClean="0">
                <a:solidFill>
                  <a:schemeClr val="tx1"/>
                </a:solidFill>
                <a:effectLst/>
                <a:latin typeface="Segoe UI Light" pitchFamily="34" charset="0"/>
                <a:ea typeface="+mn-ea"/>
                <a:cs typeface="+mn-cs"/>
              </a:rPr>
              <a:t>* Set context for why this topic matters to you and the organization</a:t>
            </a:r>
          </a:p>
          <a:p>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endParaRPr lang="en-US" sz="882" b="0" kern="1200" dirty="0" smtClean="0">
              <a:solidFill>
                <a:schemeClr val="tx1"/>
              </a:solidFill>
              <a:effectLst/>
              <a:latin typeface="Segoe UI Light" pitchFamily="34" charset="0"/>
              <a:ea typeface="+mn-ea"/>
              <a:cs typeface="+mn-cs"/>
            </a:endParaRPr>
          </a:p>
          <a:p>
            <a:r>
              <a:rPr lang="en-US" sz="882" b="0" i="0" kern="1200" dirty="0" smtClean="0">
                <a:solidFill>
                  <a:schemeClr val="tx1"/>
                </a:solidFill>
                <a:effectLst/>
                <a:latin typeface="Segoe UI Light" pitchFamily="34" charset="0"/>
                <a:ea typeface="+mn-ea"/>
                <a:cs typeface="+mn-cs"/>
              </a:rPr>
              <a:t>1. before we start, here are tidbits about me</a:t>
            </a:r>
          </a:p>
          <a:p>
            <a:r>
              <a:rPr lang="en-US" sz="882" b="0" i="0" kern="1200" dirty="0" smtClean="0">
                <a:solidFill>
                  <a:schemeClr val="tx1"/>
                </a:solidFill>
                <a:effectLst/>
                <a:latin typeface="Segoe UI Light" pitchFamily="34" charset="0"/>
                <a:ea typeface="+mn-ea"/>
                <a:cs typeface="+mn-cs"/>
              </a:rPr>
              <a:t>2. I'm </a:t>
            </a:r>
            <a:r>
              <a:rPr lang="en-US" sz="882" b="0" i="0" kern="1200" dirty="0" err="1" smtClean="0">
                <a:solidFill>
                  <a:schemeClr val="tx1"/>
                </a:solidFill>
                <a:effectLst/>
                <a:latin typeface="Segoe UI Light" pitchFamily="34" charset="0"/>
                <a:ea typeface="+mn-ea"/>
                <a:cs typeface="+mn-cs"/>
              </a:rPr>
              <a:t>Shahril</a:t>
            </a:r>
            <a:r>
              <a:rPr lang="en-US" sz="882" b="0" i="0" kern="1200" dirty="0" smtClean="0">
                <a:solidFill>
                  <a:schemeClr val="tx1"/>
                </a:solidFill>
                <a:effectLst/>
                <a:latin typeface="Segoe UI Light" pitchFamily="34" charset="0"/>
                <a:ea typeface="+mn-ea"/>
                <a:cs typeface="+mn-cs"/>
              </a:rPr>
              <a:t>, currently I am Head of Technology, Engineering and Data at Bank Islam looking through breakthrough upon any opportunity on Business towards adapting Digital Transformation</a:t>
            </a:r>
          </a:p>
          <a:p>
            <a:endParaRPr lang="en-MY"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12:33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19254332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en-US" dirty="0" smtClean="0"/>
              <a:t>TLDR</a:t>
            </a:r>
          </a:p>
          <a:p>
            <a:r>
              <a:rPr lang="en-US" sz="882" b="0" i="0" kern="1200" dirty="0" smtClean="0">
                <a:solidFill>
                  <a:schemeClr val="tx1"/>
                </a:solidFill>
                <a:effectLst/>
                <a:latin typeface="Segoe UI Light" pitchFamily="34" charset="0"/>
                <a:ea typeface="+mn-ea"/>
                <a:cs typeface="+mn-cs"/>
              </a:rPr>
              <a:t>1.</a:t>
            </a:r>
            <a:r>
              <a:rPr lang="en-US" sz="882" b="0" i="0" kern="1200" baseline="0" dirty="0" smtClean="0">
                <a:solidFill>
                  <a:schemeClr val="tx1"/>
                </a:solidFill>
                <a:effectLst/>
                <a:latin typeface="Segoe UI Light" pitchFamily="34" charset="0"/>
                <a:ea typeface="+mn-ea"/>
                <a:cs typeface="+mn-cs"/>
              </a:rPr>
              <a:t> </a:t>
            </a:r>
            <a:r>
              <a:rPr lang="en-US" sz="882" b="0" i="0" kern="1200" dirty="0" smtClean="0">
                <a:solidFill>
                  <a:schemeClr val="tx1"/>
                </a:solidFill>
                <a:effectLst/>
                <a:latin typeface="Segoe UI Light" pitchFamily="34" charset="0"/>
                <a:ea typeface="+mn-ea"/>
                <a:cs typeface="+mn-cs"/>
              </a:rPr>
              <a:t>Before we dive into the 'how,' let’s start with 'why.' Orchestrating data is basically like managing a massive, 24/7 kitchen. We have </a:t>
            </a:r>
            <a:r>
              <a:rPr lang="en-US" sz="882" b="1" i="0" kern="1200" dirty="0" smtClean="0">
                <a:solidFill>
                  <a:schemeClr val="tx1"/>
                </a:solidFill>
                <a:effectLst/>
                <a:latin typeface="Segoe UI Light" pitchFamily="34" charset="0"/>
                <a:ea typeface="+mn-ea"/>
                <a:cs typeface="+mn-cs"/>
              </a:rPr>
              <a:t>Upstream</a:t>
            </a:r>
            <a:r>
              <a:rPr lang="en-US" sz="882" b="0" i="0" kern="1200" dirty="0" smtClean="0">
                <a:solidFill>
                  <a:schemeClr val="tx1"/>
                </a:solidFill>
                <a:effectLst/>
                <a:latin typeface="Segoe UI Light" pitchFamily="34" charset="0"/>
                <a:ea typeface="+mn-ea"/>
                <a:cs typeface="+mn-cs"/>
              </a:rPr>
              <a:t>—that’s our suppliers bringing in raw ingredients like APIs and databases sources—and </a:t>
            </a:r>
            <a:r>
              <a:rPr lang="en-US" sz="882" b="1" i="0" kern="1200" dirty="0" smtClean="0">
                <a:solidFill>
                  <a:schemeClr val="tx1"/>
                </a:solidFill>
                <a:effectLst/>
                <a:latin typeface="Segoe UI Light" pitchFamily="34" charset="0"/>
                <a:ea typeface="+mn-ea"/>
                <a:cs typeface="+mn-cs"/>
              </a:rPr>
              <a:t>Downstream</a:t>
            </a:r>
            <a:r>
              <a:rPr lang="en-US" sz="882" b="0" i="0" kern="1200" dirty="0" smtClean="0">
                <a:solidFill>
                  <a:schemeClr val="tx1"/>
                </a:solidFill>
                <a:effectLst/>
                <a:latin typeface="Segoe UI Light" pitchFamily="34" charset="0"/>
                <a:ea typeface="+mn-ea"/>
                <a:cs typeface="+mn-cs"/>
              </a:rPr>
              <a:t>, which is the finished meal served to our customers via analytics and ML models.</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Operation Challenges</a:t>
            </a:r>
          </a:p>
          <a:p>
            <a:r>
              <a:rPr lang="en-US" sz="882" b="0" i="0" kern="1200" dirty="0" smtClean="0">
                <a:solidFill>
                  <a:schemeClr val="tx1"/>
                </a:solidFill>
                <a:effectLst/>
                <a:latin typeface="Segoe UI Light" pitchFamily="34" charset="0"/>
                <a:ea typeface="+mn-ea"/>
                <a:cs typeface="+mn-cs"/>
              </a:rPr>
              <a:t>2. But currently, our 'kitchen' is a bit chaotic. We face </a:t>
            </a:r>
            <a:r>
              <a:rPr lang="en-US" sz="882" b="1" i="0" kern="1200" dirty="0" smtClean="0">
                <a:solidFill>
                  <a:schemeClr val="tx1"/>
                </a:solidFill>
                <a:effectLst/>
                <a:latin typeface="Segoe UI Light" pitchFamily="34" charset="0"/>
                <a:ea typeface="+mn-ea"/>
                <a:cs typeface="+mn-cs"/>
              </a:rPr>
              <a:t>Operational Challenges</a:t>
            </a:r>
            <a:r>
              <a:rPr lang="en-US" sz="882" b="0" i="0" kern="1200" dirty="0" smtClean="0">
                <a:solidFill>
                  <a:schemeClr val="tx1"/>
                </a:solidFill>
                <a:effectLst/>
                <a:latin typeface="Segoe UI Light" pitchFamily="34" charset="0"/>
                <a:ea typeface="+mn-ea"/>
                <a:cs typeface="+mn-cs"/>
              </a:rPr>
              <a:t> like 'dependency conflicts.' Example is like Engineer complain</a:t>
            </a:r>
            <a:r>
              <a:rPr lang="en-US" sz="882" b="0" i="0" kern="1200" baseline="0" dirty="0" smtClean="0">
                <a:solidFill>
                  <a:schemeClr val="tx1"/>
                </a:solidFill>
                <a:effectLst/>
                <a:latin typeface="Segoe UI Light" pitchFamily="34" charset="0"/>
                <a:ea typeface="+mn-ea"/>
                <a:cs typeface="+mn-cs"/>
              </a:rPr>
              <a:t> </a:t>
            </a:r>
            <a:r>
              <a:rPr lang="en-US" sz="882" b="0" i="0" kern="1200" dirty="0" smtClean="0">
                <a:solidFill>
                  <a:schemeClr val="tx1"/>
                </a:solidFill>
                <a:effectLst/>
                <a:latin typeface="Segoe UI Light" pitchFamily="34" charset="0"/>
                <a:ea typeface="+mn-ea"/>
                <a:cs typeface="+mn-cs"/>
              </a:rPr>
              <a:t>'it works on my machine' problem—where one task needs Python version A, but another needs version B, and they just won't play nice together.</a:t>
            </a:r>
          </a:p>
          <a:p>
            <a:r>
              <a:rPr lang="en-US" sz="882" b="0" i="0" kern="1200" dirty="0" smtClean="0">
                <a:solidFill>
                  <a:schemeClr val="tx1"/>
                </a:solidFill>
                <a:effectLst/>
                <a:latin typeface="Segoe UI Light" pitchFamily="34" charset="0"/>
                <a:ea typeface="+mn-ea"/>
                <a:cs typeface="+mn-cs"/>
              </a:rPr>
              <a:t>3. Also for</a:t>
            </a:r>
            <a:r>
              <a:rPr lang="en-US" sz="882" b="0" i="0" kern="1200" baseline="0" dirty="0" smtClean="0">
                <a:solidFill>
                  <a:schemeClr val="tx1"/>
                </a:solidFill>
                <a:effectLst/>
                <a:latin typeface="Segoe UI Light" pitchFamily="34" charset="0"/>
                <a:ea typeface="+mn-ea"/>
                <a:cs typeface="+mn-cs"/>
              </a:rPr>
              <a:t> the senior role that managing the orchestration, u got </a:t>
            </a:r>
            <a:r>
              <a:rPr lang="en-US" sz="882" b="0" i="0" kern="1200" baseline="0" dirty="0" err="1" smtClean="0">
                <a:solidFill>
                  <a:schemeClr val="tx1"/>
                </a:solidFill>
                <a:effectLst/>
                <a:latin typeface="Segoe UI Light" pitchFamily="34" charset="0"/>
                <a:ea typeface="+mn-ea"/>
                <a:cs typeface="+mn-cs"/>
              </a:rPr>
              <a:t>yada</a:t>
            </a:r>
            <a:r>
              <a:rPr lang="en-US" sz="882" b="0" i="0" kern="1200" baseline="0" dirty="0" smtClean="0">
                <a:solidFill>
                  <a:schemeClr val="tx1"/>
                </a:solidFill>
                <a:effectLst/>
                <a:latin typeface="Segoe UI Light" pitchFamily="34" charset="0"/>
                <a:ea typeface="+mn-ea"/>
                <a:cs typeface="+mn-cs"/>
              </a:rPr>
              <a:t> </a:t>
            </a:r>
            <a:r>
              <a:rPr lang="en-US" sz="882" b="0" i="0" kern="1200" baseline="0" dirty="0" err="1" smtClean="0">
                <a:solidFill>
                  <a:schemeClr val="tx1"/>
                </a:solidFill>
                <a:effectLst/>
                <a:latin typeface="Segoe UI Light" pitchFamily="34" charset="0"/>
                <a:ea typeface="+mn-ea"/>
                <a:cs typeface="+mn-cs"/>
              </a:rPr>
              <a:t>yada</a:t>
            </a:r>
            <a:endParaRPr lang="en-US" sz="882" b="0" i="0" kern="1200" dirty="0" smtClean="0">
              <a:solidFill>
                <a:schemeClr val="tx1"/>
              </a:solidFill>
              <a:effectLst/>
              <a:latin typeface="Segoe UI Light" pitchFamily="34" charset="0"/>
              <a:ea typeface="+mn-ea"/>
              <a:cs typeface="+mn-cs"/>
            </a:endParaRPr>
          </a:p>
          <a:p>
            <a:pPr marL="0" marR="0" indent="0" algn="l" defTabSz="914367" rtl="0" eaLnBrk="1" fontAlgn="auto" latinLnBrk="0" hangingPunct="1">
              <a:lnSpc>
                <a:spcPct val="90000"/>
              </a:lnSpc>
              <a:spcBef>
                <a:spcPts val="0"/>
              </a:spcBef>
              <a:spcAft>
                <a:spcPts val="333"/>
              </a:spcAft>
              <a:buClrTx/>
              <a:buSzTx/>
              <a:buFontTx/>
              <a:buNone/>
              <a:tabLst/>
              <a:defRPr/>
            </a:pPr>
            <a:r>
              <a:rPr lang="en-US" sz="882" b="0" i="0" kern="1200" dirty="0" smtClean="0">
                <a:solidFill>
                  <a:schemeClr val="tx1"/>
                </a:solidFill>
                <a:effectLst/>
                <a:latin typeface="Segoe UI Light" pitchFamily="34" charset="0"/>
                <a:ea typeface="+mn-ea"/>
                <a:cs typeface="+mn-cs"/>
              </a:rPr>
              <a:t>4.</a:t>
            </a:r>
            <a:r>
              <a:rPr lang="en-US" sz="882" b="0" i="0" kern="1200" baseline="0" dirty="0" smtClean="0">
                <a:solidFill>
                  <a:schemeClr val="tx1"/>
                </a:solidFill>
                <a:effectLst/>
                <a:latin typeface="Segoe UI Light" pitchFamily="34" charset="0"/>
                <a:ea typeface="+mn-ea"/>
                <a:cs typeface="+mn-cs"/>
              </a:rPr>
              <a:t> Commonly </a:t>
            </a:r>
            <a:r>
              <a:rPr lang="en-US" sz="882" b="0" i="0" kern="1200" dirty="0" smtClean="0">
                <a:solidFill>
                  <a:schemeClr val="tx1"/>
                </a:solidFill>
                <a:effectLst/>
                <a:latin typeface="Segoe UI Light" pitchFamily="34" charset="0"/>
                <a:ea typeface="+mn-ea"/>
                <a:cs typeface="+mn-cs"/>
              </a:rPr>
              <a:t>also you’d struggle with </a:t>
            </a:r>
            <a:r>
              <a:rPr lang="en-US" sz="882" b="1" i="0" kern="1200" dirty="0" smtClean="0">
                <a:solidFill>
                  <a:schemeClr val="tx1"/>
                </a:solidFill>
                <a:effectLst/>
                <a:latin typeface="Segoe UI Light" pitchFamily="34" charset="0"/>
                <a:ea typeface="+mn-ea"/>
                <a:cs typeface="+mn-cs"/>
              </a:rPr>
              <a:t>Resource Inefficiency</a:t>
            </a:r>
            <a:r>
              <a:rPr lang="en-US" sz="882" b="0" i="0" kern="1200" dirty="0" smtClean="0">
                <a:solidFill>
                  <a:schemeClr val="tx1"/>
                </a:solidFill>
                <a:effectLst/>
                <a:latin typeface="Segoe UI Light" pitchFamily="34" charset="0"/>
                <a:ea typeface="+mn-ea"/>
                <a:cs typeface="+mn-cs"/>
              </a:rPr>
              <a:t>. In many old systems, we keep 'workers' (servers) running all the time even when they aren't doing anything, which is like paying kitchen staff to stand around waiting for an order. It’s expensive and hard to manage.</a:t>
            </a:r>
          </a:p>
          <a:p>
            <a:endParaRPr lang="en-US" sz="882" b="0" i="0" kern="1200" dirty="0" smtClean="0">
              <a:solidFill>
                <a:schemeClr val="tx1"/>
              </a:solidFill>
              <a:effectLst/>
              <a:latin typeface="Segoe UI Light" pitchFamily="34" charset="0"/>
              <a:ea typeface="+mn-ea"/>
              <a:cs typeface="+mn-cs"/>
            </a:endParaRPr>
          </a:p>
          <a:p>
            <a:r>
              <a:rPr lang="en-US" sz="882" b="0" i="0" kern="1200" dirty="0" smtClean="0">
                <a:solidFill>
                  <a:schemeClr val="tx1"/>
                </a:solidFill>
                <a:effectLst/>
                <a:latin typeface="Segoe UI Light" pitchFamily="34" charset="0"/>
                <a:ea typeface="+mn-ea"/>
                <a:cs typeface="+mn-cs"/>
              </a:rPr>
              <a:t>Workload</a:t>
            </a:r>
            <a:r>
              <a:rPr lang="en-US" sz="882" b="0" i="0" kern="1200" baseline="0" dirty="0" smtClean="0">
                <a:solidFill>
                  <a:schemeClr val="tx1"/>
                </a:solidFill>
                <a:effectLst/>
                <a:latin typeface="Segoe UI Light" pitchFamily="34" charset="0"/>
                <a:ea typeface="+mn-ea"/>
                <a:cs typeface="+mn-cs"/>
              </a:rPr>
              <a:t> Challenges</a:t>
            </a:r>
            <a:endParaRPr lang="en-US" sz="882" b="0" i="0" kern="1200" dirty="0" smtClean="0">
              <a:solidFill>
                <a:schemeClr val="tx1"/>
              </a:solidFill>
              <a:effectLst/>
              <a:latin typeface="Segoe UI Light" pitchFamily="34" charset="0"/>
              <a:ea typeface="+mn-ea"/>
              <a:cs typeface="+mn-cs"/>
            </a:endParaRPr>
          </a:p>
          <a:p>
            <a:r>
              <a:rPr lang="en-US" dirty="0" smtClean="0"/>
              <a:t>5. When comes to workload, its like every task</a:t>
            </a:r>
            <a:r>
              <a:rPr lang="en-US" baseline="0" dirty="0" smtClean="0"/>
              <a:t> having its own recipe, therefore may require different utensils .. Example of utensils is like spark, </a:t>
            </a:r>
            <a:r>
              <a:rPr lang="en-US" baseline="0" dirty="0" err="1" smtClean="0"/>
              <a:t>dbt</a:t>
            </a:r>
            <a:r>
              <a:rPr lang="en-US" baseline="0" dirty="0" smtClean="0"/>
              <a:t>, API , container </a:t>
            </a:r>
            <a:r>
              <a:rPr lang="en-US" baseline="0" dirty="0" err="1" smtClean="0"/>
              <a:t>etc</a:t>
            </a:r>
            <a:r>
              <a:rPr lang="en-US" baseline="0" dirty="0" smtClean="0"/>
              <a:t/>
            </a:r>
            <a:br>
              <a:rPr lang="en-US" baseline="0" dirty="0" smtClean="0"/>
            </a:br>
            <a:r>
              <a:rPr lang="en-US" baseline="0" dirty="0" smtClean="0"/>
              <a:t/>
            </a:r>
            <a:br>
              <a:rPr lang="en-US" baseline="0" dirty="0" smtClean="0"/>
            </a:br>
            <a:r>
              <a:rPr lang="en-US" baseline="0" dirty="0" smtClean="0"/>
              <a:t>Therefore for this, you may need a services that pretty much cater this situation by itself </a:t>
            </a:r>
            <a:endParaRPr lang="en-MY"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12:33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7392092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TLDR</a:t>
            </a:r>
          </a:p>
          <a:p>
            <a:pPr marL="228600" indent="-228600">
              <a:buAutoNum type="arabicPeriod"/>
            </a:pPr>
            <a:r>
              <a:rPr lang="en-US" sz="882" b="0" i="0" kern="1200" dirty="0" smtClean="0">
                <a:solidFill>
                  <a:schemeClr val="tx1"/>
                </a:solidFill>
                <a:effectLst/>
                <a:latin typeface="Segoe UI Light" pitchFamily="34" charset="0"/>
                <a:ea typeface="+mn-ea"/>
                <a:cs typeface="+mn-cs"/>
              </a:rPr>
              <a:t>So, enter Argo Workflows. It is 1 of category feature under Argo family</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The simplest way to describe it? It’s a </a:t>
            </a:r>
            <a:r>
              <a:rPr lang="en-US" sz="882" b="1" i="0" kern="1200" dirty="0" err="1" smtClean="0">
                <a:solidFill>
                  <a:schemeClr val="tx1"/>
                </a:solidFill>
                <a:effectLst/>
                <a:latin typeface="Segoe UI Light" pitchFamily="34" charset="0"/>
                <a:ea typeface="+mn-ea"/>
                <a:cs typeface="+mn-cs"/>
              </a:rPr>
              <a:t>Kubernetes</a:t>
            </a:r>
            <a:r>
              <a:rPr lang="en-US" sz="882" b="1" i="0" kern="1200" dirty="0" smtClean="0">
                <a:solidFill>
                  <a:schemeClr val="tx1"/>
                </a:solidFill>
                <a:effectLst/>
                <a:latin typeface="Segoe UI Light" pitchFamily="34" charset="0"/>
                <a:ea typeface="+mn-ea"/>
                <a:cs typeface="+mn-cs"/>
              </a:rPr>
              <a:t>-native engine</a:t>
            </a:r>
            <a:r>
              <a:rPr lang="en-US" sz="882" b="0" i="0" kern="1200" dirty="0" smtClean="0">
                <a:solidFill>
                  <a:schemeClr val="tx1"/>
                </a:solidFill>
                <a:effectLst/>
                <a:latin typeface="Segoe UI Light" pitchFamily="34" charset="0"/>
                <a:ea typeface="+mn-ea"/>
                <a:cs typeface="+mn-cs"/>
              </a:rPr>
              <a:t>. In plain English, it’s a system designed specifically to live inside </a:t>
            </a:r>
            <a:r>
              <a:rPr lang="en-US" sz="882" b="0" i="0" kern="1200" dirty="0" err="1" smtClean="0">
                <a:solidFill>
                  <a:schemeClr val="tx1"/>
                </a:solidFill>
                <a:effectLst/>
                <a:latin typeface="Segoe UI Light" pitchFamily="34" charset="0"/>
                <a:ea typeface="+mn-ea"/>
                <a:cs typeface="+mn-cs"/>
              </a:rPr>
              <a:t>Kubernetes</a:t>
            </a:r>
            <a:r>
              <a:rPr lang="en-US" sz="882" b="0" i="0" kern="1200" dirty="0" smtClean="0">
                <a:solidFill>
                  <a:schemeClr val="tx1"/>
                </a:solidFill>
                <a:effectLst/>
                <a:latin typeface="Segoe UI Light" pitchFamily="34" charset="0"/>
                <a:ea typeface="+mn-ea"/>
                <a:cs typeface="+mn-cs"/>
              </a:rPr>
              <a:t> and treat every single step of your work as a </a:t>
            </a:r>
            <a:r>
              <a:rPr lang="en-US" sz="882" b="1" i="0" kern="1200" dirty="0" smtClean="0">
                <a:solidFill>
                  <a:schemeClr val="tx1"/>
                </a:solidFill>
                <a:effectLst/>
                <a:latin typeface="Segoe UI Light" pitchFamily="34" charset="0"/>
                <a:ea typeface="+mn-ea"/>
                <a:cs typeface="+mn-cs"/>
              </a:rPr>
              <a:t>Pod</a:t>
            </a:r>
            <a:r>
              <a:rPr lang="en-US" sz="882" b="0" i="0" kern="1200" dirty="0" smtClean="0">
                <a:solidFill>
                  <a:schemeClr val="tx1"/>
                </a:solidFill>
                <a:effectLst/>
                <a:latin typeface="Segoe UI Light" pitchFamily="34" charset="0"/>
                <a:ea typeface="+mn-ea"/>
                <a:cs typeface="+mn-cs"/>
              </a:rPr>
              <a:t>.</a:t>
            </a:r>
          </a:p>
          <a:p>
            <a:pPr marL="228600" indent="-228600">
              <a:buAutoNum type="arabicPeriod"/>
            </a:pPr>
            <a:r>
              <a:rPr lang="en-US" sz="882" b="0" i="0" kern="1200" dirty="0" smtClean="0">
                <a:solidFill>
                  <a:schemeClr val="tx1"/>
                </a:solidFill>
                <a:effectLst/>
                <a:latin typeface="Segoe UI Light" pitchFamily="34" charset="0"/>
                <a:ea typeface="+mn-ea"/>
                <a:cs typeface="+mn-cs"/>
              </a:rPr>
              <a:t>Think of a </a:t>
            </a:r>
            <a:r>
              <a:rPr lang="en-US" sz="882" b="1" i="0" kern="1200" dirty="0" smtClean="0">
                <a:solidFill>
                  <a:schemeClr val="tx1"/>
                </a:solidFill>
                <a:effectLst/>
                <a:latin typeface="Segoe UI Light" pitchFamily="34" charset="0"/>
                <a:ea typeface="+mn-ea"/>
                <a:cs typeface="+mn-cs"/>
              </a:rPr>
              <a:t>Pod</a:t>
            </a:r>
            <a:r>
              <a:rPr lang="en-US" sz="882" b="0" i="0" kern="1200" dirty="0" smtClean="0">
                <a:solidFill>
                  <a:schemeClr val="tx1"/>
                </a:solidFill>
                <a:effectLst/>
                <a:latin typeface="Segoe UI Light" pitchFamily="34" charset="0"/>
                <a:ea typeface="+mn-ea"/>
                <a:cs typeface="+mn-cs"/>
              </a:rPr>
              <a:t> as a small, temporary shipping container. It holds everything that specific task needs to run. Once the task is done, the container disappears. No mess, no leftovers.</a:t>
            </a:r>
          </a:p>
          <a:p>
            <a:pPr marL="228600" indent="-228600">
              <a:buAutoNum type="arabicPeriod"/>
            </a:pPr>
            <a:endParaRPr lang="en-US" sz="882" b="0" i="0" kern="1200" dirty="0" smtClean="0">
              <a:solidFill>
                <a:schemeClr val="tx1"/>
              </a:solidFill>
              <a:effectLst/>
              <a:latin typeface="Segoe UI Light" pitchFamily="34" charset="0"/>
              <a:ea typeface="+mn-ea"/>
              <a:cs typeface="+mn-cs"/>
            </a:endParaRPr>
          </a:p>
          <a:p>
            <a:pPr marL="0" indent="0">
              <a:buNone/>
            </a:pPr>
            <a:r>
              <a:rPr lang="en-US" sz="882" b="0" i="0" kern="1200" dirty="0" smtClean="0">
                <a:solidFill>
                  <a:schemeClr val="tx1"/>
                </a:solidFill>
                <a:effectLst/>
                <a:latin typeface="Segoe UI Light" pitchFamily="34" charset="0"/>
                <a:ea typeface="+mn-ea"/>
                <a:cs typeface="+mn-cs"/>
              </a:rPr>
              <a:t>Core</a:t>
            </a:r>
            <a:r>
              <a:rPr lang="en-US" sz="882" b="0" i="0" kern="1200" baseline="0" dirty="0" smtClean="0">
                <a:solidFill>
                  <a:schemeClr val="tx1"/>
                </a:solidFill>
                <a:effectLst/>
                <a:latin typeface="Segoe UI Light" pitchFamily="34" charset="0"/>
                <a:ea typeface="+mn-ea"/>
                <a:cs typeface="+mn-cs"/>
              </a:rPr>
              <a:t> Concept</a:t>
            </a:r>
          </a:p>
          <a:p>
            <a:pPr marL="228600" indent="-228600">
              <a:buAutoNum type="arabicPeriod" startAt="3"/>
            </a:pPr>
            <a:r>
              <a:rPr lang="en-US" sz="882" b="0" i="0" kern="1200" baseline="0" dirty="0" smtClean="0">
                <a:solidFill>
                  <a:schemeClr val="tx1"/>
                </a:solidFill>
                <a:effectLst/>
                <a:latin typeface="Segoe UI Light" pitchFamily="34" charset="0"/>
                <a:ea typeface="+mn-ea"/>
                <a:cs typeface="+mn-cs"/>
              </a:rPr>
              <a:t>It have its own dedicated </a:t>
            </a:r>
            <a:r>
              <a:rPr lang="en-US" sz="882" b="1" i="0" kern="1200" baseline="0" dirty="0" smtClean="0">
                <a:solidFill>
                  <a:schemeClr val="tx1"/>
                </a:solidFill>
                <a:effectLst/>
                <a:latin typeface="Segoe UI Light" pitchFamily="34" charset="0"/>
                <a:ea typeface="+mn-ea"/>
                <a:cs typeface="+mn-cs"/>
              </a:rPr>
              <a:t>Custom Resource Definition </a:t>
            </a:r>
            <a:r>
              <a:rPr lang="en-US" sz="882" b="0" i="0" kern="1200" baseline="0" dirty="0" smtClean="0">
                <a:solidFill>
                  <a:schemeClr val="tx1"/>
                </a:solidFill>
                <a:effectLst/>
                <a:latin typeface="Segoe UI Light" pitchFamily="34" charset="0"/>
                <a:ea typeface="+mn-ea"/>
                <a:cs typeface="+mn-cs"/>
              </a:rPr>
              <a:t>of itself</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What is CRD? Basically it’s a </a:t>
            </a:r>
            <a:r>
              <a:rPr lang="en-US" sz="882" b="0" i="0" kern="1200" baseline="0" dirty="0" err="1" smtClean="0">
                <a:solidFill>
                  <a:schemeClr val="tx1"/>
                </a:solidFill>
                <a:effectLst/>
                <a:latin typeface="Segoe UI Light" pitchFamily="34" charset="0"/>
                <a:ea typeface="+mn-ea"/>
                <a:cs typeface="+mn-cs"/>
              </a:rPr>
              <a:t>kubernetes</a:t>
            </a:r>
            <a:r>
              <a:rPr lang="en-US" sz="882" b="0" i="0" kern="1200" baseline="0" dirty="0" smtClean="0">
                <a:solidFill>
                  <a:schemeClr val="tx1"/>
                </a:solidFill>
                <a:effectLst/>
                <a:latin typeface="Segoe UI Light" pitchFamily="34" charset="0"/>
                <a:ea typeface="+mn-ea"/>
                <a:cs typeface="+mn-cs"/>
              </a:rPr>
              <a:t> object, </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what is </a:t>
            </a:r>
            <a:r>
              <a:rPr lang="en-US" sz="882" b="0" i="0" kern="1200" baseline="0" dirty="0" err="1" smtClean="0">
                <a:solidFill>
                  <a:schemeClr val="tx1"/>
                </a:solidFill>
                <a:effectLst/>
                <a:latin typeface="Segoe UI Light" pitchFamily="34" charset="0"/>
                <a:ea typeface="+mn-ea"/>
                <a:cs typeface="+mn-cs"/>
              </a:rPr>
              <a:t>kubernetes</a:t>
            </a:r>
            <a:r>
              <a:rPr lang="en-US" sz="882" b="0" i="0" kern="1200" baseline="0" dirty="0" smtClean="0">
                <a:solidFill>
                  <a:schemeClr val="tx1"/>
                </a:solidFill>
                <a:effectLst/>
                <a:latin typeface="Segoe UI Light" pitchFamily="34" charset="0"/>
                <a:ea typeface="+mn-ea"/>
                <a:cs typeface="+mn-cs"/>
              </a:rPr>
              <a:t> object? I’ll show the example on next slides</a:t>
            </a:r>
          </a:p>
          <a:p>
            <a:pPr marL="228600" indent="-228600">
              <a:buAutoNum type="arabicPeriod" startAt="3"/>
            </a:pPr>
            <a:r>
              <a:rPr lang="en-US" sz="882" b="0" i="0" kern="1200" baseline="0" dirty="0" smtClean="0">
                <a:solidFill>
                  <a:schemeClr val="tx1"/>
                </a:solidFill>
                <a:effectLst/>
                <a:latin typeface="Segoe UI Light" pitchFamily="34" charset="0"/>
                <a:ea typeface="+mn-ea"/>
                <a:cs typeface="+mn-cs"/>
              </a:rPr>
              <a:t>It’s a container based execution</a:t>
            </a:r>
          </a:p>
          <a:p>
            <a:pPr marL="228600" indent="-228600">
              <a:buAutoNum type="arabicPeriod" startAt="3"/>
            </a:pPr>
            <a:r>
              <a:rPr lang="en-US" sz="882" b="0" i="0" kern="1200" baseline="0" dirty="0" smtClean="0">
                <a:solidFill>
                  <a:schemeClr val="tx1"/>
                </a:solidFill>
                <a:effectLst/>
                <a:latin typeface="Segoe UI Light" pitchFamily="34" charset="0"/>
                <a:ea typeface="+mn-ea"/>
                <a:cs typeface="+mn-cs"/>
              </a:rPr>
              <a:t>It’s manage via well-known YAML language, which main language for K8s itself to declare a manifest</a:t>
            </a:r>
          </a:p>
          <a:p>
            <a:pPr marL="228600" indent="-228600">
              <a:buAutoNum type="arabicPeriod" startAt="3"/>
            </a:pPr>
            <a:r>
              <a:rPr lang="en-US" sz="882" b="0" i="0" kern="1200" dirty="0" smtClean="0">
                <a:solidFill>
                  <a:schemeClr val="tx1"/>
                </a:solidFill>
                <a:effectLst/>
                <a:latin typeface="Segoe UI Light" pitchFamily="34" charset="0"/>
                <a:ea typeface="+mn-ea"/>
                <a:cs typeface="+mn-cs"/>
              </a:rPr>
              <a:t>It uses a </a:t>
            </a:r>
            <a:r>
              <a:rPr lang="en-US" sz="882" b="1" i="0" kern="1200" dirty="0" smtClean="0">
                <a:solidFill>
                  <a:schemeClr val="tx1"/>
                </a:solidFill>
                <a:effectLst/>
                <a:latin typeface="Segoe UI Light" pitchFamily="34" charset="0"/>
                <a:ea typeface="+mn-ea"/>
                <a:cs typeface="+mn-cs"/>
              </a:rPr>
              <a:t>DAG (Directed Acyclic Graph)</a:t>
            </a:r>
            <a:r>
              <a:rPr lang="en-US" sz="882" b="0" i="0" kern="1200" dirty="0" smtClean="0">
                <a:solidFill>
                  <a:schemeClr val="tx1"/>
                </a:solidFill>
                <a:effectLst/>
                <a:latin typeface="Segoe UI Light" pitchFamily="34" charset="0"/>
                <a:ea typeface="+mn-ea"/>
                <a:cs typeface="+mn-cs"/>
              </a:rPr>
              <a:t>. The definition</a:t>
            </a:r>
            <a:r>
              <a:rPr lang="en-US" sz="882" b="0" i="0" kern="1200" baseline="0" dirty="0" smtClean="0">
                <a:solidFill>
                  <a:schemeClr val="tx1"/>
                </a:solidFill>
                <a:effectLst/>
                <a:latin typeface="Segoe UI Light" pitchFamily="34" charset="0"/>
                <a:ea typeface="+mn-ea"/>
                <a:cs typeface="+mn-cs"/>
              </a:rPr>
              <a:t> may sound sophisticated and hard, actually </a:t>
            </a:r>
            <a:r>
              <a:rPr lang="en-US" sz="882" b="0" i="0" kern="1200" dirty="0" smtClean="0">
                <a:solidFill>
                  <a:schemeClr val="tx1"/>
                </a:solidFill>
                <a:effectLst/>
                <a:latin typeface="Segoe UI Light" pitchFamily="34" charset="0"/>
                <a:ea typeface="+mn-ea"/>
                <a:cs typeface="+mn-cs"/>
              </a:rPr>
              <a:t>it’s more like fancy way of saying a '</a:t>
            </a:r>
            <a:r>
              <a:rPr lang="en-US" sz="882" b="1" i="0" kern="1200" dirty="0" smtClean="0">
                <a:solidFill>
                  <a:schemeClr val="tx1"/>
                </a:solidFill>
                <a:effectLst/>
                <a:latin typeface="Segoe UI Light" pitchFamily="34" charset="0"/>
                <a:ea typeface="+mn-ea"/>
                <a:cs typeface="+mn-cs"/>
              </a:rPr>
              <a:t>one-way flow chart</a:t>
            </a:r>
            <a:r>
              <a:rPr lang="en-US" sz="882" b="0" i="0" kern="1200" dirty="0" smtClean="0">
                <a:solidFill>
                  <a:schemeClr val="tx1"/>
                </a:solidFill>
                <a:effectLst/>
                <a:latin typeface="Segoe UI Light" pitchFamily="34" charset="0"/>
                <a:ea typeface="+mn-ea"/>
                <a:cs typeface="+mn-cs"/>
              </a:rPr>
              <a:t>.' You define your steps in </a:t>
            </a:r>
            <a:r>
              <a:rPr lang="en-US" sz="882" b="1" i="0" kern="1200" dirty="0" smtClean="0">
                <a:solidFill>
                  <a:schemeClr val="tx1"/>
                </a:solidFill>
                <a:effectLst/>
                <a:latin typeface="Segoe UI Light" pitchFamily="34" charset="0"/>
                <a:ea typeface="+mn-ea"/>
                <a:cs typeface="+mn-cs"/>
              </a:rPr>
              <a:t>YAML</a:t>
            </a:r>
            <a:r>
              <a:rPr lang="en-US" sz="882" b="0" i="0" kern="1200" dirty="0" smtClean="0">
                <a:solidFill>
                  <a:schemeClr val="tx1"/>
                </a:solidFill>
                <a:effectLst/>
                <a:latin typeface="Segoe UI Light" pitchFamily="34" charset="0"/>
                <a:ea typeface="+mn-ea"/>
                <a:cs typeface="+mn-cs"/>
              </a:rPr>
              <a:t> (which is basically a structured grocery list), and Argo ensures Step A finishes before Step B starts.</a:t>
            </a:r>
          </a:p>
          <a:p>
            <a:pPr marL="228600" indent="-228600">
              <a:buAutoNum type="arabicPeriod" startAt="3"/>
            </a:pPr>
            <a:r>
              <a:rPr lang="en-US" sz="882" b="0" i="0" kern="1200" dirty="0" smtClean="0">
                <a:solidFill>
                  <a:schemeClr val="tx1"/>
                </a:solidFill>
                <a:effectLst/>
                <a:latin typeface="Segoe UI Light" pitchFamily="34" charset="0"/>
                <a:ea typeface="+mn-ea"/>
                <a:cs typeface="+mn-cs"/>
              </a:rPr>
              <a:t>It’s equip</a:t>
            </a:r>
            <a:r>
              <a:rPr lang="en-US" sz="882" b="0" i="0" kern="1200" baseline="0" dirty="0" smtClean="0">
                <a:solidFill>
                  <a:schemeClr val="tx1"/>
                </a:solidFill>
                <a:effectLst/>
                <a:latin typeface="Segoe UI Light" pitchFamily="34" charset="0"/>
                <a:ea typeface="+mn-ea"/>
                <a:cs typeface="+mn-cs"/>
              </a:rPr>
              <a:t> with poking mechanism which capable for event-driven design</a:t>
            </a:r>
          </a:p>
          <a:p>
            <a:pPr marL="228600" indent="-228600">
              <a:buAutoNum type="arabicPeriod" startAt="3"/>
            </a:pPr>
            <a:r>
              <a:rPr lang="en-US" sz="882" b="0" i="0" kern="1200" baseline="0" dirty="0" smtClean="0">
                <a:solidFill>
                  <a:schemeClr val="tx1"/>
                </a:solidFill>
                <a:effectLst/>
                <a:latin typeface="Segoe UI Light" pitchFamily="34" charset="0"/>
                <a:ea typeface="+mn-ea"/>
                <a:cs typeface="+mn-cs"/>
              </a:rPr>
              <a:t>And of courses CI/CD ready</a:t>
            </a:r>
          </a:p>
          <a:p>
            <a:pPr marL="228600" indent="-228600">
              <a:buAutoNum type="arabicPeriod" startAt="3"/>
            </a:pPr>
            <a:endParaRPr lang="en-US" sz="882" b="0" i="0" kern="1200" baseline="0" dirty="0" smtClean="0">
              <a:solidFill>
                <a:schemeClr val="tx1"/>
              </a:solidFill>
              <a:effectLst/>
              <a:latin typeface="Segoe UI Light" pitchFamily="34" charset="0"/>
              <a:ea typeface="+mn-ea"/>
              <a:cs typeface="+mn-cs"/>
            </a:endParaRPr>
          </a:p>
          <a:p>
            <a:pPr marL="228600" indent="-228600">
              <a:buAutoNum type="arabicPeriod" startAt="3"/>
            </a:pPr>
            <a:endParaRPr lang="en-US" sz="882" b="0" i="0" kern="1200" baseline="0" dirty="0" smtClean="0">
              <a:solidFill>
                <a:schemeClr val="tx1"/>
              </a:solidFill>
              <a:effectLst/>
              <a:latin typeface="Segoe UI Light" pitchFamily="34" charset="0"/>
              <a:ea typeface="+mn-ea"/>
              <a:cs typeface="+mn-cs"/>
            </a:endParaRPr>
          </a:p>
          <a:p>
            <a:pPr marL="0" indent="0">
              <a:buNone/>
            </a:pPr>
            <a:r>
              <a:rPr lang="en-US" sz="882" b="0" i="0" kern="1200" baseline="0" dirty="0" smtClean="0">
                <a:solidFill>
                  <a:schemeClr val="tx1"/>
                </a:solidFill>
                <a:effectLst/>
                <a:latin typeface="Segoe UI Light" pitchFamily="34" charset="0"/>
                <a:ea typeface="+mn-ea"/>
                <a:cs typeface="+mn-cs"/>
              </a:rPr>
              <a:t>Show Image</a:t>
            </a:r>
          </a:p>
          <a:p>
            <a:pPr marL="0" indent="0">
              <a:buNone/>
            </a:pPr>
            <a:endParaRPr lang="en-US" sz="882" b="0" i="0" kern="1200" dirty="0" smtClean="0">
              <a:solidFill>
                <a:schemeClr val="tx1"/>
              </a:solidFill>
              <a:effectLst/>
              <a:latin typeface="Segoe UI Light" pitchFamily="34" charset="0"/>
              <a:ea typeface="+mn-ea"/>
              <a:cs typeface="+mn-cs"/>
            </a:endParaRPr>
          </a:p>
          <a:p>
            <a:endParaRPr lang="en-MY"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12:33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20644790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i="0" kern="1200" dirty="0" smtClean="0">
                <a:solidFill>
                  <a:schemeClr val="tx1"/>
                </a:solidFill>
                <a:effectLst/>
                <a:latin typeface="Segoe UI Light" pitchFamily="34" charset="0"/>
                <a:ea typeface="+mn-ea"/>
                <a:cs typeface="+mn-cs"/>
              </a:rPr>
              <a:t>1.</a:t>
            </a:r>
            <a:r>
              <a:rPr lang="en-US" sz="882" b="0" i="0" kern="1200" baseline="0" dirty="0" smtClean="0">
                <a:solidFill>
                  <a:schemeClr val="tx1"/>
                </a:solidFill>
                <a:effectLst/>
                <a:latin typeface="Segoe UI Light" pitchFamily="34" charset="0"/>
                <a:ea typeface="+mn-ea"/>
                <a:cs typeface="+mn-cs"/>
              </a:rPr>
              <a:t> As nature of </a:t>
            </a:r>
            <a:r>
              <a:rPr lang="en-US" sz="882" b="0" i="0" kern="1200" dirty="0" smtClean="0">
                <a:solidFill>
                  <a:schemeClr val="tx1"/>
                </a:solidFill>
                <a:effectLst/>
                <a:latin typeface="Segoe UI Light" pitchFamily="34" charset="0"/>
                <a:ea typeface="+mn-ea"/>
                <a:cs typeface="+mn-cs"/>
              </a:rPr>
              <a:t>Argo lives inside </a:t>
            </a:r>
            <a:r>
              <a:rPr lang="en-US" sz="882" b="0" i="0" kern="1200" dirty="0" err="1" smtClean="0">
                <a:solidFill>
                  <a:schemeClr val="tx1"/>
                </a:solidFill>
                <a:effectLst/>
                <a:latin typeface="Segoe UI Light" pitchFamily="34" charset="0"/>
                <a:ea typeface="+mn-ea"/>
                <a:cs typeface="+mn-cs"/>
              </a:rPr>
              <a:t>Kubernetes</a:t>
            </a:r>
            <a:r>
              <a:rPr lang="en-US" sz="882" b="0" i="0" kern="1200" baseline="0" dirty="0" smtClean="0">
                <a:solidFill>
                  <a:schemeClr val="tx1"/>
                </a:solidFill>
                <a:effectLst/>
                <a:latin typeface="Segoe UI Light" pitchFamily="34" charset="0"/>
                <a:ea typeface="+mn-ea"/>
                <a:cs typeface="+mn-cs"/>
              </a:rPr>
              <a:t> itself</a:t>
            </a:r>
            <a:r>
              <a:rPr lang="en-US" sz="882" b="0" i="0" kern="1200" dirty="0" smtClean="0">
                <a:solidFill>
                  <a:schemeClr val="tx1"/>
                </a:solidFill>
                <a:effectLst/>
                <a:latin typeface="Segoe UI Light" pitchFamily="34" charset="0"/>
                <a:ea typeface="+mn-ea"/>
                <a:cs typeface="+mn-cs"/>
              </a:rPr>
              <a:t>, it gets all the 'superpowers' of K8s for free.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2. Here list</a:t>
            </a:r>
            <a:r>
              <a:rPr lang="en-US" sz="882" b="0" i="0" kern="1200" baseline="0" dirty="0" smtClean="0">
                <a:solidFill>
                  <a:schemeClr val="tx1"/>
                </a:solidFill>
                <a:effectLst/>
                <a:latin typeface="Segoe UI Light" pitchFamily="34" charset="0"/>
                <a:ea typeface="+mn-ea"/>
                <a:cs typeface="+mn-cs"/>
              </a:rPr>
              <a:t> of common well know features under K8s environment</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
            </a:r>
            <a:br>
              <a:rPr lang="en-US" sz="882" b="0" i="0" kern="1200" baseline="0" dirty="0" smtClean="0">
                <a:solidFill>
                  <a:schemeClr val="tx1"/>
                </a:solidFill>
                <a:effectLst/>
                <a:latin typeface="Segoe UI Light" pitchFamily="34" charset="0"/>
                <a:ea typeface="+mn-ea"/>
                <a:cs typeface="+mn-cs"/>
              </a:rPr>
            </a:br>
            <a:r>
              <a:rPr lang="en-US" sz="882" b="0" i="0" kern="1200" baseline="0" dirty="0" err="1" smtClean="0">
                <a:solidFill>
                  <a:schemeClr val="tx1"/>
                </a:solidFill>
                <a:effectLst/>
                <a:latin typeface="Segoe UI Light" pitchFamily="34" charset="0"/>
                <a:ea typeface="+mn-ea"/>
                <a:cs typeface="+mn-cs"/>
              </a:rPr>
              <a:t>Kubernetes</a:t>
            </a:r>
            <a:r>
              <a:rPr lang="en-US" sz="882" b="0" i="0" kern="1200" baseline="0" dirty="0" smtClean="0">
                <a:solidFill>
                  <a:schemeClr val="tx1"/>
                </a:solidFill>
                <a:effectLst/>
                <a:latin typeface="Segoe UI Light" pitchFamily="34" charset="0"/>
                <a:ea typeface="+mn-ea"/>
                <a:cs typeface="+mn-cs"/>
              </a:rPr>
              <a:t> Capability</a:t>
            </a: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3. </a:t>
            </a:r>
            <a:r>
              <a:rPr lang="en-US" sz="882" b="0" i="0" kern="1200" dirty="0" err="1" smtClean="0">
                <a:solidFill>
                  <a:schemeClr val="tx1"/>
                </a:solidFill>
                <a:effectLst/>
                <a:latin typeface="Segoe UI Light" pitchFamily="34" charset="0"/>
                <a:ea typeface="+mn-ea"/>
                <a:cs typeface="+mn-cs"/>
              </a:rPr>
              <a:t>Terang</a:t>
            </a:r>
            <a:r>
              <a:rPr lang="en-US" sz="882" b="0" i="0" kern="1200" baseline="0" dirty="0" smtClean="0">
                <a:solidFill>
                  <a:schemeClr val="tx1"/>
                </a:solidFill>
                <a:effectLst/>
                <a:latin typeface="Segoe UI Light" pitchFamily="34" charset="0"/>
                <a:ea typeface="+mn-ea"/>
                <a:cs typeface="+mn-cs"/>
              </a:rPr>
              <a:t> satu2 each k8s </a:t>
            </a:r>
            <a:r>
              <a:rPr lang="en-US" sz="882" b="0" i="0" kern="1200" baseline="0" dirty="0" err="1" smtClean="0">
                <a:solidFill>
                  <a:schemeClr val="tx1"/>
                </a:solidFill>
                <a:effectLst/>
                <a:latin typeface="Segoe UI Light" pitchFamily="34" charset="0"/>
                <a:ea typeface="+mn-ea"/>
                <a:cs typeface="+mn-cs"/>
              </a:rPr>
              <a:t>tu</a:t>
            </a:r>
            <a:r>
              <a:rPr lang="en-US" sz="882" b="0" i="0" kern="1200" baseline="0" dirty="0" smtClean="0">
                <a:solidFill>
                  <a:schemeClr val="tx1"/>
                </a:solidFill>
                <a:effectLst/>
                <a:latin typeface="Segoe UI Light" pitchFamily="34" charset="0"/>
                <a:ea typeface="+mn-ea"/>
                <a:cs typeface="+mn-cs"/>
              </a:rPr>
              <a:t> how </a:t>
            </a:r>
            <a:r>
              <a:rPr lang="en-US" sz="882" b="0" i="0" kern="1200" baseline="0" dirty="0" err="1" smtClean="0">
                <a:solidFill>
                  <a:schemeClr val="tx1"/>
                </a:solidFill>
                <a:effectLst/>
                <a:latin typeface="Segoe UI Light" pitchFamily="34" charset="0"/>
                <a:ea typeface="+mn-ea"/>
                <a:cs typeface="+mn-cs"/>
              </a:rPr>
              <a:t>argo</a:t>
            </a:r>
            <a:r>
              <a:rPr lang="en-US" sz="882" b="0" i="0" kern="1200" baseline="0" dirty="0" smtClean="0">
                <a:solidFill>
                  <a:schemeClr val="tx1"/>
                </a:solidFill>
                <a:effectLst/>
                <a:latin typeface="Segoe UI Light" pitchFamily="34" charset="0"/>
                <a:ea typeface="+mn-ea"/>
                <a:cs typeface="+mn-cs"/>
              </a:rPr>
              <a:t> pivot it</a:t>
            </a: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All of this </a:t>
            </a:r>
            <a:r>
              <a:rPr lang="en-US" sz="882" b="0" i="0" kern="1200" dirty="0" err="1" smtClean="0">
                <a:solidFill>
                  <a:schemeClr val="tx1"/>
                </a:solidFill>
                <a:effectLst/>
                <a:latin typeface="Segoe UI Light" pitchFamily="34" charset="0"/>
                <a:ea typeface="+mn-ea"/>
                <a:cs typeface="+mn-cs"/>
              </a:rPr>
              <a:t>kubernetes</a:t>
            </a:r>
            <a:r>
              <a:rPr lang="en-US" sz="882" b="0" i="0" kern="1200" dirty="0" smtClean="0">
                <a:solidFill>
                  <a:schemeClr val="tx1"/>
                </a:solidFill>
                <a:effectLst/>
                <a:latin typeface="Segoe UI Light" pitchFamily="34" charset="0"/>
                <a:ea typeface="+mn-ea"/>
                <a:cs typeface="+mn-cs"/>
              </a:rPr>
              <a:t> capability is what we call it </a:t>
            </a:r>
            <a:r>
              <a:rPr lang="en-US" sz="882" b="0" i="0" kern="1200" dirty="0" err="1" smtClean="0">
                <a:solidFill>
                  <a:schemeClr val="tx1"/>
                </a:solidFill>
                <a:effectLst/>
                <a:latin typeface="Segoe UI Light" pitchFamily="34" charset="0"/>
                <a:ea typeface="+mn-ea"/>
                <a:cs typeface="+mn-cs"/>
              </a:rPr>
              <a:t>kubernetes</a:t>
            </a:r>
            <a:r>
              <a:rPr lang="en-US" sz="882" b="0" i="0" kern="1200" dirty="0" smtClean="0">
                <a:solidFill>
                  <a:schemeClr val="tx1"/>
                </a:solidFill>
                <a:effectLst/>
                <a:latin typeface="Segoe UI Light" pitchFamily="34" charset="0"/>
                <a:ea typeface="+mn-ea"/>
                <a:cs typeface="+mn-cs"/>
              </a:rPr>
              <a:t> object</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4. So basically Argo does not basically</a:t>
            </a:r>
            <a:r>
              <a:rPr lang="en-US" sz="882" b="0" i="0" kern="1200" baseline="0" dirty="0" smtClean="0">
                <a:solidFill>
                  <a:schemeClr val="tx1"/>
                </a:solidFill>
                <a:effectLst/>
                <a:latin typeface="Segoe UI Light" pitchFamily="34" charset="0"/>
                <a:ea typeface="+mn-ea"/>
                <a:cs typeface="+mn-cs"/>
              </a:rPr>
              <a:t> integrate with </a:t>
            </a:r>
            <a:r>
              <a:rPr lang="en-US" sz="882" b="0" i="0" kern="1200" baseline="0" dirty="0" err="1" smtClean="0">
                <a:solidFill>
                  <a:schemeClr val="tx1"/>
                </a:solidFill>
                <a:effectLst/>
                <a:latin typeface="Segoe UI Light" pitchFamily="34" charset="0"/>
                <a:ea typeface="+mn-ea"/>
                <a:cs typeface="+mn-cs"/>
              </a:rPr>
              <a:t>Kubernetes</a:t>
            </a:r>
            <a:r>
              <a:rPr lang="en-US" sz="882" b="0" i="0" kern="1200" baseline="0" dirty="0" smtClean="0">
                <a:solidFill>
                  <a:schemeClr val="tx1"/>
                </a:solidFill>
                <a:effectLst/>
                <a:latin typeface="Segoe UI Light" pitchFamily="34" charset="0"/>
                <a:ea typeface="+mn-ea"/>
                <a:cs typeface="+mn-cs"/>
              </a:rPr>
              <a:t>, its actually emphasize the </a:t>
            </a:r>
            <a:r>
              <a:rPr lang="en-US" sz="882" b="0" i="0" kern="1200" baseline="0" dirty="0" err="1" smtClean="0">
                <a:solidFill>
                  <a:schemeClr val="tx1"/>
                </a:solidFill>
                <a:effectLst/>
                <a:latin typeface="Segoe UI Light" pitchFamily="34" charset="0"/>
                <a:ea typeface="+mn-ea"/>
                <a:cs typeface="+mn-cs"/>
              </a:rPr>
              <a:t>kubernetes</a:t>
            </a:r>
            <a:r>
              <a:rPr lang="en-US" sz="882" b="0" i="0" kern="1200" baseline="0" dirty="0" smtClean="0">
                <a:solidFill>
                  <a:schemeClr val="tx1"/>
                </a:solidFill>
                <a:effectLst/>
                <a:latin typeface="Segoe UI Light" pitchFamily="34" charset="0"/>
                <a:ea typeface="+mn-ea"/>
                <a:cs typeface="+mn-cs"/>
              </a:rPr>
              <a:t> native philosophy</a:t>
            </a: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For example, it uses </a:t>
            </a:r>
            <a:r>
              <a:rPr lang="en-US" sz="882" b="1" i="0" kern="1200" dirty="0" smtClean="0">
                <a:solidFill>
                  <a:schemeClr val="tx1"/>
                </a:solidFill>
                <a:effectLst/>
                <a:latin typeface="Segoe UI Light" pitchFamily="34" charset="0"/>
                <a:ea typeface="+mn-ea"/>
                <a:cs typeface="+mn-cs"/>
              </a:rPr>
              <a:t>Namespaces</a:t>
            </a:r>
            <a:r>
              <a:rPr lang="en-US" sz="882" b="0" i="0" kern="1200" dirty="0" smtClean="0">
                <a:solidFill>
                  <a:schemeClr val="tx1"/>
                </a:solidFill>
                <a:effectLst/>
                <a:latin typeface="Segoe UI Light" pitchFamily="34" charset="0"/>
                <a:ea typeface="+mn-ea"/>
                <a:cs typeface="+mn-cs"/>
              </a:rPr>
              <a:t>. Imagine your company has 10 different teams; Namespaces are like separate, soundproof offices so Team A’s work doesn't accidentally mess up Team B’s work."</a:t>
            </a:r>
          </a:p>
          <a:p>
            <a:r>
              <a:rPr lang="en-US" sz="882" b="0" i="0" kern="1200" dirty="0" smtClean="0">
                <a:solidFill>
                  <a:schemeClr val="tx1"/>
                </a:solidFill>
                <a:effectLst/>
                <a:latin typeface="Segoe UI Light" pitchFamily="34" charset="0"/>
                <a:ea typeface="+mn-ea"/>
                <a:cs typeface="+mn-cs"/>
              </a:rPr>
              <a:t>"It also handles </a:t>
            </a:r>
            <a:r>
              <a:rPr lang="en-US" sz="882" b="1" i="0" kern="1200" dirty="0" err="1" smtClean="0">
                <a:solidFill>
                  <a:schemeClr val="tx1"/>
                </a:solidFill>
                <a:effectLst/>
                <a:latin typeface="Segoe UI Light" pitchFamily="34" charset="0"/>
                <a:ea typeface="+mn-ea"/>
                <a:cs typeface="+mn-cs"/>
              </a:rPr>
              <a:t>AutoScaling</a:t>
            </a:r>
            <a:r>
              <a:rPr lang="en-US" sz="882" b="0" i="0" kern="1200" dirty="0" smtClean="0">
                <a:solidFill>
                  <a:schemeClr val="tx1"/>
                </a:solidFill>
                <a:effectLst/>
                <a:latin typeface="Segoe UI Light" pitchFamily="34" charset="0"/>
                <a:ea typeface="+mn-ea"/>
                <a:cs typeface="+mn-cs"/>
              </a:rPr>
              <a:t>. If you suddenly have 1,000 tasks to do at 2:00 AM, </a:t>
            </a:r>
            <a:r>
              <a:rPr lang="en-US" sz="882" b="0" i="0" kern="1200" dirty="0" err="1" smtClean="0">
                <a:solidFill>
                  <a:schemeClr val="tx1"/>
                </a:solidFill>
                <a:effectLst/>
                <a:latin typeface="Segoe UI Light" pitchFamily="34" charset="0"/>
                <a:ea typeface="+mn-ea"/>
                <a:cs typeface="+mn-cs"/>
              </a:rPr>
              <a:t>Kubernetes</a:t>
            </a:r>
            <a:r>
              <a:rPr lang="en-US" sz="882" b="0" i="0" kern="1200" dirty="0" smtClean="0">
                <a:solidFill>
                  <a:schemeClr val="tx1"/>
                </a:solidFill>
                <a:effectLst/>
                <a:latin typeface="Segoe UI Light" pitchFamily="34" charset="0"/>
                <a:ea typeface="+mn-ea"/>
                <a:cs typeface="+mn-cs"/>
              </a:rPr>
              <a:t> just 'hires' more virtual workers to handle the load and 'fires' them when the work is done. You only pay for what you actually use."</a:t>
            </a:r>
          </a:p>
          <a:p>
            <a:r>
              <a:rPr lang="en-US" sz="882" b="0" i="0" kern="1200" dirty="0" smtClean="0">
                <a:solidFill>
                  <a:schemeClr val="tx1"/>
                </a:solidFill>
                <a:effectLst/>
                <a:latin typeface="Segoe UI Light" pitchFamily="34" charset="0"/>
                <a:ea typeface="+mn-ea"/>
                <a:cs typeface="+mn-cs"/>
              </a:rPr>
              <a:t>"It also uses </a:t>
            </a:r>
            <a:r>
              <a:rPr lang="en-US" sz="882" b="1" i="0" kern="1200" dirty="0" smtClean="0">
                <a:solidFill>
                  <a:schemeClr val="tx1"/>
                </a:solidFill>
                <a:effectLst/>
                <a:latin typeface="Segoe UI Light" pitchFamily="34" charset="0"/>
                <a:ea typeface="+mn-ea"/>
                <a:cs typeface="+mn-cs"/>
              </a:rPr>
              <a:t>Secrets</a:t>
            </a:r>
            <a:r>
              <a:rPr lang="en-US" sz="882" b="0" i="0" kern="1200" dirty="0" smtClean="0">
                <a:solidFill>
                  <a:schemeClr val="tx1"/>
                </a:solidFill>
                <a:effectLst/>
                <a:latin typeface="Segoe UI Light" pitchFamily="34" charset="0"/>
                <a:ea typeface="+mn-ea"/>
                <a:cs typeface="+mn-cs"/>
              </a:rPr>
              <a:t>—this is like a secure vault for your passwords and API keys—so your sensitive data isn't just floating around in plain text."</a:t>
            </a:r>
          </a:p>
          <a:p>
            <a:endParaRPr lang="en-MY"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12:33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248069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endParaRPr lang="en-US" sz="882" b="0" kern="1200" dirty="0" smtClean="0">
              <a:solidFill>
                <a:schemeClr val="tx1"/>
              </a:solidFill>
              <a:effectLst/>
              <a:latin typeface="Segoe UI Light" pitchFamily="34" charset="0"/>
              <a:ea typeface="+mn-ea"/>
              <a:cs typeface="+mn-cs"/>
            </a:endParaRPr>
          </a:p>
          <a:p>
            <a:pPr algn="just"/>
            <a:r>
              <a:rPr lang="en-US" sz="882" b="0" kern="1200" dirty="0" smtClean="0">
                <a:solidFill>
                  <a:schemeClr val="tx1"/>
                </a:solidFill>
                <a:effectLst/>
                <a:latin typeface="Segoe UI Light" pitchFamily="34" charset="0"/>
                <a:ea typeface="+mn-ea"/>
                <a:cs typeface="+mn-cs"/>
              </a:rPr>
              <a:t>1. </a:t>
            </a:r>
            <a:r>
              <a:rPr lang="en-US" sz="882" b="0" i="0" kern="1200" dirty="0" smtClean="0">
                <a:solidFill>
                  <a:schemeClr val="tx1"/>
                </a:solidFill>
                <a:effectLst/>
                <a:latin typeface="Segoe UI Light" pitchFamily="34" charset="0"/>
                <a:ea typeface="+mn-ea"/>
                <a:cs typeface="+mn-cs"/>
              </a:rPr>
              <a:t>Now, let’s talk security. </a:t>
            </a:r>
            <a:r>
              <a:rPr lang="en-US" sz="882" b="0" kern="1200" dirty="0" smtClean="0">
                <a:solidFill>
                  <a:schemeClr val="tx1"/>
                </a:solidFill>
                <a:effectLst/>
                <a:latin typeface="Segoe UI Light" pitchFamily="34" charset="0"/>
                <a:ea typeface="+mn-ea"/>
                <a:cs typeface="+mn-cs"/>
              </a:rPr>
              <a:t>Before we start, maybe</a:t>
            </a:r>
            <a:r>
              <a:rPr lang="en-US" sz="882" b="0" kern="1200" baseline="0" dirty="0" smtClean="0">
                <a:solidFill>
                  <a:schemeClr val="tx1"/>
                </a:solidFill>
                <a:effectLst/>
                <a:latin typeface="Segoe UI Light" pitchFamily="34" charset="0"/>
                <a:ea typeface="+mn-ea"/>
                <a:cs typeface="+mn-cs"/>
              </a:rPr>
              <a:t> I can help to clear up the silver lining of what is Authentication and what is Authorization</a:t>
            </a:r>
            <a:endParaRPr lang="en-US" sz="882" b="0" kern="1200" dirty="0" smtClean="0">
              <a:solidFill>
                <a:schemeClr val="tx1"/>
              </a:solidFill>
              <a:effectLst/>
              <a:latin typeface="Segoe UI Light" pitchFamily="34" charset="0"/>
              <a:ea typeface="+mn-ea"/>
              <a:cs typeface="+mn-cs"/>
            </a:endParaRPr>
          </a:p>
          <a:p>
            <a:pPr fontAlgn="base"/>
            <a:r>
              <a:rPr lang="en-US" sz="882" b="0" i="0" kern="1200" dirty="0" smtClean="0">
                <a:solidFill>
                  <a:schemeClr val="tx1"/>
                </a:solidFill>
                <a:effectLst/>
                <a:latin typeface="Segoe UI Light" pitchFamily="34" charset="0"/>
                <a:ea typeface="+mn-ea"/>
                <a:cs typeface="+mn-cs"/>
              </a:rPr>
              <a:t>Authentication: Is a way for u to confirms the user’s identity</a:t>
            </a:r>
            <a:r>
              <a:rPr lang="en-US" sz="882" b="0" i="0" kern="1200" baseline="0" dirty="0" smtClean="0">
                <a:solidFill>
                  <a:schemeClr val="tx1"/>
                </a:solidFill>
                <a:effectLst/>
                <a:latin typeface="Segoe UI Light" pitchFamily="34" charset="0"/>
                <a:ea typeface="+mn-ea"/>
                <a:cs typeface="+mn-cs"/>
              </a:rPr>
              <a:t> to access upon certain system</a:t>
            </a:r>
            <a:endParaRPr lang="en-US" sz="882" b="0" i="0" kern="1200" dirty="0" smtClean="0">
              <a:solidFill>
                <a:schemeClr val="tx1"/>
              </a:solidFill>
              <a:effectLst/>
              <a:latin typeface="Segoe UI Light" pitchFamily="34" charset="0"/>
              <a:ea typeface="+mn-ea"/>
              <a:cs typeface="+mn-cs"/>
            </a:endParaRPr>
          </a:p>
          <a:p>
            <a:pPr fontAlgn="base"/>
            <a:r>
              <a:rPr lang="en-US" sz="882" b="0" i="0" kern="1200" dirty="0" smtClean="0">
                <a:solidFill>
                  <a:schemeClr val="tx1"/>
                </a:solidFill>
                <a:effectLst/>
                <a:latin typeface="Segoe UI Light" pitchFamily="34" charset="0"/>
                <a:ea typeface="+mn-ea"/>
                <a:cs typeface="+mn-cs"/>
              </a:rPr>
              <a:t>Authorization: Is a way for u to determines upon the authenticated</a:t>
            </a:r>
            <a:r>
              <a:rPr lang="en-US" sz="882" b="0" i="0" kern="1200" baseline="0" dirty="0" smtClean="0">
                <a:solidFill>
                  <a:schemeClr val="tx1"/>
                </a:solidFill>
                <a:effectLst/>
                <a:latin typeface="Segoe UI Light" pitchFamily="34" charset="0"/>
                <a:ea typeface="+mn-ea"/>
                <a:cs typeface="+mn-cs"/>
              </a:rPr>
              <a:t> user, </a:t>
            </a:r>
            <a:r>
              <a:rPr lang="en-US" sz="882" b="0" i="0" kern="1200" dirty="0" smtClean="0">
                <a:solidFill>
                  <a:schemeClr val="tx1"/>
                </a:solidFill>
                <a:effectLst/>
                <a:latin typeface="Segoe UI Light" pitchFamily="34" charset="0"/>
                <a:ea typeface="+mn-ea"/>
                <a:cs typeface="+mn-cs"/>
              </a:rPr>
              <a:t>what does</a:t>
            </a:r>
            <a:r>
              <a:rPr lang="en-US" sz="882" b="0" i="0" kern="1200" baseline="0" dirty="0" smtClean="0">
                <a:solidFill>
                  <a:schemeClr val="tx1"/>
                </a:solidFill>
                <a:effectLst/>
                <a:latin typeface="Segoe UI Light" pitchFamily="34" charset="0"/>
                <a:ea typeface="+mn-ea"/>
                <a:cs typeface="+mn-cs"/>
              </a:rPr>
              <a:t> the </a:t>
            </a:r>
            <a:r>
              <a:rPr lang="en-US" sz="882" b="0" i="0" kern="1200" dirty="0" smtClean="0">
                <a:solidFill>
                  <a:schemeClr val="tx1"/>
                </a:solidFill>
                <a:effectLst/>
                <a:latin typeface="Segoe UI Light" pitchFamily="34" charset="0"/>
                <a:ea typeface="+mn-ea"/>
                <a:cs typeface="+mn-cs"/>
              </a:rPr>
              <a:t>verified user is allowed to access or perform</a:t>
            </a:r>
            <a:r>
              <a:rPr lang="en-US" sz="882" b="0" i="0" kern="1200" baseline="0" dirty="0" smtClean="0">
                <a:solidFill>
                  <a:schemeClr val="tx1"/>
                </a:solidFill>
                <a:effectLst/>
                <a:latin typeface="Segoe UI Light" pitchFamily="34" charset="0"/>
                <a:ea typeface="+mn-ea"/>
                <a:cs typeface="+mn-cs"/>
              </a:rPr>
              <a:t> under </a:t>
            </a:r>
            <a:r>
              <a:rPr lang="en-US" sz="882" b="0" i="0" kern="1200" baseline="0" dirty="0" err="1" smtClean="0">
                <a:solidFill>
                  <a:schemeClr val="tx1"/>
                </a:solidFill>
                <a:effectLst/>
                <a:latin typeface="Segoe UI Light" pitchFamily="34" charset="0"/>
                <a:ea typeface="+mn-ea"/>
                <a:cs typeface="+mn-cs"/>
              </a:rPr>
              <a:t>ur</a:t>
            </a:r>
            <a:r>
              <a:rPr lang="en-US" sz="882" b="0" i="0" kern="1200" baseline="0" dirty="0" smtClean="0">
                <a:solidFill>
                  <a:schemeClr val="tx1"/>
                </a:solidFill>
                <a:effectLst/>
                <a:latin typeface="Segoe UI Light" pitchFamily="34" charset="0"/>
                <a:ea typeface="+mn-ea"/>
                <a:cs typeface="+mn-cs"/>
              </a:rPr>
              <a:t> system</a:t>
            </a:r>
            <a:endParaRPr lang="en-US" sz="882" b="0" i="0" kern="1200" dirty="0" smtClean="0">
              <a:solidFill>
                <a:schemeClr val="tx1"/>
              </a:solidFill>
              <a:effectLst/>
              <a:latin typeface="Segoe UI Light" pitchFamily="34" charset="0"/>
              <a:ea typeface="+mn-ea"/>
              <a:cs typeface="+mn-cs"/>
            </a:endParaRPr>
          </a:p>
          <a:p>
            <a:r>
              <a:rPr lang="en-US" dirty="0" smtClean="0"/>
              <a:t/>
            </a:r>
            <a:br>
              <a:rPr lang="en-US" dirty="0" smtClean="0"/>
            </a:br>
            <a:r>
              <a:rPr lang="en-US" dirty="0" smtClean="0"/>
              <a:t>Authentication</a:t>
            </a:r>
          </a:p>
          <a:p>
            <a:r>
              <a:rPr lang="en-US" sz="882" b="0" i="0" kern="1200" dirty="0" smtClean="0">
                <a:solidFill>
                  <a:schemeClr val="tx1"/>
                </a:solidFill>
                <a:effectLst/>
                <a:latin typeface="Segoe UI Light" pitchFamily="34" charset="0"/>
                <a:ea typeface="+mn-ea"/>
                <a:cs typeface="+mn-cs"/>
              </a:rPr>
              <a:t>2.</a:t>
            </a:r>
            <a:r>
              <a:rPr lang="en-US" sz="882" b="0" i="0" kern="1200" baseline="0" dirty="0" smtClean="0">
                <a:solidFill>
                  <a:schemeClr val="tx1"/>
                </a:solidFill>
                <a:effectLst/>
                <a:latin typeface="Segoe UI Light" pitchFamily="34" charset="0"/>
                <a:ea typeface="+mn-ea"/>
                <a:cs typeface="+mn-cs"/>
              </a:rPr>
              <a:t> </a:t>
            </a:r>
            <a:r>
              <a:rPr lang="en-US" sz="882" b="0" i="0" kern="1200" dirty="0" smtClean="0">
                <a:solidFill>
                  <a:schemeClr val="tx1"/>
                </a:solidFill>
                <a:effectLst/>
                <a:latin typeface="Segoe UI Light" pitchFamily="34" charset="0"/>
                <a:ea typeface="+mn-ea"/>
                <a:cs typeface="+mn-cs"/>
              </a:rPr>
              <a:t>We don't want just anyone clicking 'delete' on our pipelines. We use </a:t>
            </a:r>
            <a:r>
              <a:rPr lang="en-US" sz="882" b="1" i="0" kern="1200" dirty="0" smtClean="0">
                <a:solidFill>
                  <a:schemeClr val="tx1"/>
                </a:solidFill>
                <a:effectLst/>
                <a:latin typeface="Segoe UI Light" pitchFamily="34" charset="0"/>
                <a:ea typeface="+mn-ea"/>
                <a:cs typeface="+mn-cs"/>
              </a:rPr>
              <a:t>Authentication</a:t>
            </a:r>
            <a:r>
              <a:rPr lang="en-US" sz="882" b="0" i="0" kern="1200" dirty="0" smtClean="0">
                <a:solidFill>
                  <a:schemeClr val="tx1"/>
                </a:solidFill>
                <a:effectLst/>
                <a:latin typeface="Segoe UI Light" pitchFamily="34" charset="0"/>
                <a:ea typeface="+mn-ea"/>
                <a:cs typeface="+mn-cs"/>
              </a:rPr>
              <a:t> to verify </a:t>
            </a:r>
            <a:r>
              <a:rPr lang="en-US" sz="882" b="0" i="1" kern="1200" dirty="0" smtClean="0">
                <a:solidFill>
                  <a:schemeClr val="tx1"/>
                </a:solidFill>
                <a:effectLst/>
                <a:latin typeface="Segoe UI Light" pitchFamily="34" charset="0"/>
                <a:ea typeface="+mn-ea"/>
                <a:cs typeface="+mn-cs"/>
              </a:rPr>
              <a:t>who</a:t>
            </a:r>
            <a:r>
              <a:rPr lang="en-US" sz="882" b="0" i="0" kern="1200" dirty="0" smtClean="0">
                <a:solidFill>
                  <a:schemeClr val="tx1"/>
                </a:solidFill>
                <a:effectLst/>
                <a:latin typeface="Segoe UI Light" pitchFamily="34" charset="0"/>
                <a:ea typeface="+mn-ea"/>
                <a:cs typeface="+mn-cs"/>
              </a:rPr>
              <a:t> you are. We can link this to </a:t>
            </a:r>
            <a:r>
              <a:rPr lang="en-US" sz="882" b="1" i="0" kern="1200" dirty="0" smtClean="0">
                <a:solidFill>
                  <a:schemeClr val="tx1"/>
                </a:solidFill>
                <a:effectLst/>
                <a:latin typeface="Segoe UI Light" pitchFamily="34" charset="0"/>
                <a:ea typeface="+mn-ea"/>
                <a:cs typeface="+mn-cs"/>
              </a:rPr>
              <a:t>SSO (Single Sign-On)</a:t>
            </a:r>
            <a:r>
              <a:rPr lang="en-US" sz="882" b="0" i="0" kern="1200" dirty="0" smtClean="0">
                <a:solidFill>
                  <a:schemeClr val="tx1"/>
                </a:solidFill>
                <a:effectLst/>
                <a:latin typeface="Segoe UI Light" pitchFamily="34" charset="0"/>
                <a:ea typeface="+mn-ea"/>
                <a:cs typeface="+mn-cs"/>
              </a:rPr>
              <a:t> like </a:t>
            </a:r>
            <a:r>
              <a:rPr lang="en-US" sz="882" b="0" i="0" kern="1200" dirty="0" err="1" smtClean="0">
                <a:solidFill>
                  <a:schemeClr val="tx1"/>
                </a:solidFill>
                <a:effectLst/>
                <a:latin typeface="Segoe UI Light" pitchFamily="34" charset="0"/>
                <a:ea typeface="+mn-ea"/>
                <a:cs typeface="+mn-cs"/>
              </a:rPr>
              <a:t>KeyCloak</a:t>
            </a:r>
            <a:r>
              <a:rPr lang="en-US" sz="882" b="0" i="0" kern="1200" dirty="0" smtClean="0">
                <a:solidFill>
                  <a:schemeClr val="tx1"/>
                </a:solidFill>
                <a:effectLst/>
                <a:latin typeface="Segoe UI Light" pitchFamily="34" charset="0"/>
                <a:ea typeface="+mn-ea"/>
                <a:cs typeface="+mn-cs"/>
              </a:rPr>
              <a:t> or </a:t>
            </a:r>
            <a:r>
              <a:rPr lang="en-US" sz="882" b="0" i="0" kern="1200" dirty="0" err="1" smtClean="0">
                <a:solidFill>
                  <a:schemeClr val="tx1"/>
                </a:solidFill>
                <a:effectLst/>
                <a:latin typeface="Segoe UI Light" pitchFamily="34" charset="0"/>
                <a:ea typeface="+mn-ea"/>
                <a:cs typeface="+mn-cs"/>
              </a:rPr>
              <a:t>Dex</a:t>
            </a:r>
            <a:r>
              <a:rPr lang="en-US" sz="882" b="0" i="0" kern="1200" dirty="0" smtClean="0">
                <a:solidFill>
                  <a:schemeClr val="tx1"/>
                </a:solidFill>
                <a:effectLst/>
                <a:latin typeface="Segoe UI Light" pitchFamily="34" charset="0"/>
                <a:ea typeface="+mn-ea"/>
                <a:cs typeface="+mn-cs"/>
              </a:rPr>
              <a:t>, so you can log in with your existing company ID.</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FYI</a:t>
            </a:r>
            <a:r>
              <a:rPr lang="en-US" sz="882" b="0" i="0" kern="1200" baseline="0" dirty="0" smtClean="0">
                <a:solidFill>
                  <a:schemeClr val="tx1"/>
                </a:solidFill>
                <a:effectLst/>
                <a:latin typeface="Segoe UI Light" pitchFamily="34" charset="0"/>
                <a:ea typeface="+mn-ea"/>
                <a:cs typeface="+mn-cs"/>
              </a:rPr>
              <a:t> to anyone that never heard of it, </a:t>
            </a:r>
            <a:r>
              <a:rPr lang="en-US" sz="882" b="1" i="0" kern="1200" baseline="0" dirty="0" err="1" smtClean="0">
                <a:solidFill>
                  <a:schemeClr val="tx1"/>
                </a:solidFill>
                <a:effectLst/>
                <a:latin typeface="Segoe UI Light" pitchFamily="34" charset="0"/>
                <a:ea typeface="+mn-ea"/>
                <a:cs typeface="+mn-cs"/>
              </a:rPr>
              <a:t>KeyCloak</a:t>
            </a:r>
            <a:r>
              <a:rPr lang="en-US" sz="882" b="1" i="0" kern="1200" baseline="0" dirty="0" smtClean="0">
                <a:solidFill>
                  <a:schemeClr val="tx1"/>
                </a:solidFill>
                <a:effectLst/>
                <a:latin typeface="Segoe UI Light" pitchFamily="34" charset="0"/>
                <a:ea typeface="+mn-ea"/>
                <a:cs typeface="+mn-cs"/>
              </a:rPr>
              <a:t> or </a:t>
            </a:r>
            <a:r>
              <a:rPr lang="en-US" sz="882" b="1" i="0" kern="1200" baseline="0" dirty="0" err="1" smtClean="0">
                <a:solidFill>
                  <a:schemeClr val="tx1"/>
                </a:solidFill>
                <a:effectLst/>
                <a:latin typeface="Segoe UI Light" pitchFamily="34" charset="0"/>
                <a:ea typeface="+mn-ea"/>
                <a:cs typeface="+mn-cs"/>
              </a:rPr>
              <a:t>Dex</a:t>
            </a:r>
            <a:r>
              <a:rPr lang="en-US" sz="882" b="0" i="0" kern="1200" baseline="0" dirty="0" smtClean="0">
                <a:solidFill>
                  <a:schemeClr val="tx1"/>
                </a:solidFill>
                <a:effectLst/>
                <a:latin typeface="Segoe UI Light" pitchFamily="34" charset="0"/>
                <a:ea typeface="+mn-ea"/>
                <a:cs typeface="+mn-cs"/>
              </a:rPr>
              <a:t> is another system that specialized upon OIDC (</a:t>
            </a:r>
            <a:r>
              <a:rPr lang="en-US" sz="882" b="0" i="0" kern="1200" baseline="0" dirty="0" err="1" smtClean="0">
                <a:solidFill>
                  <a:schemeClr val="tx1"/>
                </a:solidFill>
                <a:effectLst/>
                <a:latin typeface="Segoe UI Light" pitchFamily="34" charset="0"/>
                <a:ea typeface="+mn-ea"/>
                <a:cs typeface="+mn-cs"/>
              </a:rPr>
              <a:t>OpenID</a:t>
            </a:r>
            <a:r>
              <a:rPr lang="en-US" sz="882" b="0" i="0" kern="1200" baseline="0" dirty="0" smtClean="0">
                <a:solidFill>
                  <a:schemeClr val="tx1"/>
                </a:solidFill>
                <a:effectLst/>
                <a:latin typeface="Segoe UI Light" pitchFamily="34" charset="0"/>
                <a:ea typeface="+mn-ea"/>
                <a:cs typeface="+mn-cs"/>
              </a:rPr>
              <a:t> Connect) solution</a:t>
            </a: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Authorization</a:t>
            </a:r>
          </a:p>
          <a:p>
            <a:r>
              <a:rPr lang="en-US" sz="882" b="0" i="0" kern="1200" dirty="0" smtClean="0">
                <a:solidFill>
                  <a:schemeClr val="tx1"/>
                </a:solidFill>
                <a:effectLst/>
                <a:latin typeface="Segoe UI Light" pitchFamily="34" charset="0"/>
                <a:ea typeface="+mn-ea"/>
                <a:cs typeface="+mn-cs"/>
              </a:rPr>
              <a:t>3. Then we have </a:t>
            </a:r>
            <a:r>
              <a:rPr lang="en-US" sz="882" b="1" i="0" kern="1200" dirty="0" smtClean="0">
                <a:solidFill>
                  <a:schemeClr val="tx1"/>
                </a:solidFill>
                <a:effectLst/>
                <a:latin typeface="Segoe UI Light" pitchFamily="34" charset="0"/>
                <a:ea typeface="+mn-ea"/>
                <a:cs typeface="+mn-cs"/>
              </a:rPr>
              <a:t>RBAC</a:t>
            </a:r>
            <a:r>
              <a:rPr lang="en-US" sz="882" b="0" i="0" kern="1200" dirty="0" smtClean="0">
                <a:solidFill>
                  <a:schemeClr val="tx1"/>
                </a:solidFill>
                <a:effectLst/>
                <a:latin typeface="Segoe UI Light" pitchFamily="34" charset="0"/>
                <a:ea typeface="+mn-ea"/>
                <a:cs typeface="+mn-cs"/>
              </a:rPr>
              <a:t>—or Role-Based Access Control. As</a:t>
            </a:r>
            <a:r>
              <a:rPr lang="en-US" sz="882" b="0" i="0" kern="1200" baseline="0" dirty="0" smtClean="0">
                <a:solidFill>
                  <a:schemeClr val="tx1"/>
                </a:solidFill>
                <a:effectLst/>
                <a:latin typeface="Segoe UI Light" pitchFamily="34" charset="0"/>
                <a:ea typeface="+mn-ea"/>
                <a:cs typeface="+mn-cs"/>
              </a:rPr>
              <a:t> mention t</a:t>
            </a:r>
            <a:r>
              <a:rPr lang="en-US" sz="882" b="0" i="0" kern="1200" dirty="0" smtClean="0">
                <a:solidFill>
                  <a:schemeClr val="tx1"/>
                </a:solidFill>
                <a:effectLst/>
                <a:latin typeface="Segoe UI Light" pitchFamily="34" charset="0"/>
                <a:ea typeface="+mn-ea"/>
                <a:cs typeface="+mn-cs"/>
              </a:rPr>
              <a:t>his defines </a:t>
            </a:r>
            <a:r>
              <a:rPr lang="en-US" sz="882" b="0" i="1" kern="1200" dirty="0" smtClean="0">
                <a:solidFill>
                  <a:schemeClr val="tx1"/>
                </a:solidFill>
                <a:effectLst/>
                <a:latin typeface="Segoe UI Light" pitchFamily="34" charset="0"/>
                <a:ea typeface="+mn-ea"/>
                <a:cs typeface="+mn-cs"/>
              </a:rPr>
              <a:t>what</a:t>
            </a:r>
            <a:r>
              <a:rPr lang="en-US" sz="882" b="0" i="0" kern="1200" dirty="0" smtClean="0">
                <a:solidFill>
                  <a:schemeClr val="tx1"/>
                </a:solidFill>
                <a:effectLst/>
                <a:latin typeface="Segoe UI Light" pitchFamily="34" charset="0"/>
                <a:ea typeface="+mn-ea"/>
                <a:cs typeface="+mn-cs"/>
              </a:rPr>
              <a:t> you can do. It make use of K8s RBAC solution like </a:t>
            </a:r>
            <a:r>
              <a:rPr lang="en-US" sz="882" b="1" i="0" kern="1200" dirty="0" smtClean="0">
                <a:solidFill>
                  <a:schemeClr val="tx1"/>
                </a:solidFill>
                <a:effectLst/>
                <a:latin typeface="Segoe UI Light" pitchFamily="34" charset="0"/>
                <a:ea typeface="+mn-ea"/>
                <a:cs typeface="+mn-cs"/>
              </a:rPr>
              <a:t>service account and role binding. </a:t>
            </a:r>
            <a:endParaRPr lang="en-US" sz="882" b="0" i="0" kern="1200" dirty="0" smtClean="0">
              <a:solidFill>
                <a:schemeClr val="tx1"/>
              </a:solidFill>
              <a:effectLst/>
              <a:latin typeface="Segoe UI Light" pitchFamily="34" charset="0"/>
              <a:ea typeface="+mn-ea"/>
              <a:cs typeface="+mn-cs"/>
            </a:endParaRPr>
          </a:p>
          <a:p>
            <a:r>
              <a:rPr lang="en-US" sz="882" b="0" i="0" kern="1200" dirty="0" smtClean="0">
                <a:solidFill>
                  <a:schemeClr val="tx1"/>
                </a:solidFill>
                <a:effectLst/>
                <a:latin typeface="Segoe UI Light" pitchFamily="34" charset="0"/>
                <a:ea typeface="+mn-ea"/>
                <a:cs typeface="+mn-cs"/>
              </a:rPr>
              <a:t>4.</a:t>
            </a:r>
            <a:r>
              <a:rPr lang="en-US" sz="882" b="0" i="0" kern="1200" baseline="0" dirty="0" smtClean="0">
                <a:solidFill>
                  <a:schemeClr val="tx1"/>
                </a:solidFill>
                <a:effectLst/>
                <a:latin typeface="Segoe UI Light" pitchFamily="34" charset="0"/>
                <a:ea typeface="+mn-ea"/>
                <a:cs typeface="+mn-cs"/>
              </a:rPr>
              <a:t> From here, you can define a team-based access control and namespace isolation</a:t>
            </a: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5. Think of it like a hotel key card: a guest can open their own room, but only define</a:t>
            </a:r>
            <a:r>
              <a:rPr lang="en-US" sz="882" b="0" i="0" kern="1200" baseline="0" dirty="0" smtClean="0">
                <a:solidFill>
                  <a:schemeClr val="tx1"/>
                </a:solidFill>
                <a:effectLst/>
                <a:latin typeface="Segoe UI Light" pitchFamily="34" charset="0"/>
                <a:ea typeface="+mn-ea"/>
                <a:cs typeface="+mn-cs"/>
              </a:rPr>
              <a:t> guest can open their define safety box</a:t>
            </a:r>
            <a:endParaRPr lang="en-US" sz="882" b="0" i="0" kern="1200" dirty="0" smtClean="0">
              <a:solidFill>
                <a:schemeClr val="tx1"/>
              </a:solidFill>
              <a:effectLst/>
              <a:latin typeface="Segoe UI Light" pitchFamily="34" charset="0"/>
              <a:ea typeface="+mn-ea"/>
              <a:cs typeface="+mn-cs"/>
            </a:endParaRPr>
          </a:p>
          <a:p>
            <a:r>
              <a:rPr lang="en-US" sz="882" b="0" i="0" kern="1200" dirty="0" smtClean="0">
                <a:solidFill>
                  <a:schemeClr val="tx1"/>
                </a:solidFill>
                <a:effectLst/>
                <a:latin typeface="Segoe UI Light" pitchFamily="34" charset="0"/>
                <a:ea typeface="+mn-ea"/>
                <a:cs typeface="+mn-cs"/>
              </a:rPr>
              <a:t>6.</a:t>
            </a:r>
            <a:r>
              <a:rPr lang="en-US" sz="882" b="0" i="0" kern="1200" baseline="0" dirty="0" smtClean="0">
                <a:solidFill>
                  <a:schemeClr val="tx1"/>
                </a:solidFill>
                <a:effectLst/>
                <a:latin typeface="Segoe UI Light" pitchFamily="34" charset="0"/>
                <a:ea typeface="+mn-ea"/>
                <a:cs typeface="+mn-cs"/>
              </a:rPr>
              <a:t> </a:t>
            </a:r>
            <a:r>
              <a:rPr lang="en-US" sz="882" b="0" i="0" kern="1200" dirty="0" smtClean="0">
                <a:solidFill>
                  <a:schemeClr val="tx1"/>
                </a:solidFill>
                <a:effectLst/>
                <a:latin typeface="Segoe UI Light" pitchFamily="34" charset="0"/>
                <a:ea typeface="+mn-ea"/>
                <a:cs typeface="+mn-cs"/>
              </a:rPr>
              <a:t>By combining these, it ensure that even in a huge organization, related teams can work in total isolation and safety.</a:t>
            </a:r>
          </a:p>
          <a:p>
            <a:endParaRPr lang="en-MY"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12:33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2213468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Component</a:t>
            </a:r>
            <a:br>
              <a:rPr lang="en-US" sz="882" b="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1.</a:t>
            </a:r>
            <a:r>
              <a:rPr lang="en-US" sz="882" b="0" i="0" kern="1200" baseline="0" dirty="0" smtClean="0">
                <a:solidFill>
                  <a:schemeClr val="tx1"/>
                </a:solidFill>
                <a:effectLst/>
                <a:latin typeface="Segoe UI Light" pitchFamily="34" charset="0"/>
                <a:ea typeface="+mn-ea"/>
                <a:cs typeface="+mn-cs"/>
              </a:rPr>
              <a:t> </a:t>
            </a:r>
            <a:r>
              <a:rPr lang="en-US" sz="882" b="0" i="0" kern="1200" dirty="0" smtClean="0">
                <a:solidFill>
                  <a:schemeClr val="tx1"/>
                </a:solidFill>
                <a:effectLst/>
                <a:latin typeface="Segoe UI Light" pitchFamily="34" charset="0"/>
                <a:ea typeface="+mn-ea"/>
                <a:cs typeface="+mn-cs"/>
              </a:rPr>
              <a:t>Let’s look under the hood. There are a few main parts making the magic happen. To simplify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The </a:t>
            </a:r>
            <a:r>
              <a:rPr lang="en-US" sz="882" b="1" i="0" kern="1200" dirty="0" smtClean="0">
                <a:solidFill>
                  <a:schemeClr val="tx1"/>
                </a:solidFill>
                <a:effectLst/>
                <a:latin typeface="Segoe UI Light" pitchFamily="34" charset="0"/>
                <a:ea typeface="+mn-ea"/>
                <a:cs typeface="+mn-cs"/>
              </a:rPr>
              <a:t>Argo Server</a:t>
            </a:r>
            <a:r>
              <a:rPr lang="en-US" sz="882" b="0" i="0" kern="1200" dirty="0" smtClean="0">
                <a:solidFill>
                  <a:schemeClr val="tx1"/>
                </a:solidFill>
                <a:effectLst/>
                <a:latin typeface="Segoe UI Light" pitchFamily="34" charset="0"/>
                <a:ea typeface="+mn-ea"/>
                <a:cs typeface="+mn-cs"/>
              </a:rPr>
              <a:t> is like</a:t>
            </a:r>
            <a:r>
              <a:rPr lang="en-US" sz="882" b="0" i="0" kern="1200" baseline="0" dirty="0" smtClean="0">
                <a:solidFill>
                  <a:schemeClr val="tx1"/>
                </a:solidFill>
                <a:effectLst/>
                <a:latin typeface="Segoe UI Light" pitchFamily="34" charset="0"/>
                <a:ea typeface="+mn-ea"/>
                <a:cs typeface="+mn-cs"/>
              </a:rPr>
              <a:t> the</a:t>
            </a:r>
            <a:r>
              <a:rPr lang="en-US" sz="882" b="0" i="0" kern="1200" dirty="0" smtClean="0">
                <a:solidFill>
                  <a:schemeClr val="tx1"/>
                </a:solidFill>
                <a:effectLst/>
                <a:latin typeface="Segoe UI Light" pitchFamily="34" charset="0"/>
                <a:ea typeface="+mn-ea"/>
                <a:cs typeface="+mn-cs"/>
              </a:rPr>
              <a:t> 'receptionist'—it provides the UI and the API you interact with.</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The</a:t>
            </a:r>
            <a:r>
              <a:rPr lang="en-US" sz="882" b="0" i="0" kern="1200" baseline="0" dirty="0" smtClean="0">
                <a:solidFill>
                  <a:schemeClr val="tx1"/>
                </a:solidFill>
                <a:effectLst/>
                <a:latin typeface="Segoe UI Light" pitchFamily="34" charset="0"/>
                <a:ea typeface="+mn-ea"/>
                <a:cs typeface="+mn-cs"/>
              </a:rPr>
              <a:t> it got </a:t>
            </a:r>
            <a:r>
              <a:rPr lang="en-US" sz="882" b="1" i="0" kern="1200" dirty="0" smtClean="0">
                <a:solidFill>
                  <a:schemeClr val="tx1"/>
                </a:solidFill>
                <a:effectLst/>
                <a:latin typeface="Segoe UI Light" pitchFamily="34" charset="0"/>
                <a:ea typeface="+mn-ea"/>
                <a:cs typeface="+mn-cs"/>
              </a:rPr>
              <a:t>Workflow Controller</a:t>
            </a:r>
            <a:r>
              <a:rPr lang="en-US" sz="882" b="0" i="0" kern="1200" dirty="0" smtClean="0">
                <a:solidFill>
                  <a:schemeClr val="tx1"/>
                </a:solidFill>
                <a:effectLst/>
                <a:latin typeface="Segoe UI Light" pitchFamily="34" charset="0"/>
                <a:ea typeface="+mn-ea"/>
                <a:cs typeface="+mn-cs"/>
              </a:rPr>
              <a:t> which more like the 'project manager.' It watches your YAML instructions and tells the </a:t>
            </a:r>
            <a:r>
              <a:rPr lang="en-US" sz="882" b="1" i="0" kern="1200" dirty="0" err="1" smtClean="0">
                <a:solidFill>
                  <a:schemeClr val="tx1"/>
                </a:solidFill>
                <a:effectLst/>
                <a:latin typeface="Segoe UI Light" pitchFamily="34" charset="0"/>
                <a:ea typeface="+mn-ea"/>
                <a:cs typeface="+mn-cs"/>
              </a:rPr>
              <a:t>Kubernetes</a:t>
            </a:r>
            <a:r>
              <a:rPr lang="en-US" sz="882" b="1" i="0" kern="1200" dirty="0" smtClean="0">
                <a:solidFill>
                  <a:schemeClr val="tx1"/>
                </a:solidFill>
                <a:effectLst/>
                <a:latin typeface="Segoe UI Light" pitchFamily="34" charset="0"/>
                <a:ea typeface="+mn-ea"/>
                <a:cs typeface="+mn-cs"/>
              </a:rPr>
              <a:t> API</a:t>
            </a:r>
            <a:r>
              <a:rPr lang="en-US" sz="882" b="0" i="0" kern="1200" dirty="0" smtClean="0">
                <a:solidFill>
                  <a:schemeClr val="tx1"/>
                </a:solidFill>
                <a:effectLst/>
                <a:latin typeface="Segoe UI Light" pitchFamily="34" charset="0"/>
                <a:ea typeface="+mn-ea"/>
                <a:cs typeface="+mn-cs"/>
              </a:rPr>
              <a:t> to create the Pods.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Then, the </a:t>
            </a:r>
            <a:r>
              <a:rPr lang="en-US" sz="882" b="1" i="0" kern="1200" dirty="0" smtClean="0">
                <a:solidFill>
                  <a:schemeClr val="tx1"/>
                </a:solidFill>
                <a:effectLst/>
                <a:latin typeface="Segoe UI Light" pitchFamily="34" charset="0"/>
                <a:ea typeface="+mn-ea"/>
                <a:cs typeface="+mn-cs"/>
              </a:rPr>
              <a:t>Workflow</a:t>
            </a:r>
            <a:r>
              <a:rPr lang="en-US" sz="882" b="1" i="0" kern="1200" baseline="0" dirty="0" smtClean="0">
                <a:solidFill>
                  <a:schemeClr val="tx1"/>
                </a:solidFill>
                <a:effectLst/>
                <a:latin typeface="Segoe UI Light" pitchFamily="34" charset="0"/>
                <a:ea typeface="+mn-ea"/>
                <a:cs typeface="+mn-cs"/>
              </a:rPr>
              <a:t> </a:t>
            </a:r>
            <a:r>
              <a:rPr lang="en-US" sz="882" b="1" i="0" kern="1200" dirty="0" smtClean="0">
                <a:solidFill>
                  <a:schemeClr val="tx1"/>
                </a:solidFill>
                <a:effectLst/>
                <a:latin typeface="Segoe UI Light" pitchFamily="34" charset="0"/>
                <a:ea typeface="+mn-ea"/>
                <a:cs typeface="+mn-cs"/>
              </a:rPr>
              <a:t>Executor</a:t>
            </a:r>
            <a:r>
              <a:rPr lang="en-US" sz="882" b="0" i="0" kern="1200" dirty="0" smtClean="0">
                <a:solidFill>
                  <a:schemeClr val="tx1"/>
                </a:solidFill>
                <a:effectLst/>
                <a:latin typeface="Segoe UI Light" pitchFamily="34" charset="0"/>
                <a:ea typeface="+mn-ea"/>
                <a:cs typeface="+mn-cs"/>
              </a:rPr>
              <a:t> is the actual worker inside that pod doing the heavy lifting.</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Finally, when a task is done, it sends its logs and results to the </a:t>
            </a:r>
            <a:r>
              <a:rPr lang="en-US" sz="882" b="1" i="0" kern="1200" dirty="0" smtClean="0">
                <a:solidFill>
                  <a:schemeClr val="tx1"/>
                </a:solidFill>
                <a:effectLst/>
                <a:latin typeface="Segoe UI Light" pitchFamily="34" charset="0"/>
                <a:ea typeface="+mn-ea"/>
                <a:cs typeface="+mn-cs"/>
              </a:rPr>
              <a:t>Artifact Repository</a:t>
            </a:r>
            <a:r>
              <a:rPr lang="en-US" sz="882" b="0" i="0" kern="1200" dirty="0" smtClean="0">
                <a:solidFill>
                  <a:schemeClr val="tx1"/>
                </a:solidFill>
                <a:effectLst/>
                <a:latin typeface="Segoe UI Light" pitchFamily="34" charset="0"/>
                <a:ea typeface="+mn-ea"/>
                <a:cs typeface="+mn-cs"/>
              </a:rPr>
              <a:t>. Think of this as the 'filing cabinet' where all the evidence of the work is stored for later review.</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2. To simplify, its like this</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Purpose</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Supporting Component</a:t>
            </a:r>
            <a:br>
              <a:rPr lang="en-US" sz="882" b="0" i="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3. It also got supporting component that complete the orchestrator, like :-</a:t>
            </a:r>
            <a:br>
              <a:rPr lang="en-US" sz="882" b="0" i="0" kern="1200" dirty="0" smtClean="0">
                <a:solidFill>
                  <a:schemeClr val="tx1"/>
                </a:solidFill>
                <a:effectLst/>
                <a:latin typeface="Segoe UI Light" pitchFamily="34" charset="0"/>
                <a:ea typeface="+mn-ea"/>
                <a:cs typeface="+mn-cs"/>
              </a:rPr>
            </a:br>
            <a:r>
              <a:rPr lang="en-US" sz="882" b="1" i="0" kern="1200" dirty="0" smtClean="0">
                <a:solidFill>
                  <a:schemeClr val="tx1"/>
                </a:solidFill>
                <a:effectLst/>
                <a:latin typeface="Segoe UI Light" pitchFamily="34" charset="0"/>
                <a:ea typeface="+mn-ea"/>
                <a:cs typeface="+mn-cs"/>
              </a:rPr>
              <a:t>Artifact</a:t>
            </a:r>
            <a:r>
              <a:rPr lang="en-US" sz="882" b="1" i="0" kern="1200" baseline="0" dirty="0" smtClean="0">
                <a:solidFill>
                  <a:schemeClr val="tx1"/>
                </a:solidFill>
                <a:effectLst/>
                <a:latin typeface="Segoe UI Light" pitchFamily="34" charset="0"/>
                <a:ea typeface="+mn-ea"/>
                <a:cs typeface="+mn-cs"/>
              </a:rPr>
              <a:t> Storage</a:t>
            </a:r>
            <a:r>
              <a:rPr lang="en-US" sz="882" b="0" i="0" kern="1200" baseline="0" dirty="0" smtClean="0">
                <a:solidFill>
                  <a:schemeClr val="tx1"/>
                </a:solidFill>
                <a:effectLst/>
                <a:latin typeface="Segoe UI Light" pitchFamily="34" charset="0"/>
                <a:ea typeface="+mn-ea"/>
                <a:cs typeface="+mn-cs"/>
              </a:rPr>
              <a:t>: where u can integrate with any S3 solution like </a:t>
            </a:r>
            <a:r>
              <a:rPr lang="en-US" sz="882" b="0" i="0" kern="1200" baseline="0" dirty="0" err="1" smtClean="0">
                <a:solidFill>
                  <a:schemeClr val="tx1"/>
                </a:solidFill>
                <a:effectLst/>
                <a:latin typeface="Segoe UI Light" pitchFamily="34" charset="0"/>
                <a:ea typeface="+mn-ea"/>
                <a:cs typeface="+mn-cs"/>
              </a:rPr>
              <a:t>minio</a:t>
            </a:r>
            <a:r>
              <a:rPr lang="en-US" sz="882" b="0" i="0" kern="1200" baseline="0" dirty="0" smtClean="0">
                <a:solidFill>
                  <a:schemeClr val="tx1"/>
                </a:solidFill>
                <a:effectLst/>
                <a:latin typeface="Segoe UI Light" pitchFamily="34" charset="0"/>
                <a:ea typeface="+mn-ea"/>
                <a:cs typeface="+mn-cs"/>
              </a:rPr>
              <a:t> / </a:t>
            </a:r>
            <a:r>
              <a:rPr lang="en-US" sz="882" b="0" i="0" kern="1200" baseline="0" dirty="0" err="1" smtClean="0">
                <a:solidFill>
                  <a:schemeClr val="tx1"/>
                </a:solidFill>
                <a:effectLst/>
                <a:latin typeface="Segoe UI Light" pitchFamily="34" charset="0"/>
                <a:ea typeface="+mn-ea"/>
                <a:cs typeface="+mn-cs"/>
              </a:rPr>
              <a:t>aws</a:t>
            </a:r>
            <a:r>
              <a:rPr lang="en-US" sz="882" b="0" i="0" kern="1200" baseline="0" dirty="0" smtClean="0">
                <a:solidFill>
                  <a:schemeClr val="tx1"/>
                </a:solidFill>
                <a:effectLst/>
                <a:latin typeface="Segoe UI Light" pitchFamily="34" charset="0"/>
                <a:ea typeface="+mn-ea"/>
                <a:cs typeface="+mn-cs"/>
              </a:rPr>
              <a:t> S3 / </a:t>
            </a:r>
            <a:r>
              <a:rPr lang="en-US" sz="882" b="0" i="0" kern="1200" baseline="0" dirty="0" err="1" smtClean="0">
                <a:solidFill>
                  <a:schemeClr val="tx1"/>
                </a:solidFill>
                <a:effectLst/>
                <a:latin typeface="Segoe UI Light" pitchFamily="34" charset="0"/>
                <a:ea typeface="+mn-ea"/>
                <a:cs typeface="+mn-cs"/>
              </a:rPr>
              <a:t>gcp</a:t>
            </a:r>
            <a:r>
              <a:rPr lang="en-US" sz="882" b="0" i="0" kern="1200" baseline="0" dirty="0" smtClean="0">
                <a:solidFill>
                  <a:schemeClr val="tx1"/>
                </a:solidFill>
                <a:effectLst/>
                <a:latin typeface="Segoe UI Light" pitchFamily="34" charset="0"/>
                <a:ea typeface="+mn-ea"/>
                <a:cs typeface="+mn-cs"/>
              </a:rPr>
              <a:t> cloud storage / azure blob storage / </a:t>
            </a:r>
            <a:r>
              <a:rPr lang="en-US" sz="882" b="0" i="0" kern="1200" baseline="0" dirty="0" err="1" smtClean="0">
                <a:solidFill>
                  <a:schemeClr val="tx1"/>
                </a:solidFill>
                <a:effectLst/>
                <a:latin typeface="Segoe UI Light" pitchFamily="34" charset="0"/>
                <a:ea typeface="+mn-ea"/>
                <a:cs typeface="+mn-cs"/>
              </a:rPr>
              <a:t>alibaba</a:t>
            </a:r>
            <a:r>
              <a:rPr lang="en-US" sz="882" b="0" i="0" kern="1200" baseline="0" dirty="0" smtClean="0">
                <a:solidFill>
                  <a:schemeClr val="tx1"/>
                </a:solidFill>
                <a:effectLst/>
                <a:latin typeface="Segoe UI Light" pitchFamily="34" charset="0"/>
                <a:ea typeface="+mn-ea"/>
                <a:cs typeface="+mn-cs"/>
              </a:rPr>
              <a:t> OSS</a:t>
            </a:r>
            <a:br>
              <a:rPr lang="en-US" sz="882" b="0" i="0" kern="1200" baseline="0" dirty="0" smtClean="0">
                <a:solidFill>
                  <a:schemeClr val="tx1"/>
                </a:solidFill>
                <a:effectLst/>
                <a:latin typeface="Segoe UI Light" pitchFamily="34" charset="0"/>
                <a:ea typeface="+mn-ea"/>
                <a:cs typeface="+mn-cs"/>
              </a:rPr>
            </a:br>
            <a:r>
              <a:rPr lang="en-US" sz="882" b="1" i="0" kern="1200" baseline="0" dirty="0" smtClean="0">
                <a:solidFill>
                  <a:schemeClr val="tx1"/>
                </a:solidFill>
                <a:effectLst/>
                <a:latin typeface="Segoe UI Light" pitchFamily="34" charset="0"/>
                <a:ea typeface="+mn-ea"/>
                <a:cs typeface="+mn-cs"/>
              </a:rPr>
              <a:t>Workflow templates</a:t>
            </a:r>
            <a:r>
              <a:rPr lang="en-US" sz="882" b="0" i="0" kern="1200" baseline="0" dirty="0" smtClean="0">
                <a:solidFill>
                  <a:schemeClr val="tx1"/>
                </a:solidFill>
                <a:effectLst/>
                <a:latin typeface="Segoe UI Light" pitchFamily="34" charset="0"/>
                <a:ea typeface="+mn-ea"/>
                <a:cs typeface="+mn-cs"/>
              </a:rPr>
              <a:t>: for u to standardize certain task method</a:t>
            </a:r>
            <a:br>
              <a:rPr lang="en-US" sz="882" b="0" i="0" kern="1200" baseline="0" dirty="0" smtClean="0">
                <a:solidFill>
                  <a:schemeClr val="tx1"/>
                </a:solidFill>
                <a:effectLst/>
                <a:latin typeface="Segoe UI Light" pitchFamily="34" charset="0"/>
                <a:ea typeface="+mn-ea"/>
                <a:cs typeface="+mn-cs"/>
              </a:rPr>
            </a:br>
            <a:r>
              <a:rPr lang="en-US" sz="882" b="1" i="0" kern="1200" baseline="0" dirty="0" err="1" smtClean="0">
                <a:solidFill>
                  <a:schemeClr val="tx1"/>
                </a:solidFill>
                <a:effectLst/>
                <a:latin typeface="Segoe UI Light" pitchFamily="34" charset="0"/>
                <a:ea typeface="+mn-ea"/>
                <a:cs typeface="+mn-cs"/>
              </a:rPr>
              <a:t>Cron</a:t>
            </a:r>
            <a:r>
              <a:rPr lang="en-US" sz="882" b="1" i="0" kern="1200" baseline="0" dirty="0" smtClean="0">
                <a:solidFill>
                  <a:schemeClr val="tx1"/>
                </a:solidFill>
                <a:effectLst/>
                <a:latin typeface="Segoe UI Light" pitchFamily="34" charset="0"/>
                <a:ea typeface="+mn-ea"/>
                <a:cs typeface="+mn-cs"/>
              </a:rPr>
              <a:t> Workflow</a:t>
            </a:r>
            <a:r>
              <a:rPr lang="en-US" sz="882" b="0" i="0" kern="1200" baseline="0" dirty="0" smtClean="0">
                <a:solidFill>
                  <a:schemeClr val="tx1"/>
                </a:solidFill>
                <a:effectLst/>
                <a:latin typeface="Segoe UI Light" pitchFamily="34" charset="0"/>
                <a:ea typeface="+mn-ea"/>
                <a:cs typeface="+mn-cs"/>
              </a:rPr>
              <a:t>: for scheduling purpose</a:t>
            </a:r>
            <a:br>
              <a:rPr lang="en-US" sz="882" b="0" i="0" kern="1200" baseline="0" dirty="0" smtClean="0">
                <a:solidFill>
                  <a:schemeClr val="tx1"/>
                </a:solidFill>
                <a:effectLst/>
                <a:latin typeface="Segoe UI Light" pitchFamily="34" charset="0"/>
                <a:ea typeface="+mn-ea"/>
                <a:cs typeface="+mn-cs"/>
              </a:rPr>
            </a:br>
            <a:r>
              <a:rPr lang="en-US" sz="882" b="1" i="0" kern="1200" baseline="0" dirty="0" smtClean="0">
                <a:solidFill>
                  <a:schemeClr val="tx1"/>
                </a:solidFill>
                <a:effectLst/>
                <a:latin typeface="Segoe UI Light" pitchFamily="34" charset="0"/>
                <a:ea typeface="+mn-ea"/>
                <a:cs typeface="+mn-cs"/>
              </a:rPr>
              <a:t>Event Triggers</a:t>
            </a:r>
            <a:r>
              <a:rPr lang="en-US" sz="882" b="0" i="0" kern="1200" baseline="0" dirty="0" smtClean="0">
                <a:solidFill>
                  <a:schemeClr val="tx1"/>
                </a:solidFill>
                <a:effectLst/>
                <a:latin typeface="Segoe UI Light" pitchFamily="34" charset="0"/>
                <a:ea typeface="+mn-ea"/>
                <a:cs typeface="+mn-cs"/>
              </a:rPr>
              <a:t>: where u can integrate with another Argo solution which is </a:t>
            </a:r>
            <a:r>
              <a:rPr lang="en-US" sz="882" b="1" i="0" kern="1200" baseline="0" dirty="0" smtClean="0">
                <a:solidFill>
                  <a:schemeClr val="tx1"/>
                </a:solidFill>
                <a:effectLst/>
                <a:latin typeface="Segoe UI Light" pitchFamily="34" charset="0"/>
                <a:ea typeface="+mn-ea"/>
                <a:cs typeface="+mn-cs"/>
              </a:rPr>
              <a:t>Argo Event and Argo Sensor</a:t>
            </a:r>
            <a:r>
              <a:rPr lang="en-US" sz="882" b="0" i="0" kern="1200" baseline="0" dirty="0" smtClean="0">
                <a:solidFill>
                  <a:schemeClr val="tx1"/>
                </a:solidFill>
                <a:effectLst/>
                <a:latin typeface="Segoe UI Light" pitchFamily="34" charset="0"/>
                <a:ea typeface="+mn-ea"/>
                <a:cs typeface="+mn-cs"/>
              </a:rPr>
              <a:t> for streaming process</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Examples</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4. </a:t>
            </a:r>
            <a:r>
              <a:rPr lang="en-US" sz="882" b="0" i="0" kern="1200" baseline="0" dirty="0" err="1" smtClean="0">
                <a:solidFill>
                  <a:schemeClr val="tx1"/>
                </a:solidFill>
                <a:effectLst/>
                <a:latin typeface="Segoe UI Light" pitchFamily="34" charset="0"/>
                <a:ea typeface="+mn-ea"/>
                <a:cs typeface="+mn-cs"/>
              </a:rPr>
              <a:t>Terang</a:t>
            </a:r>
            <a:r>
              <a:rPr lang="en-US" sz="882" b="0" i="0" kern="1200" baseline="0" dirty="0" smtClean="0">
                <a:solidFill>
                  <a:schemeClr val="tx1"/>
                </a:solidFill>
                <a:effectLst/>
                <a:latin typeface="Segoe UI Light" pitchFamily="34" charset="0"/>
                <a:ea typeface="+mn-ea"/>
                <a:cs typeface="+mn-cs"/>
              </a:rPr>
              <a:t> step on example</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
            </a:r>
            <a:br>
              <a:rPr lang="en-US" sz="882" b="0" i="0" kern="1200" baseline="0" dirty="0" smtClean="0">
                <a:solidFill>
                  <a:schemeClr val="tx1"/>
                </a:solidFill>
                <a:effectLst/>
                <a:latin typeface="Segoe UI Light" pitchFamily="34" charset="0"/>
                <a:ea typeface="+mn-ea"/>
                <a:cs typeface="+mn-cs"/>
              </a:rPr>
            </a:br>
            <a:r>
              <a:rPr lang="en-US" sz="882" b="0" i="0" kern="1200" baseline="0" dirty="0" smtClean="0">
                <a:solidFill>
                  <a:schemeClr val="tx1"/>
                </a:solidFill>
                <a:effectLst/>
                <a:latin typeface="Segoe UI Light" pitchFamily="34" charset="0"/>
                <a:ea typeface="+mn-ea"/>
                <a:cs typeface="+mn-cs"/>
              </a:rPr>
              <a:t/>
            </a:r>
            <a:br>
              <a:rPr lang="en-US" sz="882" b="0" i="0" kern="1200" baseline="0" dirty="0" smtClean="0">
                <a:solidFill>
                  <a:schemeClr val="tx1"/>
                </a:solidFill>
                <a:effectLst/>
                <a:latin typeface="Segoe UI Light" pitchFamily="34" charset="0"/>
                <a:ea typeface="+mn-ea"/>
                <a:cs typeface="+mn-cs"/>
              </a:rPr>
            </a:br>
            <a:endParaRPr lang="en-US" sz="882" b="0" i="0" kern="1200" dirty="0" smtClean="0">
              <a:solidFill>
                <a:schemeClr val="tx1"/>
              </a:solidFill>
              <a:effectLst/>
              <a:latin typeface="Segoe UI Light" pitchFamily="34" charset="0"/>
              <a:ea typeface="+mn-ea"/>
              <a:cs typeface="+mn-cs"/>
            </a:endParaRPr>
          </a:p>
          <a:p>
            <a:endParaRPr lang="en-US" sz="882" b="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12:33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38725593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1. Here are the Core Features of Argo Workflow that strengthen Data</a:t>
            </a:r>
            <a:r>
              <a:rPr lang="en-US" sz="882" b="0" kern="1200" baseline="0" dirty="0" smtClean="0">
                <a:solidFill>
                  <a:schemeClr val="tx1"/>
                </a:solidFill>
                <a:effectLst/>
                <a:latin typeface="Segoe UI Light" pitchFamily="34" charset="0"/>
                <a:ea typeface="+mn-ea"/>
                <a:cs typeface="+mn-cs"/>
              </a:rPr>
              <a:t> </a:t>
            </a:r>
            <a:r>
              <a:rPr lang="en-US" sz="882" b="0" kern="1200" baseline="0" dirty="0" err="1" smtClean="0">
                <a:solidFill>
                  <a:schemeClr val="tx1"/>
                </a:solidFill>
                <a:effectLst/>
                <a:latin typeface="Segoe UI Light" pitchFamily="34" charset="0"/>
                <a:ea typeface="+mn-ea"/>
                <a:cs typeface="+mn-cs"/>
              </a:rPr>
              <a:t>Ochestration</a:t>
            </a:r>
            <a:r>
              <a:rPr lang="en-US" sz="882" b="0" kern="1200" baseline="0" dirty="0" smtClean="0">
                <a:solidFill>
                  <a:schemeClr val="tx1"/>
                </a:solidFill>
                <a:effectLst/>
                <a:latin typeface="Segoe UI Light" pitchFamily="34" charset="0"/>
                <a:ea typeface="+mn-ea"/>
                <a:cs typeface="+mn-cs"/>
              </a:rPr>
              <a:t/>
            </a:r>
            <a:br>
              <a:rPr lang="en-US" sz="882" b="0" kern="1200" baseline="0" dirty="0" smtClean="0">
                <a:solidFill>
                  <a:schemeClr val="tx1"/>
                </a:solidFill>
                <a:effectLst/>
                <a:latin typeface="Segoe UI Light" pitchFamily="34" charset="0"/>
                <a:ea typeface="+mn-ea"/>
                <a:cs typeface="+mn-cs"/>
              </a:rPr>
            </a:br>
            <a:r>
              <a:rPr lang="en-US" sz="882" b="0" kern="1200" baseline="0" dirty="0" smtClean="0">
                <a:solidFill>
                  <a:schemeClr val="tx1"/>
                </a:solidFill>
                <a:effectLst/>
                <a:latin typeface="Segoe UI Light" pitchFamily="34" charset="0"/>
                <a:ea typeface="+mn-ea"/>
                <a:cs typeface="+mn-cs"/>
              </a:rPr>
              <a:t>Core Feature</a:t>
            </a: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baseline="0" dirty="0" smtClean="0">
                <a:solidFill>
                  <a:schemeClr val="tx1"/>
                </a:solidFill>
                <a:effectLst/>
                <a:latin typeface="Segoe UI Light" pitchFamily="34" charset="0"/>
                <a:ea typeface="+mn-ea"/>
                <a:cs typeface="+mn-cs"/>
              </a:rPr>
              <a:t>Platform Feature</a:t>
            </a: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2. Yet still, the key advantage of Argo Workflow is </a:t>
            </a:r>
            <a:r>
              <a:rPr lang="en-US" sz="882" b="1" kern="1200" dirty="0" smtClean="0">
                <a:solidFill>
                  <a:schemeClr val="tx1"/>
                </a:solidFill>
                <a:effectLst/>
                <a:latin typeface="Segoe UI Light" pitchFamily="34" charset="0"/>
                <a:ea typeface="+mn-ea"/>
                <a:cs typeface="+mn-cs"/>
              </a:rPr>
              <a:t>anything</a:t>
            </a:r>
            <a:r>
              <a:rPr lang="en-US" sz="882" b="1" kern="1200" baseline="0" dirty="0" smtClean="0">
                <a:solidFill>
                  <a:schemeClr val="tx1"/>
                </a:solidFill>
                <a:effectLst/>
                <a:latin typeface="Segoe UI Light" pitchFamily="34" charset="0"/>
                <a:ea typeface="+mn-ea"/>
                <a:cs typeface="+mn-cs"/>
              </a:rPr>
              <a:t> that is</a:t>
            </a:r>
            <a:r>
              <a:rPr lang="en-US" sz="882" b="1" kern="1200" dirty="0" smtClean="0">
                <a:solidFill>
                  <a:schemeClr val="tx1"/>
                </a:solidFill>
                <a:effectLst/>
                <a:latin typeface="Segoe UI Light" pitchFamily="34" charset="0"/>
                <a:ea typeface="+mn-ea"/>
                <a:cs typeface="+mn-cs"/>
              </a:rPr>
              <a:t> runnable inside a container can become a workflow step.</a:t>
            </a: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3. Due to that, as the scopes</a:t>
            </a:r>
            <a:r>
              <a:rPr lang="en-US" sz="882" b="0" kern="1200" baseline="0" dirty="0" smtClean="0">
                <a:solidFill>
                  <a:schemeClr val="tx1"/>
                </a:solidFill>
                <a:effectLst/>
                <a:latin typeface="Segoe UI Light" pitchFamily="34" charset="0"/>
                <a:ea typeface="+mn-ea"/>
                <a:cs typeface="+mn-cs"/>
              </a:rPr>
              <a:t> mainly serve Data Engineering POV, with right architecture it also can meet Platform Engineering model </a:t>
            </a:r>
            <a:r>
              <a:rPr lang="en-US" sz="882" b="1" kern="1200" baseline="0" dirty="0" smtClean="0">
                <a:solidFill>
                  <a:schemeClr val="tx1"/>
                </a:solidFill>
                <a:effectLst/>
                <a:latin typeface="Segoe UI Light" pitchFamily="34" charset="0"/>
                <a:ea typeface="+mn-ea"/>
                <a:cs typeface="+mn-cs"/>
              </a:rPr>
              <a:t>especially on micro service</a:t>
            </a:r>
            <a:br>
              <a:rPr lang="en-US" sz="882" b="1" kern="1200" baseline="0" dirty="0" smtClean="0">
                <a:solidFill>
                  <a:schemeClr val="tx1"/>
                </a:solidFill>
                <a:effectLst/>
                <a:latin typeface="Segoe UI Light" pitchFamily="34" charset="0"/>
                <a:ea typeface="+mn-ea"/>
                <a:cs typeface="+mn-cs"/>
              </a:rPr>
            </a:br>
            <a:r>
              <a:rPr lang="en-US" sz="882" b="1" kern="1200" baseline="0" dirty="0" smtClean="0">
                <a:solidFill>
                  <a:schemeClr val="tx1"/>
                </a:solidFill>
                <a:effectLst/>
                <a:latin typeface="Segoe UI Light" pitchFamily="34" charset="0"/>
                <a:ea typeface="+mn-ea"/>
                <a:cs typeface="+mn-cs"/>
              </a:rPr>
              <a:t/>
            </a:r>
            <a:br>
              <a:rPr lang="en-US" sz="882" b="1" kern="1200" baseline="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4. list it out, </a:t>
            </a:r>
            <a:r>
              <a:rPr lang="en-US" sz="882" b="0" kern="1200" dirty="0" err="1" smtClean="0">
                <a:solidFill>
                  <a:schemeClr val="tx1"/>
                </a:solidFill>
                <a:effectLst/>
                <a:latin typeface="Segoe UI Light" pitchFamily="34" charset="0"/>
                <a:ea typeface="+mn-ea"/>
                <a:cs typeface="+mn-cs"/>
              </a:rPr>
              <a:t>terang</a:t>
            </a:r>
            <a:r>
              <a:rPr lang="en-US" sz="882" b="0" kern="1200" dirty="0" smtClean="0">
                <a:solidFill>
                  <a:schemeClr val="tx1"/>
                </a:solidFill>
                <a:effectLst/>
                <a:latin typeface="Segoe UI Light" pitchFamily="34" charset="0"/>
                <a:ea typeface="+mn-ea"/>
                <a:cs typeface="+mn-cs"/>
              </a:rPr>
              <a:t> satu2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"For the engineers in the room, here is the 'cool stuff.' Argo supports </a:t>
            </a:r>
            <a:r>
              <a:rPr lang="en-US" sz="882" b="1" i="0" kern="1200" dirty="0" err="1" smtClean="0">
                <a:solidFill>
                  <a:schemeClr val="tx1"/>
                </a:solidFill>
                <a:effectLst/>
                <a:latin typeface="Segoe UI Light" pitchFamily="34" charset="0"/>
                <a:ea typeface="+mn-ea"/>
                <a:cs typeface="+mn-cs"/>
              </a:rPr>
              <a:t>Cron</a:t>
            </a:r>
            <a:r>
              <a:rPr lang="en-US" sz="882" b="1" i="0" kern="1200" dirty="0" smtClean="0">
                <a:solidFill>
                  <a:schemeClr val="tx1"/>
                </a:solidFill>
                <a:effectLst/>
                <a:latin typeface="Segoe UI Light" pitchFamily="34" charset="0"/>
                <a:ea typeface="+mn-ea"/>
                <a:cs typeface="+mn-cs"/>
              </a:rPr>
              <a:t> Scheduling</a:t>
            </a:r>
            <a:r>
              <a:rPr lang="en-US" sz="882" b="0" i="0" kern="1200" dirty="0" smtClean="0">
                <a:solidFill>
                  <a:schemeClr val="tx1"/>
                </a:solidFill>
                <a:effectLst/>
                <a:latin typeface="Segoe UI Light" pitchFamily="34" charset="0"/>
                <a:ea typeface="+mn-ea"/>
                <a:cs typeface="+mn-cs"/>
              </a:rPr>
              <a:t>, which is like setting a recurring alarm clock for your data jobs—for example, 'run this every Monday at 8:00 AM.'"</a:t>
            </a:r>
          </a:p>
          <a:p>
            <a:r>
              <a:rPr lang="en-US" sz="882" b="0" i="0" kern="1200" dirty="0" smtClean="0">
                <a:solidFill>
                  <a:schemeClr val="tx1"/>
                </a:solidFill>
                <a:effectLst/>
                <a:latin typeface="Segoe UI Light" pitchFamily="34" charset="0"/>
                <a:ea typeface="+mn-ea"/>
                <a:cs typeface="+mn-cs"/>
              </a:rPr>
              <a:t>"It also has a </a:t>
            </a:r>
            <a:r>
              <a:rPr lang="en-US" sz="882" b="1" i="0" kern="1200" dirty="0" smtClean="0">
                <a:solidFill>
                  <a:schemeClr val="tx1"/>
                </a:solidFill>
                <a:effectLst/>
                <a:latin typeface="Segoe UI Light" pitchFamily="34" charset="0"/>
                <a:ea typeface="+mn-ea"/>
                <a:cs typeface="+mn-cs"/>
              </a:rPr>
              <a:t>Retry Policy</a:t>
            </a:r>
            <a:r>
              <a:rPr lang="en-US" sz="882" b="0" i="0" kern="1200" dirty="0" smtClean="0">
                <a:solidFill>
                  <a:schemeClr val="tx1"/>
                </a:solidFill>
                <a:effectLst/>
                <a:latin typeface="Segoe UI Light" pitchFamily="34" charset="0"/>
                <a:ea typeface="+mn-ea"/>
                <a:cs typeface="+mn-cs"/>
              </a:rPr>
              <a:t>. If a task fails because of a temporary network glitch, Argo doesn't just give up; it can try again automatically 3 minutes later."</a:t>
            </a:r>
          </a:p>
          <a:p>
            <a:r>
              <a:rPr lang="en-US" sz="882" b="0" i="0" kern="1200" dirty="0" smtClean="0">
                <a:solidFill>
                  <a:schemeClr val="tx1"/>
                </a:solidFill>
                <a:effectLst/>
                <a:latin typeface="Segoe UI Light" pitchFamily="34" charset="0"/>
                <a:ea typeface="+mn-ea"/>
                <a:cs typeface="+mn-cs"/>
              </a:rPr>
              <a:t>"And my favorite: </a:t>
            </a:r>
            <a:r>
              <a:rPr lang="en-US" sz="882" b="1" i="0" kern="1200" dirty="0" smtClean="0">
                <a:solidFill>
                  <a:schemeClr val="tx1"/>
                </a:solidFill>
                <a:effectLst/>
                <a:latin typeface="Segoe UI Light" pitchFamily="34" charset="0"/>
                <a:ea typeface="+mn-ea"/>
                <a:cs typeface="+mn-cs"/>
              </a:rPr>
              <a:t>Parallel Execution</a:t>
            </a:r>
            <a:r>
              <a:rPr lang="en-US" sz="882" b="0" i="0" kern="1200" dirty="0" smtClean="0">
                <a:solidFill>
                  <a:schemeClr val="tx1"/>
                </a:solidFill>
                <a:effectLst/>
                <a:latin typeface="Segoe UI Light" pitchFamily="34" charset="0"/>
                <a:ea typeface="+mn-ea"/>
                <a:cs typeface="+mn-cs"/>
              </a:rPr>
              <a:t>. Instead of doing Task 1, then 2, then 3, Argo can run 100 tasks at the exact same time if you have the resources. It’s a massive time-saver."</a:t>
            </a:r>
          </a:p>
          <a:p>
            <a:endParaRPr lang="en-US" sz="882" b="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12:33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29856288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1" kern="1200" dirty="0" smtClean="0">
                <a:solidFill>
                  <a:schemeClr val="tx1"/>
                </a:solidFill>
                <a:effectLst/>
                <a:latin typeface="Segoe UI Light" pitchFamily="34" charset="0"/>
                <a:ea typeface="+mn-ea"/>
                <a:cs typeface="+mn-cs"/>
              </a:rPr>
              <a:t>### Presenter Notes</a:t>
            </a:r>
          </a:p>
          <a:p>
            <a:r>
              <a:rPr lang="en-US" sz="882" b="1" kern="1200" dirty="0" smtClean="0">
                <a:solidFill>
                  <a:schemeClr val="tx1"/>
                </a:solidFill>
                <a:effectLst/>
                <a:latin typeface="Segoe UI Light" pitchFamily="34" charset="0"/>
                <a:ea typeface="+mn-ea"/>
                <a:cs typeface="+mn-cs"/>
              </a:rPr>
              <a:t>- I’ve use Airflow way back since 2018</a:t>
            </a:r>
            <a:r>
              <a:rPr lang="en-US" sz="882" b="1" kern="1200" baseline="0" dirty="0" smtClean="0">
                <a:solidFill>
                  <a:schemeClr val="tx1"/>
                </a:solidFill>
                <a:effectLst/>
                <a:latin typeface="Segoe UI Light" pitchFamily="34" charset="0"/>
                <a:ea typeface="+mn-ea"/>
                <a:cs typeface="+mn-cs"/>
              </a:rPr>
              <a:t> and having experience and familiar on both, </a:t>
            </a:r>
            <a:r>
              <a:rPr lang="en-US" sz="882" b="1" kern="1200" baseline="0" dirty="0" err="1" smtClean="0">
                <a:solidFill>
                  <a:schemeClr val="tx1"/>
                </a:solidFill>
                <a:effectLst/>
                <a:latin typeface="Segoe UI Light" pitchFamily="34" charset="0"/>
                <a:ea typeface="+mn-ea"/>
                <a:cs typeface="+mn-cs"/>
              </a:rPr>
              <a:t>im</a:t>
            </a:r>
            <a:r>
              <a:rPr lang="en-US" sz="882" b="1" kern="1200" baseline="0" dirty="0" smtClean="0">
                <a:solidFill>
                  <a:schemeClr val="tx1"/>
                </a:solidFill>
                <a:effectLst/>
                <a:latin typeface="Segoe UI Light" pitchFamily="34" charset="0"/>
                <a:ea typeface="+mn-ea"/>
                <a:cs typeface="+mn-cs"/>
              </a:rPr>
              <a:t> jotting down what main differences on both side and what I’d love on both</a:t>
            </a:r>
            <a:endParaRPr lang="en-US" sz="882" b="0" kern="1200" dirty="0" smtClean="0">
              <a:solidFill>
                <a:schemeClr val="tx1"/>
              </a:solidFill>
              <a:effectLst/>
              <a:latin typeface="Segoe UI Light" pitchFamily="34" charset="0"/>
              <a:ea typeface="+mn-ea"/>
              <a:cs typeface="+mn-cs"/>
            </a:endParaRPr>
          </a:p>
          <a:p>
            <a:pPr marL="0" marR="0" indent="0" algn="l" defTabSz="914367" rtl="0" eaLnBrk="1" fontAlgn="auto" latinLnBrk="0" hangingPunct="1">
              <a:lnSpc>
                <a:spcPct val="90000"/>
              </a:lnSpc>
              <a:spcBef>
                <a:spcPts val="0"/>
              </a:spcBef>
              <a:spcAft>
                <a:spcPts val="333"/>
              </a:spcAft>
              <a:buClrTx/>
              <a:buSzTx/>
              <a:buFontTx/>
              <a:buNone/>
              <a:tabLst/>
              <a:defRPr/>
            </a:pPr>
            <a:r>
              <a:rPr lang="en-US" sz="882" b="1" kern="1200" dirty="0" smtClean="0">
                <a:solidFill>
                  <a:schemeClr val="tx1"/>
                </a:solidFill>
                <a:effectLst/>
                <a:latin typeface="Segoe UI Light" pitchFamily="34" charset="0"/>
                <a:ea typeface="+mn-ea"/>
                <a:cs typeface="+mn-cs"/>
              </a:rPr>
              <a:t>- This slides</a:t>
            </a:r>
            <a:r>
              <a:rPr lang="en-US" sz="882" b="1" kern="1200" baseline="0" dirty="0" smtClean="0">
                <a:solidFill>
                  <a:schemeClr val="tx1"/>
                </a:solidFill>
                <a:effectLst/>
                <a:latin typeface="Segoe UI Light" pitchFamily="34" charset="0"/>
                <a:ea typeface="+mn-ea"/>
                <a:cs typeface="+mn-cs"/>
              </a:rPr>
              <a:t> not </a:t>
            </a:r>
            <a:r>
              <a:rPr lang="en-US" sz="882" b="1" kern="1200" baseline="0" dirty="0" err="1" smtClean="0">
                <a:solidFill>
                  <a:schemeClr val="tx1"/>
                </a:solidFill>
                <a:effectLst/>
                <a:latin typeface="Segoe UI Light" pitchFamily="34" charset="0"/>
                <a:ea typeface="+mn-ea"/>
                <a:cs typeface="+mn-cs"/>
              </a:rPr>
              <a:t>gonna</a:t>
            </a:r>
            <a:r>
              <a:rPr lang="en-US" sz="882" b="1" kern="1200" baseline="0" dirty="0" smtClean="0">
                <a:solidFill>
                  <a:schemeClr val="tx1"/>
                </a:solidFill>
                <a:effectLst/>
                <a:latin typeface="Segoe UI Light" pitchFamily="34" charset="0"/>
                <a:ea typeface="+mn-ea"/>
                <a:cs typeface="+mn-cs"/>
              </a:rPr>
              <a:t> be pro towards any of the tools as its not compete each other, yet with proper </a:t>
            </a:r>
            <a:r>
              <a:rPr lang="en-US" sz="882" b="1" kern="1200" baseline="0" dirty="0" err="1" smtClean="0">
                <a:solidFill>
                  <a:schemeClr val="tx1"/>
                </a:solidFill>
                <a:effectLst/>
                <a:latin typeface="Segoe UI Light" pitchFamily="34" charset="0"/>
                <a:ea typeface="+mn-ea"/>
                <a:cs typeface="+mn-cs"/>
              </a:rPr>
              <a:t>solutioning</a:t>
            </a:r>
            <a:r>
              <a:rPr lang="en-US" sz="882" b="1" kern="1200" baseline="0" dirty="0" smtClean="0">
                <a:solidFill>
                  <a:schemeClr val="tx1"/>
                </a:solidFill>
                <a:effectLst/>
                <a:latin typeface="Segoe UI Light" pitchFamily="34" charset="0"/>
                <a:ea typeface="+mn-ea"/>
                <a:cs typeface="+mn-cs"/>
              </a:rPr>
              <a:t> it can integrate between them to get best of both</a:t>
            </a:r>
            <a:endParaRPr lang="en-US" sz="882" b="1" kern="1200" dirty="0" smtClean="0">
              <a:solidFill>
                <a:schemeClr val="tx1"/>
              </a:solidFill>
              <a:effectLst/>
              <a:latin typeface="Segoe UI Light" pitchFamily="34" charset="0"/>
              <a:ea typeface="+mn-ea"/>
              <a:cs typeface="+mn-cs"/>
            </a:endParaRPr>
          </a:p>
          <a:p>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 Keep this balanced and objective</a:t>
            </a:r>
          </a:p>
          <a:p>
            <a:r>
              <a:rPr lang="en-US" sz="882" b="0" kern="1200" dirty="0" smtClean="0">
                <a:solidFill>
                  <a:schemeClr val="tx1"/>
                </a:solidFill>
                <a:effectLst/>
                <a:latin typeface="Segoe UI Light" pitchFamily="34" charset="0"/>
                <a:ea typeface="+mn-ea"/>
                <a:cs typeface="+mn-cs"/>
              </a:rPr>
              <a:t>* Avoid positioning as replacement-only discussion</a:t>
            </a:r>
          </a:p>
          <a:p>
            <a:r>
              <a:rPr lang="en-US" sz="882" b="0" kern="1200" dirty="0" smtClean="0">
                <a:solidFill>
                  <a:schemeClr val="tx1"/>
                </a:solidFill>
                <a:effectLst/>
                <a:latin typeface="Segoe UI Light" pitchFamily="34" charset="0"/>
                <a:ea typeface="+mn-ea"/>
                <a:cs typeface="+mn-cs"/>
              </a:rPr>
              <a:t>* Emphasize use-case suitability</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1" kern="1200" dirty="0" smtClean="0">
                <a:solidFill>
                  <a:schemeClr val="tx1"/>
                </a:solidFill>
                <a:effectLst/>
                <a:latin typeface="Segoe UI Light" pitchFamily="34" charset="0"/>
                <a:ea typeface="+mn-ea"/>
                <a:cs typeface="+mn-cs"/>
              </a:rPr>
              <a:t>## Important Comparison</a:t>
            </a: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 With Airflow, </a:t>
            </a:r>
            <a:r>
              <a:rPr lang="en-US" sz="882" b="0" kern="1200" dirty="0" err="1" smtClean="0">
                <a:solidFill>
                  <a:schemeClr val="tx1"/>
                </a:solidFill>
                <a:effectLst/>
                <a:latin typeface="Segoe UI Light" pitchFamily="34" charset="0"/>
                <a:ea typeface="+mn-ea"/>
                <a:cs typeface="+mn-cs"/>
              </a:rPr>
              <a:t>Kubernetes</a:t>
            </a:r>
            <a:r>
              <a:rPr lang="en-US" sz="882" b="0" kern="1200" dirty="0" smtClean="0">
                <a:solidFill>
                  <a:schemeClr val="tx1"/>
                </a:solidFill>
                <a:effectLst/>
                <a:latin typeface="Segoe UI Light" pitchFamily="34" charset="0"/>
                <a:ea typeface="+mn-ea"/>
                <a:cs typeface="+mn-cs"/>
              </a:rPr>
              <a:t> is often an executor plugin.</a:t>
            </a:r>
          </a:p>
          <a:p>
            <a:r>
              <a:rPr lang="en-US" sz="882" b="0" kern="1200" dirty="0" smtClean="0">
                <a:solidFill>
                  <a:schemeClr val="tx1"/>
                </a:solidFill>
                <a:effectLst/>
                <a:latin typeface="Segoe UI Light" pitchFamily="34" charset="0"/>
                <a:ea typeface="+mn-ea"/>
                <a:cs typeface="+mn-cs"/>
              </a:rPr>
              <a:t>- With Argo, </a:t>
            </a:r>
            <a:r>
              <a:rPr lang="en-US" sz="882" b="0" kern="1200" dirty="0" err="1" smtClean="0">
                <a:solidFill>
                  <a:schemeClr val="tx1"/>
                </a:solidFill>
                <a:effectLst/>
                <a:latin typeface="Segoe UI Light" pitchFamily="34" charset="0"/>
                <a:ea typeface="+mn-ea"/>
                <a:cs typeface="+mn-cs"/>
              </a:rPr>
              <a:t>Kubernetes</a:t>
            </a:r>
            <a:r>
              <a:rPr lang="en-US" sz="882" b="0" kern="1200" dirty="0" smtClean="0">
                <a:solidFill>
                  <a:schemeClr val="tx1"/>
                </a:solidFill>
                <a:effectLst/>
                <a:latin typeface="Segoe UI Light" pitchFamily="34" charset="0"/>
                <a:ea typeface="+mn-ea"/>
                <a:cs typeface="+mn-cs"/>
              </a:rPr>
              <a:t> IS the execution engine.</a:t>
            </a:r>
          </a:p>
          <a:p>
            <a:endParaRPr lang="en-US" sz="882" b="0" kern="1200" dirty="0" smtClean="0">
              <a:solidFill>
                <a:schemeClr val="tx1"/>
              </a:solidFill>
              <a:effectLst/>
              <a:latin typeface="Segoe UI Light" pitchFamily="34" charset="0"/>
              <a:ea typeface="+mn-ea"/>
              <a:cs typeface="+mn-cs"/>
            </a:endParaRPr>
          </a:p>
          <a:p>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1. Now, lets go to might</a:t>
            </a:r>
            <a:r>
              <a:rPr lang="en-US" sz="882" b="0" kern="1200" baseline="0" dirty="0" smtClean="0">
                <a:solidFill>
                  <a:schemeClr val="tx1"/>
                </a:solidFill>
                <a:effectLst/>
                <a:latin typeface="Segoe UI Light" pitchFamily="34" charset="0"/>
                <a:ea typeface="+mn-ea"/>
                <a:cs typeface="+mn-cs"/>
              </a:rPr>
              <a:t> be a heated page, what does it make any difference with Airflow itself</a:t>
            </a:r>
            <a:br>
              <a:rPr lang="en-US" sz="882" b="0" kern="1200" baseline="0" dirty="0" smtClean="0">
                <a:solidFill>
                  <a:schemeClr val="tx1"/>
                </a:solidFill>
                <a:effectLst/>
                <a:latin typeface="Segoe UI Light" pitchFamily="34" charset="0"/>
                <a:ea typeface="+mn-ea"/>
                <a:cs typeface="+mn-cs"/>
              </a:rPr>
            </a:br>
            <a:r>
              <a:rPr lang="en-US" sz="882" b="0" kern="1200" baseline="0" dirty="0" smtClean="0">
                <a:solidFill>
                  <a:schemeClr val="tx1"/>
                </a:solidFill>
                <a:effectLst/>
                <a:latin typeface="Segoe UI Light" pitchFamily="34" charset="0"/>
                <a:ea typeface="+mn-ea"/>
                <a:cs typeface="+mn-cs"/>
              </a:rPr>
              <a:t>2. Just to let everyone aware, </a:t>
            </a:r>
            <a:r>
              <a:rPr lang="en-US" sz="882" b="0" kern="1200" dirty="0" smtClean="0">
                <a:solidFill>
                  <a:schemeClr val="tx1"/>
                </a:solidFill>
                <a:effectLst/>
                <a:latin typeface="Segoe UI Light" pitchFamily="34" charset="0"/>
                <a:ea typeface="+mn-ea"/>
                <a:cs typeface="+mn-cs"/>
              </a:rPr>
              <a:t>I’ve use Airflow way back since 2018 therefore pretty much can say I also a fan of Airflow</a:t>
            </a:r>
          </a:p>
          <a:p>
            <a:r>
              <a:rPr lang="en-US" sz="882" b="0" kern="1200" dirty="0" smtClean="0">
                <a:solidFill>
                  <a:schemeClr val="tx1"/>
                </a:solidFill>
                <a:effectLst/>
                <a:latin typeface="Segoe UI Light" pitchFamily="34" charset="0"/>
                <a:ea typeface="+mn-ea"/>
                <a:cs typeface="+mn-cs"/>
              </a:rPr>
              <a:t>3.</a:t>
            </a:r>
            <a:r>
              <a:rPr lang="en-US" sz="882" b="0" kern="1200" baseline="0" dirty="0" smtClean="0">
                <a:solidFill>
                  <a:schemeClr val="tx1"/>
                </a:solidFill>
                <a:effectLst/>
                <a:latin typeface="Segoe UI Light" pitchFamily="34" charset="0"/>
                <a:ea typeface="+mn-ea"/>
                <a:cs typeface="+mn-cs"/>
              </a:rPr>
              <a:t> Thus having experience and familiar on both, here </a:t>
            </a:r>
            <a:r>
              <a:rPr lang="en-US" sz="882" b="0" kern="1200" baseline="0" dirty="0" err="1" smtClean="0">
                <a:solidFill>
                  <a:schemeClr val="tx1"/>
                </a:solidFill>
                <a:effectLst/>
                <a:latin typeface="Segoe UI Light" pitchFamily="34" charset="0"/>
                <a:ea typeface="+mn-ea"/>
                <a:cs typeface="+mn-cs"/>
              </a:rPr>
              <a:t>im</a:t>
            </a:r>
            <a:r>
              <a:rPr lang="en-US" sz="882" b="0" kern="1200" baseline="0" dirty="0" smtClean="0">
                <a:solidFill>
                  <a:schemeClr val="tx1"/>
                </a:solidFill>
                <a:effectLst/>
                <a:latin typeface="Segoe UI Light" pitchFamily="34" charset="0"/>
                <a:ea typeface="+mn-ea"/>
                <a:cs typeface="+mn-cs"/>
              </a:rPr>
              <a:t> jotting down that differ between both side and what I’d love towards each of it</a:t>
            </a:r>
            <a:br>
              <a:rPr lang="en-US" sz="882" b="0" kern="1200" baseline="0" dirty="0" smtClean="0">
                <a:solidFill>
                  <a:schemeClr val="tx1"/>
                </a:solidFill>
                <a:effectLst/>
                <a:latin typeface="Segoe UI Light" pitchFamily="34" charset="0"/>
                <a:ea typeface="+mn-ea"/>
                <a:cs typeface="+mn-cs"/>
              </a:rPr>
            </a:br>
            <a:r>
              <a:rPr lang="en-US" sz="882" b="0" kern="1200" baseline="0" dirty="0" smtClean="0">
                <a:solidFill>
                  <a:schemeClr val="tx1"/>
                </a:solidFill>
                <a:effectLst/>
                <a:latin typeface="Segoe UI Light" pitchFamily="34" charset="0"/>
                <a:ea typeface="+mn-ea"/>
                <a:cs typeface="+mn-cs"/>
              </a:rPr>
              <a:t/>
            </a:r>
            <a:br>
              <a:rPr lang="en-US" sz="882" b="0" kern="1200" baseline="0" dirty="0" smtClean="0">
                <a:solidFill>
                  <a:schemeClr val="tx1"/>
                </a:solidFill>
                <a:effectLst/>
                <a:latin typeface="Segoe UI Light" pitchFamily="34" charset="0"/>
                <a:ea typeface="+mn-ea"/>
                <a:cs typeface="+mn-cs"/>
              </a:rPr>
            </a:br>
            <a:r>
              <a:rPr lang="en-US" sz="882" b="0" kern="1200" baseline="0" dirty="0" smtClean="0">
                <a:solidFill>
                  <a:schemeClr val="tx1"/>
                </a:solidFill>
                <a:effectLst/>
                <a:latin typeface="Segoe UI Light" pitchFamily="34" charset="0"/>
                <a:ea typeface="+mn-ea"/>
                <a:cs typeface="+mn-cs"/>
              </a:rPr>
              <a:t>Capability</a:t>
            </a:r>
            <a:endParaRPr lang="en-US" sz="882" b="0" kern="1200" dirty="0" smtClean="0">
              <a:solidFill>
                <a:schemeClr val="tx1"/>
              </a:solidFill>
              <a:effectLst/>
              <a:latin typeface="Segoe UI Light" pitchFamily="34" charset="0"/>
              <a:ea typeface="+mn-ea"/>
              <a:cs typeface="+mn-cs"/>
            </a:endParaRPr>
          </a:p>
          <a:p>
            <a:r>
              <a:rPr lang="en-US" sz="882" b="0" kern="1200" dirty="0" smtClean="0">
                <a:solidFill>
                  <a:schemeClr val="tx1"/>
                </a:solidFill>
                <a:effectLst/>
                <a:latin typeface="Segoe UI Light" pitchFamily="34" charset="0"/>
                <a:ea typeface="+mn-ea"/>
                <a:cs typeface="+mn-cs"/>
              </a:rPr>
              <a:t>4. Simplify</a:t>
            </a:r>
            <a:r>
              <a:rPr lang="en-US" sz="882" b="0" kern="1200" baseline="0" dirty="0" smtClean="0">
                <a:solidFill>
                  <a:schemeClr val="tx1"/>
                </a:solidFill>
                <a:effectLst/>
                <a:latin typeface="Segoe UI Light" pitchFamily="34" charset="0"/>
                <a:ea typeface="+mn-ea"/>
                <a:cs typeface="+mn-cs"/>
              </a:rPr>
              <a:t> satu2</a:t>
            </a:r>
          </a:p>
          <a:p>
            <a:endParaRPr lang="en-US" sz="882" b="0" kern="1200" baseline="0" dirty="0" smtClean="0">
              <a:solidFill>
                <a:schemeClr val="tx1"/>
              </a:solidFill>
              <a:effectLst/>
              <a:latin typeface="Segoe UI Light" pitchFamily="34" charset="0"/>
              <a:ea typeface="+mn-ea"/>
              <a:cs typeface="+mn-cs"/>
            </a:endParaRPr>
          </a:p>
          <a:p>
            <a:r>
              <a:rPr lang="en-US" sz="882" b="0" kern="1200" baseline="0" dirty="0" smtClean="0">
                <a:solidFill>
                  <a:schemeClr val="tx1"/>
                </a:solidFill>
                <a:effectLst/>
                <a:latin typeface="Segoe UI Light" pitchFamily="34" charset="0"/>
                <a:ea typeface="+mn-ea"/>
                <a:cs typeface="+mn-cs"/>
              </a:rPr>
              <a:t>Airflow</a:t>
            </a:r>
          </a:p>
          <a:p>
            <a:r>
              <a:rPr lang="en-US" sz="882" b="0" kern="1200" baseline="0" dirty="0" smtClean="0">
                <a:solidFill>
                  <a:schemeClr val="tx1"/>
                </a:solidFill>
                <a:effectLst/>
                <a:latin typeface="Segoe UI Light" pitchFamily="34" charset="0"/>
                <a:ea typeface="+mn-ea"/>
                <a:cs typeface="+mn-cs"/>
              </a:rPr>
              <a:t>5. For me as designing end-2-end solution myself, I’d go for Airflow if :-</a:t>
            </a:r>
          </a:p>
          <a:p>
            <a:pPr marL="171450" marR="0" indent="-171450" algn="l" defTabSz="914367" rtl="0" eaLnBrk="1" fontAlgn="auto" latinLnBrk="0" hangingPunct="1">
              <a:lnSpc>
                <a:spcPct val="90000"/>
              </a:lnSpc>
              <a:spcBef>
                <a:spcPts val="0"/>
              </a:spcBef>
              <a:spcAft>
                <a:spcPts val="333"/>
              </a:spcAft>
              <a:buClrTx/>
              <a:buSzTx/>
              <a:buFontTx/>
              <a:buChar char="-"/>
              <a:tabLst/>
              <a:defRPr/>
            </a:pPr>
            <a:r>
              <a:rPr lang="en-US" sz="882" b="0" kern="1200" baseline="0" dirty="0" smtClean="0">
                <a:solidFill>
                  <a:schemeClr val="tx1"/>
                </a:solidFill>
                <a:effectLst/>
                <a:latin typeface="Segoe UI Light" pitchFamily="34" charset="0"/>
                <a:ea typeface="+mn-ea"/>
                <a:cs typeface="+mn-cs"/>
              </a:rPr>
              <a:t>I have a team of traditional engineering myself where mainly in python language</a:t>
            </a:r>
          </a:p>
          <a:p>
            <a:pPr marL="171450" marR="0" indent="-171450" algn="l" defTabSz="914367" rtl="0" eaLnBrk="1" fontAlgn="auto" latinLnBrk="0" hangingPunct="1">
              <a:lnSpc>
                <a:spcPct val="90000"/>
              </a:lnSpc>
              <a:spcBef>
                <a:spcPts val="0"/>
              </a:spcBef>
              <a:spcAft>
                <a:spcPts val="333"/>
              </a:spcAft>
              <a:buClrTx/>
              <a:buSzTx/>
              <a:buFontTx/>
              <a:buChar char="-"/>
              <a:tabLst/>
              <a:defRPr/>
            </a:pPr>
            <a:r>
              <a:rPr lang="en-US" sz="882" b="0" kern="1200" dirty="0" smtClean="0">
                <a:solidFill>
                  <a:schemeClr val="tx1"/>
                </a:solidFill>
                <a:effectLst/>
                <a:latin typeface="Segoe UI Light" pitchFamily="34" charset="0"/>
                <a:ea typeface="+mn-ea"/>
                <a:cs typeface="+mn-cs"/>
              </a:rPr>
              <a:t>90% of BAU pipeline are SQL heavy DML process</a:t>
            </a:r>
          </a:p>
          <a:p>
            <a:pPr marL="171450" indent="-171450">
              <a:buFontTx/>
              <a:buChar char="-"/>
            </a:pPr>
            <a:r>
              <a:rPr lang="en-US" sz="882" b="0" kern="1200" dirty="0" smtClean="0">
                <a:solidFill>
                  <a:schemeClr val="tx1"/>
                </a:solidFill>
                <a:effectLst/>
                <a:latin typeface="Segoe UI Light" pitchFamily="34" charset="0"/>
                <a:ea typeface="+mn-ea"/>
                <a:cs typeface="+mn-cs"/>
              </a:rPr>
              <a:t>My organization are already in enterprise</a:t>
            </a:r>
            <a:r>
              <a:rPr lang="en-US" sz="882" b="0" kern="1200" baseline="0" dirty="0" smtClean="0">
                <a:solidFill>
                  <a:schemeClr val="tx1"/>
                </a:solidFill>
                <a:effectLst/>
                <a:latin typeface="Segoe UI Light" pitchFamily="34" charset="0"/>
                <a:ea typeface="+mn-ea"/>
                <a:cs typeface="+mn-cs"/>
              </a:rPr>
              <a:t> ecosystem where everything pretty much have its own dedicated team to </a:t>
            </a:r>
            <a:r>
              <a:rPr lang="en-US" sz="882" b="0" kern="1200" baseline="0" dirty="0" err="1" smtClean="0">
                <a:solidFill>
                  <a:schemeClr val="tx1"/>
                </a:solidFill>
                <a:effectLst/>
                <a:latin typeface="Segoe UI Light" pitchFamily="34" charset="0"/>
                <a:ea typeface="+mn-ea"/>
                <a:cs typeface="+mn-cs"/>
              </a:rPr>
              <a:t>solutionize</a:t>
            </a:r>
            <a:r>
              <a:rPr lang="en-US" sz="882" b="0" kern="1200" baseline="0" dirty="0" smtClean="0">
                <a:solidFill>
                  <a:schemeClr val="tx1"/>
                </a:solidFill>
                <a:effectLst/>
                <a:latin typeface="Segoe UI Light" pitchFamily="34" charset="0"/>
                <a:ea typeface="+mn-ea"/>
                <a:cs typeface="+mn-cs"/>
              </a:rPr>
              <a:t> the decision</a:t>
            </a:r>
          </a:p>
          <a:p>
            <a:pPr marL="171450" indent="-171450">
              <a:buFontTx/>
              <a:buChar char="-"/>
            </a:pPr>
            <a:endParaRPr lang="en-US" sz="882" b="0" kern="1200" baseline="0" dirty="0" smtClean="0">
              <a:solidFill>
                <a:schemeClr val="tx1"/>
              </a:solidFill>
              <a:effectLst/>
              <a:latin typeface="Segoe UI Light" pitchFamily="34" charset="0"/>
              <a:ea typeface="+mn-ea"/>
              <a:cs typeface="+mn-cs"/>
            </a:endParaRPr>
          </a:p>
          <a:p>
            <a:pPr marL="0" indent="0">
              <a:buFontTx/>
              <a:buNone/>
            </a:pPr>
            <a:r>
              <a:rPr lang="en-US" sz="882" b="0" kern="1200" baseline="0" dirty="0" smtClean="0">
                <a:solidFill>
                  <a:schemeClr val="tx1"/>
                </a:solidFill>
                <a:effectLst/>
                <a:latin typeface="Segoe UI Light" pitchFamily="34" charset="0"/>
                <a:ea typeface="+mn-ea"/>
                <a:cs typeface="+mn-cs"/>
              </a:rPr>
              <a:t>Argo</a:t>
            </a:r>
          </a:p>
          <a:p>
            <a:pPr marL="0" indent="0">
              <a:buFontTx/>
              <a:buNone/>
            </a:pPr>
            <a:r>
              <a:rPr lang="en-US" sz="882" b="0" kern="1200" baseline="0" dirty="0" smtClean="0">
                <a:solidFill>
                  <a:schemeClr val="tx1"/>
                </a:solidFill>
                <a:effectLst/>
                <a:latin typeface="Segoe UI Light" pitchFamily="34" charset="0"/>
                <a:ea typeface="+mn-ea"/>
                <a:cs typeface="+mn-cs"/>
              </a:rPr>
              <a:t>6. For </a:t>
            </a:r>
            <a:r>
              <a:rPr lang="en-US" sz="882" b="0" kern="1200" baseline="0" dirty="0" err="1" smtClean="0">
                <a:solidFill>
                  <a:schemeClr val="tx1"/>
                </a:solidFill>
                <a:effectLst/>
                <a:latin typeface="Segoe UI Light" pitchFamily="34" charset="0"/>
                <a:ea typeface="+mn-ea"/>
                <a:cs typeface="+mn-cs"/>
              </a:rPr>
              <a:t>argo</a:t>
            </a:r>
            <a:r>
              <a:rPr lang="en-US" sz="882" b="0" kern="1200" baseline="0" dirty="0" smtClean="0">
                <a:solidFill>
                  <a:schemeClr val="tx1"/>
                </a:solidFill>
                <a:effectLst/>
                <a:latin typeface="Segoe UI Light" pitchFamily="34" charset="0"/>
                <a:ea typeface="+mn-ea"/>
                <a:cs typeface="+mn-cs"/>
              </a:rPr>
              <a:t> itself, I’d go for it if :-</a:t>
            </a:r>
          </a:p>
          <a:p>
            <a:pPr marL="171450" indent="-171450">
              <a:buFontTx/>
              <a:buChar char="-"/>
            </a:pPr>
            <a:r>
              <a:rPr lang="en-US" sz="882" b="0" kern="1200" baseline="0" dirty="0" smtClean="0">
                <a:solidFill>
                  <a:schemeClr val="tx1"/>
                </a:solidFill>
                <a:effectLst/>
                <a:latin typeface="Segoe UI Light" pitchFamily="34" charset="0"/>
                <a:ea typeface="+mn-ea"/>
                <a:cs typeface="+mn-cs"/>
              </a:rPr>
              <a:t>I’ve supported capability of k8s-first mindset as architecture solution </a:t>
            </a:r>
          </a:p>
          <a:p>
            <a:pPr marL="171450" indent="-171450">
              <a:buFontTx/>
              <a:buChar char="-"/>
            </a:pPr>
            <a:r>
              <a:rPr lang="en-US" sz="882" b="0" kern="1200" baseline="0" dirty="0" smtClean="0">
                <a:solidFill>
                  <a:schemeClr val="tx1"/>
                </a:solidFill>
                <a:effectLst/>
                <a:latin typeface="Segoe UI Light" pitchFamily="34" charset="0"/>
                <a:ea typeface="+mn-ea"/>
                <a:cs typeface="+mn-cs"/>
              </a:rPr>
              <a:t>I’m adopting platform engineering model as micro service solution</a:t>
            </a:r>
          </a:p>
          <a:p>
            <a:pPr marL="171450" indent="-171450">
              <a:buFontTx/>
              <a:buChar char="-"/>
            </a:pPr>
            <a:r>
              <a:rPr lang="en-US" sz="882" b="0" kern="1200" baseline="0" dirty="0" smtClean="0">
                <a:solidFill>
                  <a:schemeClr val="tx1"/>
                </a:solidFill>
                <a:effectLst/>
                <a:latin typeface="Segoe UI Light" pitchFamily="34" charset="0"/>
                <a:ea typeface="+mn-ea"/>
                <a:cs typeface="+mn-cs"/>
              </a:rPr>
              <a:t>I’d require to converge the gap of Data Analysis and Online Learning together to build modern way of ML feature store</a:t>
            </a:r>
          </a:p>
          <a:p>
            <a:pPr marL="171450" indent="-171450">
              <a:buFontTx/>
              <a:buChar char="-"/>
            </a:pPr>
            <a:endParaRPr lang="en-US" sz="882" b="0" kern="1200" baseline="0" dirty="0" smtClean="0">
              <a:solidFill>
                <a:schemeClr val="tx1"/>
              </a:solidFill>
              <a:effectLst/>
              <a:latin typeface="Segoe UI Light" pitchFamily="34" charset="0"/>
              <a:ea typeface="+mn-ea"/>
              <a:cs typeface="+mn-cs"/>
            </a:endParaRPr>
          </a:p>
          <a:p>
            <a:r>
              <a:rPr lang="en-US" sz="882" b="0" kern="1200" baseline="0" dirty="0" smtClean="0">
                <a:solidFill>
                  <a:schemeClr val="tx1"/>
                </a:solidFill>
                <a:effectLst/>
                <a:latin typeface="Segoe UI Light" pitchFamily="34" charset="0"/>
                <a:ea typeface="+mn-ea"/>
                <a:cs typeface="+mn-cs"/>
              </a:rPr>
              <a:t>7. And for that, the important comparison that I could express upon this 2 service is</a:t>
            </a:r>
            <a:br>
              <a:rPr lang="en-US" sz="882" b="0" kern="1200" baseline="0" dirty="0" smtClean="0">
                <a:solidFill>
                  <a:schemeClr val="tx1"/>
                </a:solidFill>
                <a:effectLst/>
                <a:latin typeface="Segoe UI Light" pitchFamily="34" charset="0"/>
                <a:ea typeface="+mn-ea"/>
                <a:cs typeface="+mn-cs"/>
              </a:rPr>
            </a:br>
            <a:r>
              <a:rPr lang="en-US" sz="882" b="1" kern="1200" dirty="0" smtClean="0">
                <a:solidFill>
                  <a:schemeClr val="tx1"/>
                </a:solidFill>
                <a:effectLst/>
                <a:latin typeface="Segoe UI Light" pitchFamily="34" charset="0"/>
                <a:ea typeface="+mn-ea"/>
                <a:cs typeface="+mn-cs"/>
              </a:rPr>
              <a:t>- With Airflow</a:t>
            </a:r>
            <a:r>
              <a:rPr lang="en-US" sz="882" b="0" kern="1200" dirty="0" smtClean="0">
                <a:solidFill>
                  <a:schemeClr val="tx1"/>
                </a:solidFill>
                <a:effectLst/>
                <a:latin typeface="Segoe UI Light" pitchFamily="34" charset="0"/>
                <a:ea typeface="+mn-ea"/>
                <a:cs typeface="+mn-cs"/>
              </a:rPr>
              <a:t>, when comes to </a:t>
            </a:r>
            <a:r>
              <a:rPr lang="en-US" sz="882" b="0" kern="1200" dirty="0" err="1" smtClean="0">
                <a:solidFill>
                  <a:schemeClr val="tx1"/>
                </a:solidFill>
                <a:effectLst/>
                <a:latin typeface="Segoe UI Light" pitchFamily="34" charset="0"/>
                <a:ea typeface="+mn-ea"/>
                <a:cs typeface="+mn-cs"/>
              </a:rPr>
              <a:t>Kubernetes</a:t>
            </a:r>
            <a:r>
              <a:rPr lang="en-US" sz="882" b="0" kern="1200" dirty="0" smtClean="0">
                <a:solidFill>
                  <a:schemeClr val="tx1"/>
                </a:solidFill>
                <a:effectLst/>
                <a:latin typeface="Segoe UI Light" pitchFamily="34" charset="0"/>
                <a:ea typeface="+mn-ea"/>
                <a:cs typeface="+mn-cs"/>
              </a:rPr>
              <a:t>,</a:t>
            </a:r>
            <a:r>
              <a:rPr lang="en-US" sz="882" b="0" kern="1200" baseline="0" dirty="0" smtClean="0">
                <a:solidFill>
                  <a:schemeClr val="tx1"/>
                </a:solidFill>
                <a:effectLst/>
                <a:latin typeface="Segoe UI Light" pitchFamily="34" charset="0"/>
                <a:ea typeface="+mn-ea"/>
                <a:cs typeface="+mn-cs"/>
              </a:rPr>
              <a:t> </a:t>
            </a:r>
            <a:r>
              <a:rPr lang="en-US" sz="882" b="0" kern="1200" dirty="0" smtClean="0">
                <a:solidFill>
                  <a:schemeClr val="tx1"/>
                </a:solidFill>
                <a:effectLst/>
                <a:latin typeface="Segoe UI Light" pitchFamily="34" charset="0"/>
                <a:ea typeface="+mn-ea"/>
                <a:cs typeface="+mn-cs"/>
              </a:rPr>
              <a:t>it is often use as executor plugin</a:t>
            </a:r>
            <a:r>
              <a:rPr lang="en-US" sz="882" b="0" kern="1200" baseline="0" dirty="0" smtClean="0">
                <a:solidFill>
                  <a:schemeClr val="tx1"/>
                </a:solidFill>
                <a:effectLst/>
                <a:latin typeface="Segoe UI Light" pitchFamily="34" charset="0"/>
                <a:ea typeface="+mn-ea"/>
                <a:cs typeface="+mn-cs"/>
              </a:rPr>
              <a:t> via its own build in Operators</a:t>
            </a:r>
            <a:endParaRPr lang="en-US" sz="882" b="0" kern="1200" dirty="0" smtClean="0">
              <a:solidFill>
                <a:schemeClr val="tx1"/>
              </a:solidFill>
              <a:effectLst/>
              <a:latin typeface="Segoe UI Light" pitchFamily="34" charset="0"/>
              <a:ea typeface="+mn-ea"/>
              <a:cs typeface="+mn-cs"/>
            </a:endParaRPr>
          </a:p>
          <a:p>
            <a:r>
              <a:rPr lang="en-US" sz="882" b="1" kern="1200" dirty="0" smtClean="0">
                <a:solidFill>
                  <a:schemeClr val="tx1"/>
                </a:solidFill>
                <a:effectLst/>
                <a:latin typeface="Segoe UI Light" pitchFamily="34" charset="0"/>
                <a:ea typeface="+mn-ea"/>
                <a:cs typeface="+mn-cs"/>
              </a:rPr>
              <a:t>- With Argo</a:t>
            </a:r>
            <a:r>
              <a:rPr lang="en-US" sz="882" b="0" kern="1200" dirty="0" smtClean="0">
                <a:solidFill>
                  <a:schemeClr val="tx1"/>
                </a:solidFill>
                <a:effectLst/>
                <a:latin typeface="Segoe UI Light" pitchFamily="34" charset="0"/>
                <a:ea typeface="+mn-ea"/>
                <a:cs typeface="+mn-cs"/>
              </a:rPr>
              <a:t>, the </a:t>
            </a:r>
            <a:r>
              <a:rPr lang="en-US" sz="882" b="0" kern="1200" dirty="0" err="1" smtClean="0">
                <a:solidFill>
                  <a:schemeClr val="tx1"/>
                </a:solidFill>
                <a:effectLst/>
                <a:latin typeface="Segoe UI Light" pitchFamily="34" charset="0"/>
                <a:ea typeface="+mn-ea"/>
                <a:cs typeface="+mn-cs"/>
              </a:rPr>
              <a:t>Kubernetes</a:t>
            </a:r>
            <a:r>
              <a:rPr lang="en-US" sz="882" b="0" kern="1200" dirty="0" smtClean="0">
                <a:solidFill>
                  <a:schemeClr val="tx1"/>
                </a:solidFill>
                <a:effectLst/>
                <a:latin typeface="Segoe UI Light" pitchFamily="34" charset="0"/>
                <a:ea typeface="+mn-ea"/>
                <a:cs typeface="+mn-cs"/>
              </a:rPr>
              <a:t> </a:t>
            </a:r>
            <a:r>
              <a:rPr lang="en-US" sz="882" b="1" kern="1200" dirty="0" smtClean="0">
                <a:solidFill>
                  <a:schemeClr val="tx1"/>
                </a:solidFill>
                <a:effectLst/>
                <a:latin typeface="Segoe UI Light" pitchFamily="34" charset="0"/>
                <a:ea typeface="+mn-ea"/>
                <a:cs typeface="+mn-cs"/>
              </a:rPr>
              <a:t>IS the execution engine</a:t>
            </a:r>
            <a:r>
              <a:rPr lang="en-US" sz="882" b="0" kern="1200" dirty="0" smtClean="0">
                <a:solidFill>
                  <a:schemeClr val="tx1"/>
                </a:solidFill>
                <a:effectLst/>
                <a:latin typeface="Segoe UI Light" pitchFamily="34" charset="0"/>
                <a:ea typeface="+mn-ea"/>
                <a:cs typeface="+mn-cs"/>
              </a:rPr>
              <a:t>.</a:t>
            </a:r>
          </a:p>
          <a:p>
            <a:pPr marL="0" indent="0">
              <a:buFontTx/>
              <a:buNone/>
            </a:pP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endParaRPr lang="en-US" sz="882" b="0" kern="1200" dirty="0" smtClean="0">
              <a:solidFill>
                <a:schemeClr val="tx1"/>
              </a:solidFill>
              <a:effectLst/>
              <a:latin typeface="Segoe UI Light" pitchFamily="34" charset="0"/>
              <a:ea typeface="+mn-ea"/>
              <a:cs typeface="+mn-cs"/>
            </a:endParaRPr>
          </a:p>
          <a:p>
            <a:r>
              <a:rPr lang="en-US" sz="882" b="0" i="0" kern="1200" dirty="0" smtClean="0">
                <a:solidFill>
                  <a:schemeClr val="tx1"/>
                </a:solidFill>
                <a:effectLst/>
                <a:latin typeface="Segoe UI Light" pitchFamily="34" charset="0"/>
                <a:ea typeface="+mn-ea"/>
                <a:cs typeface="+mn-cs"/>
              </a:rPr>
              <a:t>"The big question: 'Why not just use Airflow?' Airflow is great—it’s the 'old guard.' It’s very mature and has a massive ecosystem. If you are doing traditional, SQL-heavy data work, it's a solid choice."</a:t>
            </a:r>
          </a:p>
          <a:p>
            <a:r>
              <a:rPr lang="en-US" sz="882" b="0" i="0" kern="1200" dirty="0" smtClean="0">
                <a:solidFill>
                  <a:schemeClr val="tx1"/>
                </a:solidFill>
                <a:effectLst/>
                <a:latin typeface="Segoe UI Light" pitchFamily="34" charset="0"/>
                <a:ea typeface="+mn-ea"/>
                <a:cs typeface="+mn-cs"/>
              </a:rPr>
              <a:t>"However, Argo is </a:t>
            </a:r>
            <a:r>
              <a:rPr lang="en-US" sz="882" b="1" i="0" kern="1200" dirty="0" smtClean="0">
                <a:solidFill>
                  <a:schemeClr val="tx1"/>
                </a:solidFill>
                <a:effectLst/>
                <a:latin typeface="Segoe UI Light" pitchFamily="34" charset="0"/>
                <a:ea typeface="+mn-ea"/>
                <a:cs typeface="+mn-cs"/>
              </a:rPr>
              <a:t>Excellent at K8s-Native</a:t>
            </a:r>
            <a:r>
              <a:rPr lang="en-US" sz="882" b="0" i="0" kern="1200" dirty="0" smtClean="0">
                <a:solidFill>
                  <a:schemeClr val="tx1"/>
                </a:solidFill>
                <a:effectLst/>
                <a:latin typeface="Segoe UI Light" pitchFamily="34" charset="0"/>
                <a:ea typeface="+mn-ea"/>
                <a:cs typeface="+mn-cs"/>
              </a:rPr>
              <a:t> operations. In Airflow, managing Python versions across different tasks can be a nightmare. In Argo, because every task is its own container, Task 1 can be Python, Task 2 can be R, and Task 3 can be Java. They never touch each other."</a:t>
            </a:r>
          </a:p>
          <a:p>
            <a:r>
              <a:rPr lang="en-US" sz="882" b="0" i="0" kern="1200" dirty="0" smtClean="0">
                <a:solidFill>
                  <a:schemeClr val="tx1"/>
                </a:solidFill>
                <a:effectLst/>
                <a:latin typeface="Segoe UI Light" pitchFamily="34" charset="0"/>
                <a:ea typeface="+mn-ea"/>
                <a:cs typeface="+mn-cs"/>
              </a:rPr>
              <a:t>"In short: Airflow is for traditional analytics; Argo is for the modern, containerized world of </a:t>
            </a:r>
            <a:r>
              <a:rPr lang="en-US" sz="882" b="1" i="0" kern="1200" dirty="0" err="1" smtClean="0">
                <a:solidFill>
                  <a:schemeClr val="tx1"/>
                </a:solidFill>
                <a:effectLst/>
                <a:latin typeface="Segoe UI Light" pitchFamily="34" charset="0"/>
                <a:ea typeface="+mn-ea"/>
                <a:cs typeface="+mn-cs"/>
              </a:rPr>
              <a:t>MLOps</a:t>
            </a:r>
            <a:r>
              <a:rPr lang="en-US" sz="882" b="1" i="0" kern="1200" dirty="0" smtClean="0">
                <a:solidFill>
                  <a:schemeClr val="tx1"/>
                </a:solidFill>
                <a:effectLst/>
                <a:latin typeface="Segoe UI Light" pitchFamily="34" charset="0"/>
                <a:ea typeface="+mn-ea"/>
                <a:cs typeface="+mn-cs"/>
              </a:rPr>
              <a:t> and Platform Engineering</a:t>
            </a:r>
            <a:r>
              <a:rPr lang="en-US" sz="882" b="0" i="0" kern="1200" dirty="0" smtClean="0">
                <a:solidFill>
                  <a:schemeClr val="tx1"/>
                </a:solidFill>
                <a:effectLst/>
                <a:latin typeface="Segoe UI Light" pitchFamily="34" charset="0"/>
                <a:ea typeface="+mn-ea"/>
                <a:cs typeface="+mn-cs"/>
              </a:rPr>
              <a:t>."</a:t>
            </a:r>
          </a:p>
          <a:p>
            <a:endParaRPr lang="en-US" sz="882" b="0" kern="1200" dirty="0" smtClean="0">
              <a:solidFill>
                <a:schemeClr val="tx1"/>
              </a:solidFill>
              <a:effectLst/>
              <a:latin typeface="Segoe UI Light" pitchFamily="34" charset="0"/>
              <a:ea typeface="+mn-ea"/>
              <a:cs typeface="+mn-cs"/>
            </a:endParaRPr>
          </a:p>
          <a:p>
            <a:endParaRPr lang="en-US" sz="882" b="0" kern="1200" dirty="0" smtClean="0">
              <a:solidFill>
                <a:schemeClr val="tx1"/>
              </a:solidFill>
              <a:effectLst/>
              <a:latin typeface="Segoe UI Light" pitchFamily="34" charset="0"/>
              <a:ea typeface="+mn-ea"/>
              <a:cs typeface="+mn-cs"/>
            </a:endParaRPr>
          </a:p>
          <a:p>
            <a:endParaRPr lang="en-US" sz="882" b="0" kern="1200" dirty="0" smtClean="0">
              <a:solidFill>
                <a:schemeClr val="tx1"/>
              </a:solidFill>
              <a:effectLst/>
              <a:latin typeface="Segoe UI Light" pitchFamily="34" charset="0"/>
              <a:ea typeface="+mn-ea"/>
              <a:cs typeface="+mn-cs"/>
            </a:endParaRPr>
          </a:p>
          <a:p>
            <a:endParaRPr lang="en-US" sz="882" b="0" kern="1200" dirty="0" smtClean="0">
              <a:solidFill>
                <a:schemeClr val="tx1"/>
              </a:solidFill>
              <a:effectLst/>
              <a:latin typeface="Segoe UI Light" pitchFamily="34" charset="0"/>
              <a:ea typeface="+mn-ea"/>
              <a:cs typeface="+mn-cs"/>
            </a:endParaRPr>
          </a:p>
          <a:p>
            <a:endParaRPr lang="en-US" sz="882" b="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12:33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22</a:t>
            </a:fld>
            <a:endParaRPr lang="en-US"/>
          </a:p>
        </p:txBody>
      </p:sp>
    </p:spTree>
    <p:extLst>
      <p:ext uri="{BB962C8B-B14F-4D97-AF65-F5344CB8AC3E}">
        <p14:creationId xmlns:p14="http://schemas.microsoft.com/office/powerpoint/2010/main" val="21062227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1" kern="1200" dirty="0" smtClean="0">
                <a:solidFill>
                  <a:schemeClr val="tx1"/>
                </a:solidFill>
                <a:effectLst/>
                <a:latin typeface="Segoe UI Light" pitchFamily="34" charset="0"/>
                <a:ea typeface="+mn-ea"/>
                <a:cs typeface="+mn-cs"/>
              </a:rPr>
              <a:t>## Important Reality</a:t>
            </a:r>
            <a:endParaRPr lang="en-US" sz="882" b="0" kern="1200" dirty="0" smtClean="0">
              <a:solidFill>
                <a:schemeClr val="tx1"/>
              </a:solidFill>
              <a:effectLst/>
              <a:latin typeface="Segoe UI Light" pitchFamily="34" charset="0"/>
              <a:ea typeface="+mn-ea"/>
              <a:cs typeface="+mn-cs"/>
            </a:endParaRPr>
          </a:p>
          <a:p>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Argo simplifies </a:t>
            </a:r>
            <a:r>
              <a:rPr lang="en-US" sz="882" b="0" kern="1200" dirty="0" err="1" smtClean="0">
                <a:solidFill>
                  <a:schemeClr val="tx1"/>
                </a:solidFill>
                <a:effectLst/>
                <a:latin typeface="Segoe UI Light" pitchFamily="34" charset="0"/>
                <a:ea typeface="+mn-ea"/>
                <a:cs typeface="+mn-cs"/>
              </a:rPr>
              <a:t>Kubernetes</a:t>
            </a:r>
            <a:r>
              <a:rPr lang="en-US" sz="882" b="0" kern="1200" dirty="0" smtClean="0">
                <a:solidFill>
                  <a:schemeClr val="tx1"/>
                </a:solidFill>
                <a:effectLst/>
                <a:latin typeface="Segoe UI Light" pitchFamily="34" charset="0"/>
                <a:ea typeface="+mn-ea"/>
                <a:cs typeface="+mn-cs"/>
              </a:rPr>
              <a:t>-native orchestration, but operational </a:t>
            </a:r>
            <a:r>
              <a:rPr lang="en-US" sz="882" b="0" kern="1200" dirty="0" err="1" smtClean="0">
                <a:solidFill>
                  <a:schemeClr val="tx1"/>
                </a:solidFill>
                <a:effectLst/>
                <a:latin typeface="Segoe UI Light" pitchFamily="34" charset="0"/>
                <a:ea typeface="+mn-ea"/>
                <a:cs typeface="+mn-cs"/>
              </a:rPr>
              <a:t>Kubernetes</a:t>
            </a:r>
            <a:r>
              <a:rPr lang="en-US" sz="882" b="0" kern="1200" dirty="0" smtClean="0">
                <a:solidFill>
                  <a:schemeClr val="tx1"/>
                </a:solidFill>
                <a:effectLst/>
                <a:latin typeface="Segoe UI Light" pitchFamily="34" charset="0"/>
                <a:ea typeface="+mn-ea"/>
                <a:cs typeface="+mn-cs"/>
              </a:rPr>
              <a:t> knowledge remains essential.</a:t>
            </a:r>
          </a:p>
          <a:p>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1" kern="1200" dirty="0" smtClean="0">
                <a:solidFill>
                  <a:schemeClr val="tx1"/>
                </a:solidFill>
                <a:effectLst/>
                <a:latin typeface="Segoe UI Light" pitchFamily="34" charset="0"/>
                <a:ea typeface="+mn-ea"/>
                <a:cs typeface="+mn-cs"/>
              </a:rPr>
              <a:t>### Presenter Notes</a:t>
            </a:r>
            <a:endParaRPr lang="en-US" sz="882" b="0" kern="1200" dirty="0" smtClean="0">
              <a:solidFill>
                <a:schemeClr val="tx1"/>
              </a:solidFill>
              <a:effectLst/>
              <a:latin typeface="Segoe UI Light" pitchFamily="34" charset="0"/>
              <a:ea typeface="+mn-ea"/>
              <a:cs typeface="+mn-cs"/>
            </a:endParaRPr>
          </a:p>
          <a:p>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 This slide improves credibility</a:t>
            </a:r>
          </a:p>
          <a:p>
            <a:r>
              <a:rPr lang="en-US" sz="882" b="0" kern="1200" dirty="0" smtClean="0">
                <a:solidFill>
                  <a:schemeClr val="tx1"/>
                </a:solidFill>
                <a:effectLst/>
                <a:latin typeface="Segoe UI Light" pitchFamily="34" charset="0"/>
                <a:ea typeface="+mn-ea"/>
                <a:cs typeface="+mn-cs"/>
              </a:rPr>
              <a:t>* Be transparent about tradeoffs</a:t>
            </a:r>
          </a:p>
          <a:p>
            <a:r>
              <a:rPr lang="en-US" sz="882" b="0" kern="1200" dirty="0" smtClean="0">
                <a:solidFill>
                  <a:schemeClr val="tx1"/>
                </a:solidFill>
                <a:effectLst/>
                <a:latin typeface="Segoe UI Light" pitchFamily="34" charset="0"/>
                <a:ea typeface="+mn-ea"/>
                <a:cs typeface="+mn-cs"/>
              </a:rPr>
              <a:t>* Explain operational maturity requirements</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kern="1200" dirty="0" smtClean="0">
                <a:solidFill>
                  <a:schemeClr val="tx1"/>
                </a:solidFill>
                <a:effectLst/>
                <a:latin typeface="Segoe UI Light" pitchFamily="34" charset="0"/>
                <a:ea typeface="+mn-ea"/>
                <a:cs typeface="+mn-cs"/>
              </a:rPr>
              <a:t/>
            </a:r>
            <a:br>
              <a:rPr lang="en-US" sz="882" b="0" kern="1200" dirty="0" smtClean="0">
                <a:solidFill>
                  <a:schemeClr val="tx1"/>
                </a:solidFill>
                <a:effectLst/>
                <a:latin typeface="Segoe UI Light" pitchFamily="34" charset="0"/>
                <a:ea typeface="+mn-ea"/>
                <a:cs typeface="+mn-cs"/>
              </a:rPr>
            </a:br>
            <a:r>
              <a:rPr lang="en-US" sz="882" b="0" i="0" kern="1200" dirty="0" smtClean="0">
                <a:solidFill>
                  <a:schemeClr val="tx1"/>
                </a:solidFill>
                <a:effectLst/>
                <a:latin typeface="Segoe UI Light" pitchFamily="34" charset="0"/>
                <a:ea typeface="+mn-ea"/>
                <a:cs typeface="+mn-cs"/>
              </a:rPr>
              <a:t>"I want to be real with you—it’s not all sunshine and rainbows. There is a </a:t>
            </a:r>
            <a:r>
              <a:rPr lang="en-US" sz="882" b="1" i="0" kern="1200" dirty="0" smtClean="0">
                <a:solidFill>
                  <a:schemeClr val="tx1"/>
                </a:solidFill>
                <a:effectLst/>
                <a:latin typeface="Segoe UI Light" pitchFamily="34" charset="0"/>
                <a:ea typeface="+mn-ea"/>
                <a:cs typeface="+mn-cs"/>
              </a:rPr>
              <a:t>YAML learning curve</a:t>
            </a:r>
            <a:r>
              <a:rPr lang="en-US" sz="882" b="0" i="0" kern="1200" dirty="0" smtClean="0">
                <a:solidFill>
                  <a:schemeClr val="tx1"/>
                </a:solidFill>
                <a:effectLst/>
                <a:latin typeface="Segoe UI Light" pitchFamily="34" charset="0"/>
                <a:ea typeface="+mn-ea"/>
                <a:cs typeface="+mn-cs"/>
              </a:rPr>
              <a:t>. Writing these files can feel like a chore until you get the hang of it. Also, because it's so tied to </a:t>
            </a:r>
            <a:r>
              <a:rPr lang="en-US" sz="882" b="0" i="0" kern="1200" dirty="0" err="1" smtClean="0">
                <a:solidFill>
                  <a:schemeClr val="tx1"/>
                </a:solidFill>
                <a:effectLst/>
                <a:latin typeface="Segoe UI Light" pitchFamily="34" charset="0"/>
                <a:ea typeface="+mn-ea"/>
                <a:cs typeface="+mn-cs"/>
              </a:rPr>
              <a:t>Kubernetes</a:t>
            </a:r>
            <a:r>
              <a:rPr lang="en-US" sz="882" b="0" i="0" kern="1200" dirty="0" smtClean="0">
                <a:solidFill>
                  <a:schemeClr val="tx1"/>
                </a:solidFill>
                <a:effectLst/>
                <a:latin typeface="Segoe UI Light" pitchFamily="34" charset="0"/>
                <a:ea typeface="+mn-ea"/>
                <a:cs typeface="+mn-cs"/>
              </a:rPr>
              <a:t>, you </a:t>
            </a:r>
            <a:r>
              <a:rPr lang="en-US" sz="882" b="0" i="1" kern="1200" dirty="0" smtClean="0">
                <a:solidFill>
                  <a:schemeClr val="tx1"/>
                </a:solidFill>
                <a:effectLst/>
                <a:latin typeface="Segoe UI Light" pitchFamily="34" charset="0"/>
                <a:ea typeface="+mn-ea"/>
                <a:cs typeface="+mn-cs"/>
              </a:rPr>
              <a:t>do</a:t>
            </a:r>
            <a:r>
              <a:rPr lang="en-US" sz="882" b="0" i="0" kern="1200" dirty="0" smtClean="0">
                <a:solidFill>
                  <a:schemeClr val="tx1"/>
                </a:solidFill>
                <a:effectLst/>
                <a:latin typeface="Segoe UI Light" pitchFamily="34" charset="0"/>
                <a:ea typeface="+mn-ea"/>
                <a:cs typeface="+mn-cs"/>
              </a:rPr>
              <a:t> need to understand K8s basics to debug effectively."</a:t>
            </a:r>
          </a:p>
          <a:p>
            <a:r>
              <a:rPr lang="en-US" sz="882" b="0" i="0" kern="1200" dirty="0" smtClean="0">
                <a:solidFill>
                  <a:schemeClr val="tx1"/>
                </a:solidFill>
                <a:effectLst/>
                <a:latin typeface="Segoe UI Light" pitchFamily="34" charset="0"/>
                <a:ea typeface="+mn-ea"/>
                <a:cs typeface="+mn-cs"/>
              </a:rPr>
              <a:t>"My biggest </a:t>
            </a:r>
            <a:r>
              <a:rPr lang="en-US" sz="882" b="1" i="0" kern="1200" dirty="0" smtClean="0">
                <a:solidFill>
                  <a:schemeClr val="tx1"/>
                </a:solidFill>
                <a:effectLst/>
                <a:latin typeface="Segoe UI Light" pitchFamily="34" charset="0"/>
                <a:ea typeface="+mn-ea"/>
                <a:cs typeface="+mn-cs"/>
              </a:rPr>
              <a:t>Lesson Learned</a:t>
            </a:r>
            <a:r>
              <a:rPr lang="en-US" sz="882" b="0" i="0" kern="1200" dirty="0" smtClean="0">
                <a:solidFill>
                  <a:schemeClr val="tx1"/>
                </a:solidFill>
                <a:effectLst/>
                <a:latin typeface="Segoe UI Light" pitchFamily="34" charset="0"/>
                <a:ea typeface="+mn-ea"/>
                <a:cs typeface="+mn-cs"/>
              </a:rPr>
              <a:t>? Design your </a:t>
            </a:r>
            <a:r>
              <a:rPr lang="en-US" sz="882" b="1" i="0" kern="1200" dirty="0" smtClean="0">
                <a:solidFill>
                  <a:schemeClr val="tx1"/>
                </a:solidFill>
                <a:effectLst/>
                <a:latin typeface="Segoe UI Light" pitchFamily="34" charset="0"/>
                <a:ea typeface="+mn-ea"/>
                <a:cs typeface="+mn-cs"/>
              </a:rPr>
              <a:t>Namespace strategy</a:t>
            </a:r>
            <a:r>
              <a:rPr lang="en-US" sz="882" b="0" i="0" kern="1200" dirty="0" smtClean="0">
                <a:solidFill>
                  <a:schemeClr val="tx1"/>
                </a:solidFill>
                <a:effectLst/>
                <a:latin typeface="Segoe UI Light" pitchFamily="34" charset="0"/>
                <a:ea typeface="+mn-ea"/>
                <a:cs typeface="+mn-cs"/>
              </a:rPr>
              <a:t> early. Don't put everyone in the same room; it gets messy fast. Also, </a:t>
            </a:r>
            <a:r>
              <a:rPr lang="en-US" sz="882" b="1" i="0" kern="1200" dirty="0" smtClean="0">
                <a:solidFill>
                  <a:schemeClr val="tx1"/>
                </a:solidFill>
                <a:effectLst/>
                <a:latin typeface="Segoe UI Light" pitchFamily="34" charset="0"/>
                <a:ea typeface="+mn-ea"/>
                <a:cs typeface="+mn-cs"/>
              </a:rPr>
              <a:t>standardize your templates</a:t>
            </a:r>
            <a:r>
              <a:rPr lang="en-US" sz="882" b="0" i="0" kern="1200" dirty="0" smtClean="0">
                <a:solidFill>
                  <a:schemeClr val="tx1"/>
                </a:solidFill>
                <a:effectLst/>
                <a:latin typeface="Segoe UI Light" pitchFamily="34" charset="0"/>
                <a:ea typeface="+mn-ea"/>
                <a:cs typeface="+mn-cs"/>
              </a:rPr>
              <a:t>. If every team writes their tasks differently, you'll have a hard time maintaining them."</a:t>
            </a:r>
          </a:p>
          <a:p>
            <a:r>
              <a:rPr lang="en-US" sz="882" b="0" i="0" kern="1200" dirty="0" smtClean="0">
                <a:solidFill>
                  <a:schemeClr val="tx1"/>
                </a:solidFill>
                <a:effectLst/>
                <a:latin typeface="Segoe UI Light" pitchFamily="34" charset="0"/>
                <a:ea typeface="+mn-ea"/>
                <a:cs typeface="+mn-cs"/>
              </a:rPr>
              <a:t>"In the end, the goal isn't just to run code—it's to create a system that is 'set and forget' so you can focus on building features, not fixing pipelines."</a:t>
            </a:r>
          </a:p>
          <a:p>
            <a:endParaRPr lang="en-US" sz="882" b="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12:33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2061657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82" b="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12:33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24</a:t>
            </a:fld>
            <a:endParaRPr lang="en-US"/>
          </a:p>
        </p:txBody>
      </p:sp>
    </p:spTree>
    <p:extLst>
      <p:ext uri="{BB962C8B-B14F-4D97-AF65-F5344CB8AC3E}">
        <p14:creationId xmlns:p14="http://schemas.microsoft.com/office/powerpoint/2010/main" val="10046188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82" b="0"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61486BA7-839C-4D2B-BD52-EF0BBA8433FD}" type="datetime8">
              <a:rPr lang="en-US" smtClean="0"/>
              <a:t>6/15/2026 12:33 AM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25</a:t>
            </a:fld>
            <a:endParaRPr lang="en-US"/>
          </a:p>
        </p:txBody>
      </p:sp>
    </p:spTree>
    <p:extLst>
      <p:ext uri="{BB962C8B-B14F-4D97-AF65-F5344CB8AC3E}">
        <p14:creationId xmlns:p14="http://schemas.microsoft.com/office/powerpoint/2010/main" val="26367833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10;Spark possibility">
            <a:extLst>
              <a:ext uri="{FF2B5EF4-FFF2-40B4-BE49-F238E27FC236}">
                <a16:creationId xmlns=""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a:srcRect/>
          <a:stretch/>
        </p:blipFill>
        <p:spPr>
          <a:xfrm>
            <a:off x="223228" y="2573202"/>
            <a:ext cx="5344642" cy="1681958"/>
          </a:xfrm>
          <a:prstGeom prst="rect">
            <a:avLst/>
          </a:prstGeom>
        </p:spPr>
      </p:pic>
      <p:sp>
        <p:nvSpPr>
          <p:cNvPr id="5" name="Footer Placeholder 10">
            <a:extLst>
              <a:ext uri="{FF2B5EF4-FFF2-40B4-BE49-F238E27FC236}">
                <a16:creationId xmlns=""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bg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t>© Copyright Microsoft Corporation. All rights reserved.</a:t>
            </a:r>
          </a:p>
        </p:txBody>
      </p:sp>
    </p:spTree>
    <p:extLst>
      <p:ext uri="{BB962C8B-B14F-4D97-AF65-F5344CB8AC3E}">
        <p14:creationId xmlns:p14="http://schemas.microsoft.com/office/powerpoint/2010/main" val="31347414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 xmlns:a16="http://schemas.microsoft.com/office/drawing/2014/main" id="{8B334D90-2717-2269-E486-F1900244A628}"/>
              </a:ext>
              <a:ext uri="{C183D7F6-B498-43B3-948B-1728B52AA6E4}">
                <adec:decorative xmlns=""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7883381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0BD1096F-1307-5006-527D-D3AF4C75C5EF}"/>
              </a:ext>
              <a:ext uri="{C183D7F6-B498-43B3-948B-1728B52AA6E4}">
                <adec:decorative xmlns=""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5" name="Footer Placeholder 10">
            <a:extLst>
              <a:ext uri="{FF2B5EF4-FFF2-40B4-BE49-F238E27FC236}">
                <a16:creationId xmlns=""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6190285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userDrawn="1">
          <p15:clr>
            <a:srgbClr val="FBAE40"/>
          </p15:clr>
        </p15:guide>
        <p15:guide id="2" orient="horz" pos="264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 xmlns:a16="http://schemas.microsoft.com/office/drawing/2014/main" id="{BDAB8950-CE1F-05A6-2114-49B53E68C30F}"/>
              </a:ext>
              <a:ext uri="{C183D7F6-B498-43B3-948B-1728B52AA6E4}">
                <adec:decorative xmlns=""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9841306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userDrawn="1">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userDrawn="1">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userDrawn="1">
          <p15:clr>
            <a:srgbClr val="954F72"/>
          </p15:clr>
        </p15:guide>
        <p15:guide id="40"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 xmlns:a16="http://schemas.microsoft.com/office/drawing/2014/main" id="{F340DCC4-9FA9-09C4-BB96-6B9979AA256C}"/>
              </a:ext>
              <a:ext uri="{C183D7F6-B498-43B3-948B-1728B52AA6E4}">
                <adec:decorative xmlns=""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0697126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userDrawn="1">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userDrawn="1">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userDrawn="1">
          <p15:clr>
            <a:srgbClr val="954F7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5749038"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19696606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ttendee-Intro">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Footer Placeholder 10">
            <a:extLst>
              <a:ext uri="{FF2B5EF4-FFF2-40B4-BE49-F238E27FC236}">
                <a16:creationId xmlns=""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Picture Placeholder 8" descr="Remote attendees participating in a Microsoft Teams Room (MTR) meeting while people in the conference room are viewing attendees in Gallery View on the front of room monitors​. ">
            <a:extLst>
              <a:ext uri="{FF2B5EF4-FFF2-40B4-BE49-F238E27FC236}">
                <a16:creationId xmlns="" xmlns:a16="http://schemas.microsoft.com/office/drawing/2014/main" id="{52246ABC-CD2B-AD84-9C67-DFE64BEAE93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096000" y="0"/>
            <a:ext cx="6096000" cy="6858000"/>
          </a:xfrm>
          <a:prstGeom prst="rect">
            <a:avLst/>
          </a:prstGeom>
        </p:spPr>
      </p:pic>
    </p:spTree>
    <p:extLst>
      <p:ext uri="{BB962C8B-B14F-4D97-AF65-F5344CB8AC3E}">
        <p14:creationId xmlns:p14="http://schemas.microsoft.com/office/powerpoint/2010/main" val="33668012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4">
            <a:extLst>
              <a:ext uri="{FF2B5EF4-FFF2-40B4-BE49-F238E27FC236}">
                <a16:creationId xmlns=""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9405676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userDrawn="1">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userDrawn="1">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1101347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3735694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1" y="585216"/>
            <a:ext cx="11011601" cy="707281"/>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11">
            <a:extLst>
              <a:ext uri="{FF2B5EF4-FFF2-40B4-BE49-F238E27FC236}">
                <a16:creationId xmlns=""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26478097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1" y="585216"/>
            <a:ext cx="8189027"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618332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6273439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userDrawn="1">
          <p15:clr>
            <a:srgbClr val="954F72"/>
          </p15:clr>
        </p15:guide>
        <p15:guide id="9" pos="2150">
          <p15:clr>
            <a:srgbClr val="954F72"/>
          </p15:clr>
        </p15:guide>
        <p15:guide id="10" pos="2544"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userDrawn="1">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7160398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3351249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234811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7444439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2988" userDrawn="1">
          <p15:clr>
            <a:srgbClr val="FBAE40"/>
          </p15:clr>
        </p15:guide>
        <p15:guide id="42" pos="5352" userDrawn="1">
          <p15:clr>
            <a:srgbClr val="FBAE40"/>
          </p15:clr>
        </p15:guide>
        <p15:guide id="43" orient="horz" pos="1085"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 xmlns:a16="http://schemas.microsoft.com/office/drawing/2014/main" id="{ED4FC5EF-0434-AB45-07F5-AAD2BF06D8B8}"/>
              </a:ext>
              <a:ext uri="{C183D7F6-B498-43B3-948B-1728B52AA6E4}">
                <adec:decorative xmlns=""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25392417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 xmlns:a16="http://schemas.microsoft.com/office/drawing/2014/main" id="{ED4FC5EF-0434-AB45-07F5-AAD2BF06D8B8}"/>
              </a:ext>
              <a:ext uri="{C183D7F6-B498-43B3-948B-1728B52AA6E4}">
                <adec:decorative xmlns=""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75032791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 xmlns:a16="http://schemas.microsoft.com/office/drawing/2014/main" id="{ED4FC5EF-0434-AB45-07F5-AAD2BF06D8B8}"/>
              </a:ext>
              <a:ext uri="{C183D7F6-B498-43B3-948B-1728B52AA6E4}">
                <adec:decorative xmlns=""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0" name="Text Placeholder 3">
            <a:extLst>
              <a:ext uri="{FF2B5EF4-FFF2-40B4-BE49-F238E27FC236}">
                <a16:creationId xmlns=""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80857129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 xmlns:a16="http://schemas.microsoft.com/office/drawing/2014/main" id="{64830DA7-1CDF-18F6-E151-AAB776959AA8}"/>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35868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Footer Placeholder 10">
            <a:extLst>
              <a:ext uri="{FF2B5EF4-FFF2-40B4-BE49-F238E27FC236}">
                <a16:creationId xmlns=""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4442374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 xmlns:a16="http://schemas.microsoft.com/office/drawing/2014/main" id="{A1F55E03-DF85-0E93-780C-71A8898D2AD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97981605"/>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3261136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939882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userDrawn="1">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userDrawn="1">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7248356"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7439070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 xmlns:a16="http://schemas.microsoft.com/office/drawing/2014/main" id="{A02CAEB8-26C8-4DCC-A205-1958858BB2CA}"/>
              </a:ext>
              <a:ext uri="{C183D7F6-B498-43B3-948B-1728B52AA6E4}">
                <adec:decorative xmlns=""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76425179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 xmlns:a16="http://schemas.microsoft.com/office/drawing/2014/main" id="{F30B2090-3FEF-BD7A-3D1A-F15263CED050}"/>
              </a:ext>
              <a:ext uri="{C183D7F6-B498-43B3-948B-1728B52AA6E4}">
                <adec:decorative xmlns=""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6401984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 xmlns:a16="http://schemas.microsoft.com/office/drawing/2014/main" id="{BE890A9B-98DE-E407-1677-225E1CB27E04}"/>
              </a:ext>
              <a:ext uri="{C183D7F6-B498-43B3-948B-1728B52AA6E4}">
                <adec:decorative xmlns=""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 xmlns:a16="http://schemas.microsoft.com/office/drawing/2014/main" id="{960FA2C5-0F45-1F96-1312-4AD604060381}"/>
              </a:ext>
              <a:ext uri="{C183D7F6-B498-43B3-948B-1728B52AA6E4}">
                <adec:decorative xmlns=""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 xmlns:a16="http://schemas.microsoft.com/office/drawing/2014/main" id="{C7858406-DE31-8249-0E02-6D12B1500EBC}"/>
              </a:ext>
              <a:ext uri="{C183D7F6-B498-43B3-948B-1728B52AA6E4}">
                <adec:decorative xmlns=""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 r="15210"/>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8424348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9935578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96898857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22205983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3589038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 xmlns:a16="http://schemas.microsoft.com/office/drawing/2014/main" id="{4AAEF9DE-7B32-1B2A-6337-669A0D5B5567}"/>
              </a:ext>
              <a:ext uri="{C183D7F6-B498-43B3-948B-1728B52AA6E4}">
                <adec:decorative xmlns=""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2084087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userDrawn="1">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6" name="Graphic 5">
            <a:extLst>
              <a:ext uri="{FF2B5EF4-FFF2-40B4-BE49-F238E27FC236}">
                <a16:creationId xmlns="" xmlns:a16="http://schemas.microsoft.com/office/drawing/2014/main" id="{DF318326-19BB-DD5B-81E3-D6586A45E476}"/>
              </a:ext>
              <a:ext uri="{C183D7F6-B498-43B3-948B-1728B52AA6E4}">
                <adec:decorative xmlns="" xmlns:adec="http://schemas.microsoft.com/office/drawing/2017/decorative" val="1"/>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226551399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Graphic 4">
            <a:extLst>
              <a:ext uri="{FF2B5EF4-FFF2-40B4-BE49-F238E27FC236}">
                <a16:creationId xmlns="" xmlns:a16="http://schemas.microsoft.com/office/drawing/2014/main" id="{6C16E9B7-4924-90AE-8E65-159052FB571B}"/>
              </a:ext>
              <a:ext uri="{C183D7F6-B498-43B3-948B-1728B52AA6E4}">
                <adec:decorative xmlns="" xmlns:adec="http://schemas.microsoft.com/office/drawing/2017/decorative" val="1"/>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185120091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1999" b="0" i="0" u="none" strike="noStrike" cap="none" normalizeH="0" dirty="0">
                <a:ln>
                  <a:noFill/>
                </a:ln>
                <a:solidFill>
                  <a:srgbClr val="FFFFFF"/>
                </a:solidFill>
                <a:effectLst/>
                <a:uLnTx/>
                <a:uFillTx/>
                <a:latin typeface="Segoe UI Semibold"/>
              </a:defRPr>
            </a:lvl1pPr>
          </a:lstStyle>
          <a:p>
            <a:pPr marL="228600" lvl="0" indent="-228600"/>
            <a:r>
              <a:rPr lang="en-US"/>
              <a:t>Click to enter title</a:t>
            </a:r>
          </a:p>
        </p:txBody>
      </p:sp>
      <p:sp>
        <p:nvSpPr>
          <p:cNvPr id="3" name="Footer Placeholder 10">
            <a:extLst>
              <a:ext uri="{FF2B5EF4-FFF2-40B4-BE49-F238E27FC236}">
                <a16:creationId xmlns=""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6784805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2316165A-5926-4F59-B348-996936FBB574}"/>
              </a:ext>
              <a:ext uri="{C183D7F6-B498-43B3-948B-1728B52AA6E4}">
                <adec:decorative xmlns=""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 xmlns:a16="http://schemas.microsoft.com/office/drawing/2014/main" id="{DFD107E2-140D-CB86-9FA1-B9481E49E6FE}"/>
              </a:ext>
            </a:extLst>
          </p:cNvPr>
          <p:cNvSpPr>
            <a:spLocks noGrp="1"/>
          </p:cNvSpPr>
          <p:nvPr>
            <p:ph type="title"/>
          </p:nvPr>
        </p:nvSpPr>
        <p:spPr>
          <a:xfrm>
            <a:off x="588262" y="585216"/>
            <a:ext cx="404276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6905234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5774148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69125885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2359519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Learn Clickdown">
    <p:bg>
      <p:bgPr>
        <a:solidFill>
          <a:srgbClr val="E8E6D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 xmlns:a16="http://schemas.microsoft.com/office/drawing/2014/main" id="{FB5AC9CC-CBA7-2165-37C5-00D2CAABAC31}"/>
              </a:ext>
              <a:ext uri="{C183D7F6-B498-43B3-948B-1728B52AA6E4}">
                <adec:decorative xmlns="" xmlns:adec="http://schemas.microsoft.com/office/drawing/2017/decorative" val="1"/>
              </a:ext>
            </a:extLst>
          </p:cNvPr>
          <p:cNvSpPr/>
          <p:nvPr userDrawn="1"/>
        </p:nvSpPr>
        <p:spPr bwMode="auto">
          <a:xfrm>
            <a:off x="1887" y="0"/>
            <a:ext cx="6891565"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5" name="Title 1">
            <a:extLst>
              <a:ext uri="{FF2B5EF4-FFF2-40B4-BE49-F238E27FC236}">
                <a16:creationId xmlns="" xmlns:a16="http://schemas.microsoft.com/office/drawing/2014/main" id="{7B5F9DFC-8F86-66C5-68A6-019BCDEDB8C2}"/>
              </a:ext>
            </a:extLst>
          </p:cNvPr>
          <p:cNvSpPr>
            <a:spLocks noGrp="1"/>
          </p:cNvSpPr>
          <p:nvPr>
            <p:ph type="title"/>
          </p:nvPr>
        </p:nvSpPr>
        <p:spPr>
          <a:xfrm>
            <a:off x="588262" y="585216"/>
            <a:ext cx="5863338" cy="37151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Footer Placeholder 10">
            <a:extLst>
              <a:ext uri="{FF2B5EF4-FFF2-40B4-BE49-F238E27FC236}">
                <a16:creationId xmlns="" xmlns:a16="http://schemas.microsoft.com/office/drawing/2014/main" id="{A94A1388-BD3C-450C-8D99-7C21AEFDA7C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3472665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Blank_Learn-with Head">
    <p:bg>
      <p:bgPr>
        <a:solidFill>
          <a:srgbClr val="E8E6DF"/>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 xmlns:a16="http://schemas.microsoft.com/office/drawing/2014/main" id="{C294CE2C-953A-10B8-F580-7F93E4F1234F}"/>
              </a:ext>
            </a:extLst>
          </p:cNvPr>
          <p:cNvGrpSpPr/>
          <p:nvPr userDrawn="1"/>
        </p:nvGrpSpPr>
        <p:grpSpPr>
          <a:xfrm>
            <a:off x="0" y="0"/>
            <a:ext cx="12192001" cy="1289051"/>
            <a:chOff x="0" y="0"/>
            <a:chExt cx="12192001" cy="1289051"/>
          </a:xfrm>
        </p:grpSpPr>
        <p:pic>
          <p:nvPicPr>
            <p:cNvPr id="7" name="Picture 6">
              <a:extLst>
                <a:ext uri="{FF2B5EF4-FFF2-40B4-BE49-F238E27FC236}">
                  <a16:creationId xmlns="" xmlns:a16="http://schemas.microsoft.com/office/drawing/2014/main" id="{77080A99-448F-6067-0FC9-8A3F1093BB0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3125" b="79253"/>
            <a:stretch/>
          </p:blipFill>
          <p:spPr>
            <a:xfrm>
              <a:off x="0" y="1"/>
              <a:ext cx="12192001" cy="1289050"/>
            </a:xfrm>
            <a:prstGeom prst="rect">
              <a:avLst/>
            </a:prstGeom>
          </p:spPr>
        </p:pic>
        <p:sp>
          <p:nvSpPr>
            <p:cNvPr id="8" name="Rectangle 7">
              <a:extLst>
                <a:ext uri="{FF2B5EF4-FFF2-40B4-BE49-F238E27FC236}">
                  <a16:creationId xmlns="" xmlns:a16="http://schemas.microsoft.com/office/drawing/2014/main" id="{52129612-B6F9-E264-C307-D22FBB0EACA2}"/>
                </a:ext>
              </a:extLst>
            </p:cNvPr>
            <p:cNvSpPr/>
            <p:nvPr userDrawn="1"/>
          </p:nvSpPr>
          <p:spPr bwMode="auto">
            <a:xfrm>
              <a:off x="7315200" y="0"/>
              <a:ext cx="1454150" cy="82550"/>
            </a:xfrm>
            <a:prstGeom prst="rect">
              <a:avLst/>
            </a:prstGeom>
            <a:solidFill>
              <a:srgbClr val="E8E6D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grpSp>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724605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 xmlns:a16="http://schemas.microsoft.com/office/drawing/2014/main" id="{B6A3D4E9-A69B-36D6-0102-4B231B87583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59231694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36">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9E016143-E03C-4CFD-AFDC-14E5BDEA754C}" type="datetimeFigureOut">
              <a:rPr lang="en-US" dirty="0"/>
              <a:t>6/15/2026</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pPr defTabSz="914367">
              <a:defRPr/>
            </a:pPr>
            <a:r>
              <a:rPr lang="en-US" smtClean="0">
                <a:solidFill>
                  <a:srgbClr val="000000"/>
                </a:solidFill>
              </a:rPr>
              <a:t>© Copyright Microsoft Corporation. All rights reserved.</a:t>
            </a:r>
            <a:endParaRPr lang="en-US">
              <a:solidFill>
                <a:srgbClr val="000000"/>
              </a:solidFill>
            </a:endParaRPr>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FAB73BC-B049-4115-A692-8D63A059BFB8}" type="slidenum">
              <a:rPr lang="en-US" dirty="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8" name="Picture 7">
            <a:extLst>
              <a:ext uri="{FF2B5EF4-FFF2-40B4-BE49-F238E27FC236}">
                <a16:creationId xmlns="" xmlns:a16="http://schemas.microsoft.com/office/drawing/2014/main" id="{8B334D90-2717-2269-E486-F1900244A628}"/>
              </a:ext>
              <a:ext uri="{C183D7F6-B498-43B3-948B-1728B52AA6E4}">
                <adec:decorative xmlns=""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9" name="MS logo gray - EMF" descr="Microsoft logo, gray text version">
            <a:extLst>
              <a:ext uri="{FF2B5EF4-FFF2-40B4-BE49-F238E27FC236}">
                <a16:creationId xmlns=""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455644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8C94063-DF36-4330-A365-08DA1FA5B7D6}" type="datetimeFigureOut">
              <a:rPr lang="en-US" dirty="0"/>
              <a:t>6/15/2026</a:t>
            </a:fld>
            <a:endParaRPr lang="en-US" dirty="0"/>
          </a:p>
        </p:txBody>
      </p:sp>
      <p:sp>
        <p:nvSpPr>
          <p:cNvPr id="5" name="Footer Placeholder 4"/>
          <p:cNvSpPr>
            <a:spLocks noGrp="1"/>
          </p:cNvSpPr>
          <p:nvPr>
            <p:ph type="ftr" sz="quarter" idx="11"/>
          </p:nvPr>
        </p:nvSpPr>
        <p:spPr/>
        <p:txBody>
          <a:bodyPr/>
          <a:lstStyle/>
          <a:p>
            <a:pPr defTabSz="914367">
              <a:defRPr/>
            </a:pPr>
            <a:r>
              <a:rPr lang="en-US" smtClean="0">
                <a:solidFill>
                  <a:srgbClr val="000000"/>
                </a:solidFill>
              </a:rPr>
              <a:t>© Copyright Microsoft Corporation. All rights reserved.</a:t>
            </a:r>
            <a:endParaRPr lang="en-US">
              <a:solidFill>
                <a:srgbClr val="000000"/>
              </a:solidFill>
            </a:endParaRPr>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342944510"/>
      </p:ext>
    </p:extLst>
  </p:cSld>
  <p:clrMapOvr>
    <a:masterClrMapping/>
  </p:clrMapOvr>
  <p:hf sldNum="0" hd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smtClean="0"/>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08A7C6C-0F39-4D70-8E8D-FE5B9C95FA73}" type="datetimeFigureOut">
              <a:rPr lang="en-US" dirty="0"/>
              <a:t>6/15/2026</a:t>
            </a:fld>
            <a:endParaRPr lang="en-US" dirty="0"/>
          </a:p>
        </p:txBody>
      </p:sp>
      <p:sp>
        <p:nvSpPr>
          <p:cNvPr id="5" name="Footer Placeholder 4"/>
          <p:cNvSpPr>
            <a:spLocks noGrp="1"/>
          </p:cNvSpPr>
          <p:nvPr>
            <p:ph type="ftr" sz="quarter" idx="11"/>
          </p:nvPr>
        </p:nvSpPr>
        <p:spPr/>
        <p:txBody>
          <a:bodyPr/>
          <a:lstStyle/>
          <a:p>
            <a:pPr defTabSz="914367">
              <a:defRPr/>
            </a:pPr>
            <a:r>
              <a:rPr lang="en-US" smtClean="0">
                <a:solidFill>
                  <a:srgbClr val="000000"/>
                </a:solidFill>
              </a:rPr>
              <a:t>© Copyright Microsoft Corporation. All rights reserved.</a:t>
            </a:r>
            <a:endParaRPr lang="en-US">
              <a:solidFill>
                <a:srgbClr val="000000"/>
              </a:solidFill>
            </a:endParaRPr>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64858960"/>
      </p:ext>
    </p:extLst>
  </p:cSld>
  <p:clrMapOvr>
    <a:masterClrMapping/>
  </p:clrMapOvr>
  <p:hf sldNum="0" hd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FCFA4AC-08CC-42CE-BD01-C191750A04EC}" type="datetimeFigureOut">
              <a:rPr lang="en-US" dirty="0"/>
              <a:t>6/15/2026</a:t>
            </a:fld>
            <a:endParaRPr lang="en-US" dirty="0"/>
          </a:p>
        </p:txBody>
      </p:sp>
      <p:sp>
        <p:nvSpPr>
          <p:cNvPr id="6" name="Footer Placeholder 5"/>
          <p:cNvSpPr>
            <a:spLocks noGrp="1"/>
          </p:cNvSpPr>
          <p:nvPr>
            <p:ph type="ftr" sz="quarter" idx="11"/>
          </p:nvPr>
        </p:nvSpPr>
        <p:spPr/>
        <p:txBody>
          <a:bodyPr/>
          <a:lstStyle/>
          <a:p>
            <a:pPr defTabSz="914367">
              <a:defRPr/>
            </a:pPr>
            <a:r>
              <a:rPr lang="en-US" smtClean="0">
                <a:solidFill>
                  <a:srgbClr val="000000"/>
                </a:solidFill>
              </a:rPr>
              <a:t>© Copyright Microsoft Corporation. All rights reserved.</a:t>
            </a:r>
            <a:endParaRPr lang="en-US">
              <a:solidFill>
                <a:srgbClr val="000000"/>
              </a:solidFill>
            </a:endParaRPr>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868437114"/>
      </p:ext>
    </p:extLst>
  </p:cSld>
  <p:clrMapOvr>
    <a:masterClrMapping/>
  </p:clrMapOvr>
  <p:hf sldNum="0" hd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smtClean="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BA7A723-92A7-435B-B681-F25B092FEFEB}" type="datetimeFigureOut">
              <a:rPr lang="en-US" dirty="0"/>
              <a:t>6/15/2026</a:t>
            </a:fld>
            <a:endParaRPr lang="en-US" dirty="0"/>
          </a:p>
        </p:txBody>
      </p:sp>
      <p:sp>
        <p:nvSpPr>
          <p:cNvPr id="8" name="Footer Placeholder 7"/>
          <p:cNvSpPr>
            <a:spLocks noGrp="1"/>
          </p:cNvSpPr>
          <p:nvPr>
            <p:ph type="ftr" sz="quarter" idx="11"/>
          </p:nvPr>
        </p:nvSpPr>
        <p:spPr/>
        <p:txBody>
          <a:bodyPr/>
          <a:lstStyle/>
          <a:p>
            <a:pPr defTabSz="914367">
              <a:defRPr/>
            </a:pPr>
            <a:r>
              <a:rPr lang="en-US" smtClean="0">
                <a:solidFill>
                  <a:srgbClr val="000000"/>
                </a:solidFill>
              </a:rPr>
              <a:t>© Copyright Microsoft Corporation. All rights reserved.</a:t>
            </a:r>
            <a:endParaRPr lang="en-US">
              <a:solidFill>
                <a:srgbClr val="000000"/>
              </a:solidFill>
            </a:endParaRPr>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848994604"/>
      </p:ext>
    </p:extLst>
  </p:cSld>
  <p:clrMapOvr>
    <a:masterClrMapping/>
  </p:clrMapOvr>
  <p:hf sldNum="0" hd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F170639-886C-4FCF-9EAB-ABB5DA3F3F4A}" type="datetimeFigureOut">
              <a:rPr lang="en-US" dirty="0"/>
              <a:t>6/15/2026</a:t>
            </a:fld>
            <a:endParaRPr lang="en-US" dirty="0"/>
          </a:p>
        </p:txBody>
      </p:sp>
      <p:sp>
        <p:nvSpPr>
          <p:cNvPr id="4" name="Footer Placeholder 3"/>
          <p:cNvSpPr>
            <a:spLocks noGrp="1"/>
          </p:cNvSpPr>
          <p:nvPr>
            <p:ph type="ftr" sz="quarter" idx="11"/>
          </p:nvPr>
        </p:nvSpPr>
        <p:spPr/>
        <p:txBody>
          <a:bodyPr/>
          <a:lstStyle/>
          <a:p>
            <a:pPr defTabSz="914367">
              <a:defRPr/>
            </a:pPr>
            <a:r>
              <a:rPr lang="en-US" smtClean="0">
                <a:solidFill>
                  <a:srgbClr val="000000"/>
                </a:solidFill>
              </a:rPr>
              <a:t>© Copyright Microsoft Corporation. All rights reserved.</a:t>
            </a:r>
            <a:endParaRPr lang="en-US">
              <a:solidFill>
                <a:srgbClr val="000000"/>
              </a:solidFill>
            </a:endParaRPr>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714161598"/>
      </p:ext>
    </p:extLst>
  </p:cSld>
  <p:clrMapOvr>
    <a:masterClrMapping/>
  </p:clrMapOvr>
  <p:hf sldNum="0" hd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230651-31F4-45D2-98AE-A2108F41BC07}" type="datetimeFigureOut">
              <a:rPr lang="en-US" dirty="0"/>
              <a:t>6/15/2026</a:t>
            </a:fld>
            <a:endParaRPr lang="en-US" dirty="0"/>
          </a:p>
        </p:txBody>
      </p:sp>
      <p:sp>
        <p:nvSpPr>
          <p:cNvPr id="3" name="Footer Placeholder 2"/>
          <p:cNvSpPr>
            <a:spLocks noGrp="1"/>
          </p:cNvSpPr>
          <p:nvPr>
            <p:ph type="ftr" sz="quarter" idx="11"/>
          </p:nvPr>
        </p:nvSpPr>
        <p:spPr/>
        <p:txBody>
          <a:bodyPr/>
          <a:lstStyle/>
          <a:p>
            <a:pPr defTabSz="914367">
              <a:defRPr/>
            </a:pPr>
            <a:r>
              <a:rPr lang="en-US" smtClean="0">
                <a:solidFill>
                  <a:srgbClr val="000000"/>
                </a:solidFill>
              </a:rPr>
              <a:t>© Copyright Microsoft Corporation. All rights reserved.</a:t>
            </a:r>
            <a:endParaRPr lang="en-US">
              <a:solidFill>
                <a:srgbClr val="000000"/>
              </a:solidFill>
            </a:endParaRPr>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912462236"/>
      </p:ext>
    </p:extLst>
  </p:cSld>
  <p:clrMapOvr>
    <a:masterClrMapping/>
  </p:clrMapOvr>
  <p:hf sldNum="0" hd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smtClean="0"/>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F53789A-C914-4DB1-8815-80B5EC7335C5}" type="datetimeFigureOut">
              <a:rPr lang="en-US" dirty="0"/>
              <a:t>6/15/2026</a:t>
            </a:fld>
            <a:endParaRPr lang="en-US" dirty="0"/>
          </a:p>
        </p:txBody>
      </p:sp>
      <p:sp>
        <p:nvSpPr>
          <p:cNvPr id="6" name="Footer Placeholder 5"/>
          <p:cNvSpPr>
            <a:spLocks noGrp="1"/>
          </p:cNvSpPr>
          <p:nvPr>
            <p:ph type="ftr" sz="quarter" idx="11"/>
          </p:nvPr>
        </p:nvSpPr>
        <p:spPr/>
        <p:txBody>
          <a:bodyPr/>
          <a:lstStyle/>
          <a:p>
            <a:pPr defTabSz="914367">
              <a:defRPr/>
            </a:pPr>
            <a:r>
              <a:rPr lang="en-US" smtClean="0">
                <a:solidFill>
                  <a:srgbClr val="000000"/>
                </a:solidFill>
              </a:rPr>
              <a:t>© Copyright Microsoft Corporation. All rights reserved.</a:t>
            </a:r>
            <a:endParaRPr lang="en-US">
              <a:solidFill>
                <a:srgbClr val="000000"/>
              </a:solidFill>
            </a:endParaRPr>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763645443"/>
      </p:ext>
    </p:extLst>
  </p:cSld>
  <p:clrMapOvr>
    <a:masterClrMapping/>
  </p:clrMapOvr>
  <p:hf sldNum="0" hd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6440AA-91A0-436F-8FDB-C0F939DCAE21}" type="datetimeFigureOut">
              <a:rPr lang="en-US" dirty="0"/>
              <a:t>6/15/2026</a:t>
            </a:fld>
            <a:endParaRPr lang="en-US" dirty="0"/>
          </a:p>
        </p:txBody>
      </p:sp>
      <p:sp>
        <p:nvSpPr>
          <p:cNvPr id="6" name="Footer Placeholder 5"/>
          <p:cNvSpPr>
            <a:spLocks noGrp="1"/>
          </p:cNvSpPr>
          <p:nvPr>
            <p:ph type="ftr" sz="quarter" idx="11"/>
          </p:nvPr>
        </p:nvSpPr>
        <p:spPr/>
        <p:txBody>
          <a:bodyPr/>
          <a:lstStyle/>
          <a:p>
            <a:pPr defTabSz="914367">
              <a:defRPr/>
            </a:pPr>
            <a:r>
              <a:rPr lang="en-US" smtClean="0">
                <a:solidFill>
                  <a:srgbClr val="000000"/>
                </a:solidFill>
              </a:rPr>
              <a:t>© Copyright Microsoft Corporation. All rights reserved.</a:t>
            </a:r>
            <a:endParaRPr lang="en-US">
              <a:solidFill>
                <a:srgbClr val="000000"/>
              </a:solidFill>
            </a:endParaRPr>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936643476"/>
      </p:ext>
    </p:extLst>
  </p:cSld>
  <p:clrMapOvr>
    <a:masterClrMapping/>
  </p:clrMapOvr>
  <p:hf sldNum="0" hd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33E54A-A8CA-48C1-9504-691B58049D29}" type="datetimeFigureOut">
              <a:rPr lang="en-US" dirty="0"/>
              <a:t>6/15/2026</a:t>
            </a:fld>
            <a:endParaRPr lang="en-US" dirty="0"/>
          </a:p>
        </p:txBody>
      </p:sp>
      <p:sp>
        <p:nvSpPr>
          <p:cNvPr id="5" name="Footer Placeholder 4"/>
          <p:cNvSpPr>
            <a:spLocks noGrp="1"/>
          </p:cNvSpPr>
          <p:nvPr>
            <p:ph type="ftr" sz="quarter" idx="11"/>
          </p:nvPr>
        </p:nvSpPr>
        <p:spPr/>
        <p:txBody>
          <a:bodyPr/>
          <a:lstStyle/>
          <a:p>
            <a:pPr defTabSz="914367">
              <a:defRPr/>
            </a:pPr>
            <a:r>
              <a:rPr lang="en-US" smtClean="0">
                <a:solidFill>
                  <a:srgbClr val="000000"/>
                </a:solidFill>
              </a:rPr>
              <a:t>© Copyright Microsoft Corporation. All rights reserved.</a:t>
            </a:r>
            <a:endParaRPr lang="en-US">
              <a:solidFill>
                <a:srgbClr val="000000"/>
              </a:solidFill>
            </a:endParaRPr>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281746738"/>
      </p:ext>
    </p:extLst>
  </p:cSld>
  <p:clrMapOvr>
    <a:masterClrMapping/>
  </p:clrMapOvr>
  <p:hf sldNum="0" hd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5F6C806-BBF7-471C-9527-881CE2266695}" type="datetimeFigureOut">
              <a:rPr lang="en-US" dirty="0"/>
              <a:t>6/15/2026</a:t>
            </a:fld>
            <a:endParaRPr lang="en-US" dirty="0"/>
          </a:p>
        </p:txBody>
      </p:sp>
      <p:sp>
        <p:nvSpPr>
          <p:cNvPr id="5" name="Footer Placeholder 4"/>
          <p:cNvSpPr>
            <a:spLocks noGrp="1"/>
          </p:cNvSpPr>
          <p:nvPr>
            <p:ph type="ftr" sz="quarter" idx="11"/>
          </p:nvPr>
        </p:nvSpPr>
        <p:spPr/>
        <p:txBody>
          <a:bodyPr/>
          <a:lstStyle/>
          <a:p>
            <a:pPr defTabSz="914367">
              <a:defRPr/>
            </a:pPr>
            <a:r>
              <a:rPr lang="en-US" smtClean="0">
                <a:solidFill>
                  <a:srgbClr val="000000"/>
                </a:solidFill>
              </a:rPr>
              <a:t>© Copyright Microsoft Corporation. All rights reserved.</a:t>
            </a:r>
            <a:endParaRPr lang="en-US">
              <a:solidFill>
                <a:srgbClr val="000000"/>
              </a:solidFill>
            </a:endParaRPr>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42582735"/>
      </p:ext>
    </p:extLst>
  </p:cSld>
  <p:clrMapOvr>
    <a:masterClrMapping/>
  </p:clrMapOvr>
  <p:hf sldNum="0" hdr="0" dt="0"/>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10854147"/>
      </p:ext>
    </p:extLst>
  </p:cSld>
  <p:clrMapOvr>
    <a:masterClrMapping/>
  </p:clrMapOvr>
  <p:transition>
    <p:fade/>
  </p:transition>
  <p:extLst>
    <p:ext uri="{DCECCB84-F9BA-43D5-87BE-67443E8EF086}">
      <p15:sldGuideLst xmlns:p15="http://schemas.microsoft.com/office/powerpoint/2012/main">
        <p15:guide id="1" pos="778">
          <p15:clr>
            <a:srgbClr val="954F72"/>
          </p15:clr>
        </p15:guide>
        <p15:guide id="2" pos="962">
          <p15:clr>
            <a:srgbClr val="954F72"/>
          </p15:clr>
        </p15:guide>
        <p15:guide id="3" pos="1372">
          <p15:clr>
            <a:srgbClr val="954F72"/>
          </p15:clr>
        </p15:guide>
        <p15:guide id="4" pos="1556">
          <p15:clr>
            <a:srgbClr val="954F72"/>
          </p15:clr>
        </p15:guide>
        <p15:guide id="5" pos="1966">
          <p15:clr>
            <a:srgbClr val="954F72"/>
          </p15:clr>
        </p15:guide>
        <p15:guide id="6" pos="2150">
          <p15:clr>
            <a:srgbClr val="954F72"/>
          </p15:clr>
        </p15:guide>
        <p15:guide id="7" pos="2560">
          <p15:clr>
            <a:srgbClr val="954F72"/>
          </p15:clr>
        </p15:guide>
        <p15:guide id="8" pos="2744">
          <p15:clr>
            <a:srgbClr val="954F72"/>
          </p15:clr>
        </p15:guide>
        <p15:guide id="9" pos="3153">
          <p15:clr>
            <a:srgbClr val="954F72"/>
          </p15:clr>
        </p15:guide>
        <p15:guide id="10" pos="3338">
          <p15:clr>
            <a:srgbClr val="954F72"/>
          </p15:clr>
        </p15:guide>
        <p15:guide id="11" pos="3747">
          <p15:clr>
            <a:srgbClr val="954F72"/>
          </p15:clr>
        </p15:guide>
        <p15:guide id="12" pos="3932">
          <p15:clr>
            <a:srgbClr val="954F72"/>
          </p15:clr>
        </p15:guide>
        <p15:guide id="13" pos="4341">
          <p15:clr>
            <a:srgbClr val="954F72"/>
          </p15:clr>
        </p15:guide>
        <p15:guide id="14" pos="4526">
          <p15:clr>
            <a:srgbClr val="954F72"/>
          </p15:clr>
        </p15:guide>
        <p15:guide id="15" pos="4935">
          <p15:clr>
            <a:srgbClr val="954F72"/>
          </p15:clr>
        </p15:guide>
        <p15:guide id="16" pos="5120">
          <p15:clr>
            <a:srgbClr val="954F72"/>
          </p15:clr>
        </p15:guide>
        <p15:guide id="17" pos="5529">
          <p15:clr>
            <a:srgbClr val="954F72"/>
          </p15:clr>
        </p15:guide>
        <p15:guide id="18" pos="5713">
          <p15:clr>
            <a:srgbClr val="954F72"/>
          </p15:clr>
        </p15:guide>
        <p15:guide id="19" pos="6123">
          <p15:clr>
            <a:srgbClr val="954F72"/>
          </p15:clr>
        </p15:guide>
        <p15:guide id="20" pos="6307">
          <p15:clr>
            <a:srgbClr val="954F72"/>
          </p15:clr>
        </p15:guide>
        <p15:guide id="21" pos="6717">
          <p15:clr>
            <a:srgbClr val="954F72"/>
          </p15:clr>
        </p15:guide>
        <p15:guide id="22" pos="6901">
          <p15:clr>
            <a:srgbClr val="954F72"/>
          </p15:clr>
        </p15:guide>
        <p15:guide id="23" orient="horz" pos="812">
          <p15:clr>
            <a:srgbClr val="954F72"/>
          </p15:clr>
        </p15:guide>
        <p15:guide id="24" orient="horz" pos="996">
          <p15:clr>
            <a:srgbClr val="954F72"/>
          </p15:clr>
        </p15:guide>
        <p15:guide id="25" orient="horz" pos="1440">
          <p15:clr>
            <a:srgbClr val="954F72"/>
          </p15:clr>
        </p15:guide>
        <p15:guide id="26" orient="horz" pos="1624">
          <p15:clr>
            <a:srgbClr val="954F72"/>
          </p15:clr>
        </p15:guide>
        <p15:guide id="27" orient="horz" pos="2067">
          <p15:clr>
            <a:srgbClr val="954F72"/>
          </p15:clr>
        </p15:guide>
        <p15:guide id="28" orient="horz" pos="2252">
          <p15:clr>
            <a:srgbClr val="954F72"/>
          </p15:clr>
        </p15:guide>
        <p15:guide id="29" orient="horz" pos="2695">
          <p15:clr>
            <a:srgbClr val="954F72"/>
          </p15:clr>
        </p15:guide>
        <p15:guide id="30" orient="horz" pos="2880">
          <p15:clr>
            <a:srgbClr val="954F72"/>
          </p15:clr>
        </p15:guide>
        <p15:guide id="31" orient="horz" pos="3323">
          <p15:clr>
            <a:srgbClr val="954F72"/>
          </p15:clr>
        </p15:guide>
        <p15:guide id="32"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 xmlns:a16="http://schemas.microsoft.com/office/drawing/2014/main" id="{BCE35D3C-86EE-875E-D2A6-669DF7E1C19A}"/>
              </a:ext>
            </a:extLst>
          </p:cNvPr>
          <p:cNvSpPr>
            <a:spLocks noGrp="1"/>
          </p:cNvSpPr>
          <p:nvPr>
            <p:ph type="title"/>
          </p:nvPr>
        </p:nvSpPr>
        <p:spPr>
          <a:xfrm>
            <a:off x="588262" y="585216"/>
            <a:ext cx="5749038"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691469007"/>
      </p:ext>
    </p:extLst>
  </p:cSld>
  <p:clrMapOvr>
    <a:masterClrMapping/>
  </p:clrMapOvr>
  <p:transition>
    <p:fade/>
  </p:transition>
  <p:extLst>
    <p:ext uri="{DCECCB84-F9BA-43D5-87BE-67443E8EF086}">
      <p15:sldGuideLst xmlns:p15="http://schemas.microsoft.com/office/powerpoint/2012/main">
        <p15:guide id="1" pos="778">
          <p15:clr>
            <a:srgbClr val="954F72"/>
          </p15:clr>
        </p15:guide>
        <p15:guide id="2" pos="962">
          <p15:clr>
            <a:srgbClr val="954F72"/>
          </p15:clr>
        </p15:guide>
        <p15:guide id="3" pos="1372">
          <p15:clr>
            <a:srgbClr val="954F72"/>
          </p15:clr>
        </p15:guide>
        <p15:guide id="4" pos="1556">
          <p15:clr>
            <a:srgbClr val="954F72"/>
          </p15:clr>
        </p15:guide>
        <p15:guide id="5" pos="1966">
          <p15:clr>
            <a:srgbClr val="954F72"/>
          </p15:clr>
        </p15:guide>
        <p15:guide id="6" pos="2150">
          <p15:clr>
            <a:srgbClr val="954F72"/>
          </p15:clr>
        </p15:guide>
        <p15:guide id="7" pos="2560">
          <p15:clr>
            <a:srgbClr val="954F72"/>
          </p15:clr>
        </p15:guide>
        <p15:guide id="8" pos="2744">
          <p15:clr>
            <a:srgbClr val="954F72"/>
          </p15:clr>
        </p15:guide>
        <p15:guide id="9" pos="3153">
          <p15:clr>
            <a:srgbClr val="954F72"/>
          </p15:clr>
        </p15:guide>
        <p15:guide id="10" pos="3338">
          <p15:clr>
            <a:srgbClr val="954F72"/>
          </p15:clr>
        </p15:guide>
        <p15:guide id="11" pos="3747">
          <p15:clr>
            <a:srgbClr val="954F72"/>
          </p15:clr>
        </p15:guide>
        <p15:guide id="12" pos="3932">
          <p15:clr>
            <a:srgbClr val="954F72"/>
          </p15:clr>
        </p15:guide>
        <p15:guide id="13" pos="4341">
          <p15:clr>
            <a:srgbClr val="954F72"/>
          </p15:clr>
        </p15:guide>
        <p15:guide id="14" pos="4526">
          <p15:clr>
            <a:srgbClr val="954F72"/>
          </p15:clr>
        </p15:guide>
        <p15:guide id="15" pos="4935">
          <p15:clr>
            <a:srgbClr val="954F72"/>
          </p15:clr>
        </p15:guide>
        <p15:guide id="16" pos="5120">
          <p15:clr>
            <a:srgbClr val="954F72"/>
          </p15:clr>
        </p15:guide>
        <p15:guide id="17" pos="5529">
          <p15:clr>
            <a:srgbClr val="954F72"/>
          </p15:clr>
        </p15:guide>
        <p15:guide id="18" pos="5713">
          <p15:clr>
            <a:srgbClr val="954F72"/>
          </p15:clr>
        </p15:guide>
        <p15:guide id="19" pos="6123">
          <p15:clr>
            <a:srgbClr val="954F72"/>
          </p15:clr>
        </p15:guide>
        <p15:guide id="20" pos="6307">
          <p15:clr>
            <a:srgbClr val="954F72"/>
          </p15:clr>
        </p15:guide>
        <p15:guide id="21" pos="6717">
          <p15:clr>
            <a:srgbClr val="954F72"/>
          </p15:clr>
        </p15:guide>
        <p15:guide id="22" pos="6901">
          <p15:clr>
            <a:srgbClr val="954F72"/>
          </p15:clr>
        </p15:guide>
        <p15:guide id="23" orient="horz" pos="812">
          <p15:clr>
            <a:srgbClr val="954F72"/>
          </p15:clr>
        </p15:guide>
        <p15:guide id="24" orient="horz" pos="996">
          <p15:clr>
            <a:srgbClr val="954F72"/>
          </p15:clr>
        </p15:guide>
        <p15:guide id="25" orient="horz" pos="1440">
          <p15:clr>
            <a:srgbClr val="954F72"/>
          </p15:clr>
        </p15:guide>
        <p15:guide id="26" orient="horz" pos="1624">
          <p15:clr>
            <a:srgbClr val="954F72"/>
          </p15:clr>
        </p15:guide>
        <p15:guide id="27" orient="horz" pos="2067">
          <p15:clr>
            <a:srgbClr val="954F72"/>
          </p15:clr>
        </p15:guide>
        <p15:guide id="28" orient="horz" pos="2252">
          <p15:clr>
            <a:srgbClr val="954F72"/>
          </p15:clr>
        </p15:guide>
        <p15:guide id="29" orient="horz" pos="2695">
          <p15:clr>
            <a:srgbClr val="954F72"/>
          </p15:clr>
        </p15:guide>
        <p15:guide id="30" orient="horz" pos="2880">
          <p15:clr>
            <a:srgbClr val="954F72"/>
          </p15:clr>
        </p15:guide>
        <p15:guide id="31" orient="horz" pos="3323">
          <p15:clr>
            <a:srgbClr val="954F72"/>
          </p15:clr>
        </p15:guide>
        <p15:guide id="32"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830" r:id="rId1"/>
    <p:sldLayoutId id="2147484884" r:id="rId2"/>
    <p:sldLayoutId id="2147484845" r:id="rId3"/>
    <p:sldLayoutId id="2147484870" r:id="rId4"/>
    <p:sldLayoutId id="2147484872" r:id="rId5"/>
    <p:sldLayoutId id="2147484867" r:id="rId6"/>
    <p:sldLayoutId id="2147484908" r:id="rId7"/>
    <p:sldLayoutId id="2147484839" r:id="rId8"/>
    <p:sldLayoutId id="2147484742" r:id="rId9"/>
    <p:sldLayoutId id="2147484910" r:id="rId10"/>
    <p:sldLayoutId id="2147484817" r:id="rId11"/>
    <p:sldLayoutId id="2147484741" r:id="rId12"/>
    <p:sldLayoutId id="2147484807" r:id="rId13"/>
    <p:sldLayoutId id="2147484753" r:id="rId14"/>
    <p:sldLayoutId id="2147484808" r:id="rId15"/>
    <p:sldLayoutId id="2147484912" r:id="rId16"/>
    <p:sldLayoutId id="2147484914" r:id="rId17"/>
    <p:sldLayoutId id="2147484917" r:id="rId18"/>
    <p:sldLayoutId id="2147484915" r:id="rId19"/>
    <p:sldLayoutId id="2147484873" r:id="rId20"/>
    <p:sldLayoutId id="2147484886" r:id="rId21"/>
    <p:sldLayoutId id="2147484885" r:id="rId22"/>
    <p:sldLayoutId id="2147484874" r:id="rId23"/>
    <p:sldLayoutId id="2147484745" r:id="rId24"/>
    <p:sldLayoutId id="2147484743" r:id="rId25"/>
    <p:sldLayoutId id="2147484749" r:id="rId26"/>
    <p:sldLayoutId id="2147484875" r:id="rId27"/>
    <p:sldLayoutId id="2147484840" r:id="rId28"/>
    <p:sldLayoutId id="2147484887" r:id="rId29"/>
    <p:sldLayoutId id="2147484909" r:id="rId30"/>
    <p:sldLayoutId id="2147484907" r:id="rId31"/>
    <p:sldLayoutId id="2147484911" r:id="rId32"/>
    <p:sldLayoutId id="2147484899" r:id="rId33"/>
    <p:sldLayoutId id="2147484903" r:id="rId34"/>
    <p:sldLayoutId id="2147484905" r:id="rId35"/>
    <p:sldLayoutId id="2147484900" r:id="rId36"/>
    <p:sldLayoutId id="2147484906" r:id="rId37"/>
    <p:sldLayoutId id="2147484821" r:id="rId38"/>
    <p:sldLayoutId id="2147484728" r:id="rId39"/>
    <p:sldLayoutId id="2147484859" r:id="rId40"/>
    <p:sldLayoutId id="2147484918" r:id="rId41"/>
    <p:sldLayoutId id="2147484919" r:id="rId42"/>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A5A5A5"/>
          </p15:clr>
        </p15:guide>
        <p15:guide id="2" pos="7680" userDrawn="1">
          <p15:clr>
            <a:srgbClr val="A5A5A5"/>
          </p15:clr>
        </p15:guide>
        <p15:guide id="3" pos="186" userDrawn="1">
          <p15:clr>
            <a:srgbClr val="A5A5A5"/>
          </p15:clr>
        </p15:guide>
        <p15:guide id="26" pos="7496" userDrawn="1">
          <p15:clr>
            <a:srgbClr val="A5A5A5"/>
          </p15:clr>
        </p15:guide>
        <p15:guide id="27" orient="horz" userDrawn="1">
          <p15:clr>
            <a:srgbClr val="A5A5A5"/>
          </p15:clr>
        </p15:guide>
        <p15:guide id="28" orient="horz" pos="4320" userDrawn="1">
          <p15:clr>
            <a:srgbClr val="A5A5A5"/>
          </p15:clr>
        </p15:guide>
        <p15:guide id="29" orient="horz" pos="184" userDrawn="1">
          <p15:clr>
            <a:srgbClr val="A5A5A5"/>
          </p15:clr>
        </p15:guide>
        <p15:guide id="40" orient="horz" pos="4134" userDrawn="1">
          <p15:clr>
            <a:srgbClr val="A5A5A5"/>
          </p15:clr>
        </p15:guide>
        <p15:guide id="42" pos="365" userDrawn="1">
          <p15:clr>
            <a:srgbClr val="C35EA4"/>
          </p15:clr>
        </p15:guide>
        <p15:guide id="43" orient="horz" pos="367" userDrawn="1">
          <p15:clr>
            <a:srgbClr val="C35EA4"/>
          </p15:clr>
        </p15:guide>
        <p15:guide id="44" orient="horz" pos="3953" userDrawn="1">
          <p15:clr>
            <a:srgbClr val="C35EA4"/>
          </p15:clr>
        </p15:guide>
        <p15:guide id="45" pos="7307"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0E59FD0C-5451-4CA0-86AF-E70AE3279989}" type="datetimeFigureOut">
              <a:rPr lang="en-US" dirty="0"/>
              <a:t>6/15/2026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pPr defTabSz="914367">
              <a:defRPr/>
            </a:pPr>
            <a:r>
              <a:rPr lang="en-US" smtClean="0">
                <a:solidFill>
                  <a:srgbClr val="000000"/>
                </a:solidFill>
              </a:rPr>
              <a:t>© Copyright Microsoft Corporation. All rights reserved.</a:t>
            </a:r>
            <a:endParaRPr lang="en-US">
              <a:solidFill>
                <a:srgbClr val="000000"/>
              </a:solidFill>
            </a:endParaRPr>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FAB73BC-B049-4115-A692-8D63A059BFB8}" type="slidenum">
              <a:rPr lang="en-US" dirty="0"/>
              <a:pPr/>
              <a:t>‹#›</a:t>
            </a:fld>
            <a:endParaRPr lang="en-US" dirty="0"/>
          </a:p>
        </p:txBody>
      </p:sp>
      <p:grpSp>
        <p:nvGrpSpPr>
          <p:cNvPr id="8" name="GRID" hidden="1">
            <a:extLst>
              <a:ext uri="{FF2B5EF4-FFF2-40B4-BE49-F238E27FC236}">
                <a16:creationId xmlns=""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9" name="Straight Connector 8">
              <a:extLst>
                <a:ext uri="{FF2B5EF4-FFF2-40B4-BE49-F238E27FC236}">
                  <a16:creationId xmlns=""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43" name="Title Placeholder 1"/>
          <p:cNvSpPr>
            <a:spLocks noGrp="1"/>
          </p:cNvSpPr>
          <p:nvPr>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Tree>
    <p:extLst>
      <p:ext uri="{BB962C8B-B14F-4D97-AF65-F5344CB8AC3E}">
        <p14:creationId xmlns:p14="http://schemas.microsoft.com/office/powerpoint/2010/main" val="3768196714"/>
      </p:ext>
    </p:extLst>
  </p:cSld>
  <p:clrMap bg1="lt1" tx1="dk1" bg2="lt2" tx2="dk2" accent1="accent1" accent2="accent2" accent3="accent3" accent4="accent4" accent5="accent5" accent6="accent6" hlink="hlink" folHlink="folHlink"/>
  <p:sldLayoutIdLst>
    <p:sldLayoutId id="2147484921" r:id="rId1"/>
    <p:sldLayoutId id="2147484922" r:id="rId2"/>
    <p:sldLayoutId id="2147484923" r:id="rId3"/>
    <p:sldLayoutId id="2147484924" r:id="rId4"/>
    <p:sldLayoutId id="2147484925" r:id="rId5"/>
    <p:sldLayoutId id="2147484926" r:id="rId6"/>
    <p:sldLayoutId id="2147484927" r:id="rId7"/>
    <p:sldLayoutId id="2147484928" r:id="rId8"/>
    <p:sldLayoutId id="2147484929" r:id="rId9"/>
    <p:sldLayoutId id="2147484930" r:id="rId10"/>
    <p:sldLayoutId id="2147484931" r:id="rId11"/>
    <p:sldLayoutId id="2147484932" r:id="rId12"/>
    <p:sldLayoutId id="2147484933" r:id="rId13"/>
  </p:sldLayoutIdLst>
  <p:transition>
    <p:fade/>
  </p:transition>
  <p:timing>
    <p:tnLst>
      <p:par>
        <p:cTn id="1" dur="indefinite" restart="never" nodeType="tmRoot"/>
      </p:par>
    </p:tnLst>
  </p:timing>
  <p:hf sldNum="0" hd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A5A5A5"/>
          </p15:clr>
        </p15:guide>
        <p15:guide id="2" pos="7680" userDrawn="1">
          <p15:clr>
            <a:srgbClr val="A5A5A5"/>
          </p15:clr>
        </p15:guide>
        <p15:guide id="3" pos="186" userDrawn="1">
          <p15:clr>
            <a:srgbClr val="A5A5A5"/>
          </p15:clr>
        </p15:guide>
        <p15:guide id="4" pos="7496" userDrawn="1">
          <p15:clr>
            <a:srgbClr val="A5A5A5"/>
          </p15:clr>
        </p15:guide>
        <p15:guide id="5" orient="horz" userDrawn="1">
          <p15:clr>
            <a:srgbClr val="A5A5A5"/>
          </p15:clr>
        </p15:guide>
        <p15:guide id="6" orient="horz" pos="4320" userDrawn="1">
          <p15:clr>
            <a:srgbClr val="A5A5A5"/>
          </p15:clr>
        </p15:guide>
        <p15:guide id="7" orient="horz" pos="184" userDrawn="1">
          <p15:clr>
            <a:srgbClr val="A5A5A5"/>
          </p15:clr>
        </p15:guide>
        <p15:guide id="8" orient="horz" pos="4134" userDrawn="1">
          <p15:clr>
            <a:srgbClr val="A5A5A5"/>
          </p15:clr>
        </p15:guide>
        <p15:guide id="9" pos="365" userDrawn="1">
          <p15:clr>
            <a:srgbClr val="C35EA4"/>
          </p15:clr>
        </p15:guide>
        <p15:guide id="10" orient="horz" pos="367" userDrawn="1">
          <p15:clr>
            <a:srgbClr val="C35EA4"/>
          </p15:clr>
        </p15:guide>
        <p15:guide id="11" orient="horz" pos="3953" userDrawn="1">
          <p15:clr>
            <a:srgbClr val="C35EA4"/>
          </p15:clr>
        </p15:guide>
        <p15:guide id="12" pos="7307" userDrawn="1">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3.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54.xml"/><Relationship Id="rId6" Type="http://schemas.openxmlformats.org/officeDocument/2006/relationships/image" Target="../media/image15.png"/><Relationship Id="rId5" Type="http://schemas.openxmlformats.org/officeDocument/2006/relationships/hyperlink" Target="https://carillpower.github.io/shahril_kamaruzzaman/" TargetMode="External"/><Relationship Id="rId4" Type="http://schemas.openxmlformats.org/officeDocument/2006/relationships/image" Target="../media/image14.jp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54.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54.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54.xml"/></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5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5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4.xml"/><Relationship Id="rId5" Type="http://schemas.openxmlformats.org/officeDocument/2006/relationships/image" Target="../media/image17.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5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5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54.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5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https://carillpower.github.io/shahril_kamaruzzama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4.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54.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4.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5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4.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54.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2">
            <a:lumMod val="50000"/>
          </a:schemeClr>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A3E08FA2-C73F-A01D-C334-4FAC0DB0C177}"/>
              </a:ext>
            </a:extLst>
          </p:cNvPr>
          <p:cNvSpPr>
            <a:spLocks noGrp="1"/>
          </p:cNvSpPr>
          <p:nvPr>
            <p:ph type="ctrTitle"/>
          </p:nvPr>
        </p:nvSpPr>
        <p:spPr>
          <a:xfrm>
            <a:off x="569912" y="2813447"/>
            <a:ext cx="10636568" cy="1846659"/>
          </a:xfrm>
        </p:spPr>
        <p:txBody>
          <a:bodyPr>
            <a:normAutofit/>
          </a:bodyPr>
          <a:lstStyle/>
          <a:p>
            <a:r>
              <a:rPr lang="en-US" sz="4000" b="1" dirty="0" smtClean="0"/>
              <a:t>Streamlining </a:t>
            </a:r>
            <a:r>
              <a:rPr lang="en-US" sz="4000" b="1" dirty="0"/>
              <a:t>Upstream/Downstream Pipelines with Argo </a:t>
            </a:r>
            <a:r>
              <a:rPr lang="en-US" sz="4000" b="1" dirty="0" smtClean="0"/>
              <a:t>Workflows</a:t>
            </a:r>
            <a:endParaRPr lang="en-US" dirty="0"/>
          </a:p>
        </p:txBody>
      </p:sp>
      <p:sp>
        <p:nvSpPr>
          <p:cNvPr id="8" name="Text Placeholder 7">
            <a:extLst>
              <a:ext uri="{FF2B5EF4-FFF2-40B4-BE49-F238E27FC236}">
                <a16:creationId xmlns="" xmlns:a16="http://schemas.microsoft.com/office/drawing/2014/main" id="{7C4740F1-B816-6BEC-8362-3B8D251DFCEE}"/>
              </a:ext>
            </a:extLst>
          </p:cNvPr>
          <p:cNvSpPr>
            <a:spLocks noGrp="1"/>
          </p:cNvSpPr>
          <p:nvPr>
            <p:ph type="subTitle" idx="1"/>
          </p:nvPr>
        </p:nvSpPr>
        <p:spPr>
          <a:xfrm>
            <a:off x="569912" y="4820920"/>
            <a:ext cx="9418320" cy="1691640"/>
          </a:xfrm>
        </p:spPr>
        <p:txBody>
          <a:bodyPr/>
          <a:lstStyle/>
          <a:p>
            <a:r>
              <a:rPr lang="en-US" dirty="0" err="1" smtClean="0"/>
              <a:t>Shahril</a:t>
            </a:r>
            <a:r>
              <a:rPr lang="en-US" dirty="0" smtClean="0"/>
              <a:t> </a:t>
            </a:r>
            <a:r>
              <a:rPr lang="en-US" dirty="0" err="1" smtClean="0"/>
              <a:t>Kamaruzzaman</a:t>
            </a:r>
            <a:endParaRPr lang="en-US" dirty="0"/>
          </a:p>
        </p:txBody>
      </p:sp>
    </p:spTree>
    <p:extLst>
      <p:ext uri="{BB962C8B-B14F-4D97-AF65-F5344CB8AC3E}">
        <p14:creationId xmlns:p14="http://schemas.microsoft.com/office/powerpoint/2010/main" val="4060601304"/>
      </p:ext>
    </p:extLst>
  </p:cSld>
  <p:clrMapOvr>
    <a:masterClrMapping/>
  </p:clrMapOvr>
  <p:transition spd="slow">
    <p:cove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useBgFill="1">
        <p:nvSpPr>
          <p:cNvPr id="6" name="Freeform 5"/>
          <p:cNvSpPr/>
          <p:nvPr/>
        </p:nvSpPr>
        <p:spPr>
          <a:xfrm rot="18909290">
            <a:off x="7219241" y="-2729383"/>
            <a:ext cx="12660583" cy="12865817"/>
          </a:xfrm>
          <a:custGeom>
            <a:avLst/>
            <a:gdLst>
              <a:gd name="connsiteX0" fmla="*/ 5410845 w 7126942"/>
              <a:gd name="connsiteY0" fmla="*/ 3396245 h 6855055"/>
              <a:gd name="connsiteX1" fmla="*/ 7126146 w 7126942"/>
              <a:gd name="connsiteY1" fmla="*/ 3396245 h 6855055"/>
              <a:gd name="connsiteX2" fmla="*/ 7126942 w 7126942"/>
              <a:gd name="connsiteY2" fmla="*/ 3427527 h 6855055"/>
              <a:gd name="connsiteX3" fmla="*/ 3746847 w 7126942"/>
              <a:gd name="connsiteY3" fmla="*/ 6852065 h 6855055"/>
              <a:gd name="connsiteX4" fmla="*/ 3651655 w 7126942"/>
              <a:gd name="connsiteY4" fmla="*/ 6854382 h 6855055"/>
              <a:gd name="connsiteX5" fmla="*/ 3651655 w 7126942"/>
              <a:gd name="connsiteY5" fmla="*/ 5137898 h 6855055"/>
              <a:gd name="connsiteX6" fmla="*/ 3752518 w 7126942"/>
              <a:gd name="connsiteY6" fmla="*/ 5133176 h 6855055"/>
              <a:gd name="connsiteX7" fmla="*/ 5412442 w 7126942"/>
              <a:gd name="connsiteY7" fmla="*/ 3427527 h 6855055"/>
              <a:gd name="connsiteX8" fmla="*/ 797 w 7126942"/>
              <a:gd name="connsiteY8" fmla="*/ 3396245 h 6855055"/>
              <a:gd name="connsiteX9" fmla="*/ 1716098 w 7126942"/>
              <a:gd name="connsiteY9" fmla="*/ 3396245 h 6855055"/>
              <a:gd name="connsiteX10" fmla="*/ 1714500 w 7126942"/>
              <a:gd name="connsiteY10" fmla="*/ 3427527 h 6855055"/>
              <a:gd name="connsiteX11" fmla="*/ 3374425 w 7126942"/>
              <a:gd name="connsiteY11" fmla="*/ 5133176 h 6855055"/>
              <a:gd name="connsiteX12" fmla="*/ 3502958 w 7126942"/>
              <a:gd name="connsiteY12" fmla="*/ 5139194 h 6855055"/>
              <a:gd name="connsiteX13" fmla="*/ 3502958 w 7126942"/>
              <a:gd name="connsiteY13" fmla="*/ 6855055 h 6855055"/>
              <a:gd name="connsiteX14" fmla="*/ 3380095 w 7126942"/>
              <a:gd name="connsiteY14" fmla="*/ 6852065 h 6855055"/>
              <a:gd name="connsiteX15" fmla="*/ 0 w 7126942"/>
              <a:gd name="connsiteY15" fmla="*/ 3427527 h 6855055"/>
              <a:gd name="connsiteX16" fmla="*/ 3651655 w 7126942"/>
              <a:gd name="connsiteY16" fmla="*/ 673 h 6855055"/>
              <a:gd name="connsiteX17" fmla="*/ 3746847 w 7126942"/>
              <a:gd name="connsiteY17" fmla="*/ 2989 h 6855055"/>
              <a:gd name="connsiteX18" fmla="*/ 7122589 w 7126942"/>
              <a:gd name="connsiteY18" fmla="*/ 3256552 h 6855055"/>
              <a:gd name="connsiteX19" fmla="*/ 7123205 w 7126942"/>
              <a:gd name="connsiteY19" fmla="*/ 3280742 h 6855055"/>
              <a:gd name="connsiteX20" fmla="*/ 5404947 w 7126942"/>
              <a:gd name="connsiteY20" fmla="*/ 3280742 h 6855055"/>
              <a:gd name="connsiteX21" fmla="*/ 5404044 w 7126942"/>
              <a:gd name="connsiteY21" fmla="*/ 3263046 h 6855055"/>
              <a:gd name="connsiteX22" fmla="*/ 3752518 w 7126942"/>
              <a:gd name="connsiteY22" fmla="*/ 1721879 h 6855055"/>
              <a:gd name="connsiteX23" fmla="*/ 3651655 w 7126942"/>
              <a:gd name="connsiteY23" fmla="*/ 1717156 h 6855055"/>
              <a:gd name="connsiteX24" fmla="*/ 3502958 w 7126942"/>
              <a:gd name="connsiteY24" fmla="*/ 0 h 6855055"/>
              <a:gd name="connsiteX25" fmla="*/ 3502958 w 7126942"/>
              <a:gd name="connsiteY25" fmla="*/ 1715861 h 6855055"/>
              <a:gd name="connsiteX26" fmla="*/ 3374425 w 7126942"/>
              <a:gd name="connsiteY26" fmla="*/ 1721879 h 6855055"/>
              <a:gd name="connsiteX27" fmla="*/ 1722899 w 7126942"/>
              <a:gd name="connsiteY27" fmla="*/ 3263046 h 6855055"/>
              <a:gd name="connsiteX28" fmla="*/ 1721995 w 7126942"/>
              <a:gd name="connsiteY28" fmla="*/ 3280742 h 6855055"/>
              <a:gd name="connsiteX29" fmla="*/ 3737 w 7126942"/>
              <a:gd name="connsiteY29" fmla="*/ 3280742 h 6855055"/>
              <a:gd name="connsiteX30" fmla="*/ 4353 w 7126942"/>
              <a:gd name="connsiteY30" fmla="*/ 3256552 h 6855055"/>
              <a:gd name="connsiteX31" fmla="*/ 3380095 w 7126942"/>
              <a:gd name="connsiteY31" fmla="*/ 2989 h 685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126942" h="6855055">
                <a:moveTo>
                  <a:pt x="5410845" y="3396245"/>
                </a:moveTo>
                <a:lnTo>
                  <a:pt x="7126146" y="3396245"/>
                </a:lnTo>
                <a:lnTo>
                  <a:pt x="7126942" y="3427527"/>
                </a:lnTo>
                <a:cubicBezTo>
                  <a:pt x="7126942" y="5262131"/>
                  <a:pt x="5629678" y="6760226"/>
                  <a:pt x="3746847" y="6852065"/>
                </a:cubicBezTo>
                <a:lnTo>
                  <a:pt x="3651655" y="6854382"/>
                </a:lnTo>
                <a:lnTo>
                  <a:pt x="3651655" y="5137898"/>
                </a:lnTo>
                <a:lnTo>
                  <a:pt x="3752518" y="5133176"/>
                </a:lnTo>
                <a:cubicBezTo>
                  <a:pt x="4684872" y="5045376"/>
                  <a:pt x="5412442" y="4315238"/>
                  <a:pt x="5412442" y="3427527"/>
                </a:cubicBezTo>
                <a:close/>
                <a:moveTo>
                  <a:pt x="797" y="3396245"/>
                </a:moveTo>
                <a:lnTo>
                  <a:pt x="1716098" y="3396245"/>
                </a:lnTo>
                <a:lnTo>
                  <a:pt x="1714500" y="3427527"/>
                </a:lnTo>
                <a:cubicBezTo>
                  <a:pt x="1714500" y="4315238"/>
                  <a:pt x="2442070" y="5045376"/>
                  <a:pt x="3374425" y="5133176"/>
                </a:cubicBezTo>
                <a:lnTo>
                  <a:pt x="3502958" y="5139194"/>
                </a:lnTo>
                <a:lnTo>
                  <a:pt x="3502958" y="6855055"/>
                </a:lnTo>
                <a:lnTo>
                  <a:pt x="3380095" y="6852065"/>
                </a:lnTo>
                <a:cubicBezTo>
                  <a:pt x="1497265" y="6760226"/>
                  <a:pt x="0" y="5262131"/>
                  <a:pt x="0" y="3427527"/>
                </a:cubicBezTo>
                <a:close/>
                <a:moveTo>
                  <a:pt x="3651655" y="673"/>
                </a:moveTo>
                <a:lnTo>
                  <a:pt x="3746847" y="2989"/>
                </a:lnTo>
                <a:cubicBezTo>
                  <a:pt x="5570839" y="91958"/>
                  <a:pt x="7032986" y="1500666"/>
                  <a:pt x="7122589" y="3256552"/>
                </a:cubicBezTo>
                <a:lnTo>
                  <a:pt x="7123205" y="3280742"/>
                </a:lnTo>
                <a:lnTo>
                  <a:pt x="5404947" y="3280742"/>
                </a:lnTo>
                <a:lnTo>
                  <a:pt x="5404044" y="3263046"/>
                </a:lnTo>
                <a:cubicBezTo>
                  <a:pt x="5320696" y="2451058"/>
                  <a:pt x="4626600" y="1804191"/>
                  <a:pt x="3752518" y="1721879"/>
                </a:cubicBezTo>
                <a:lnTo>
                  <a:pt x="3651655" y="1717156"/>
                </a:lnTo>
                <a:close/>
                <a:moveTo>
                  <a:pt x="3502958" y="0"/>
                </a:moveTo>
                <a:lnTo>
                  <a:pt x="3502958" y="1715861"/>
                </a:lnTo>
                <a:lnTo>
                  <a:pt x="3374425" y="1721879"/>
                </a:lnTo>
                <a:cubicBezTo>
                  <a:pt x="2500343" y="1804191"/>
                  <a:pt x="1806247" y="2451058"/>
                  <a:pt x="1722899" y="3263046"/>
                </a:cubicBezTo>
                <a:lnTo>
                  <a:pt x="1721995" y="3280742"/>
                </a:lnTo>
                <a:lnTo>
                  <a:pt x="3737" y="3280742"/>
                </a:lnTo>
                <a:lnTo>
                  <a:pt x="4353" y="3256552"/>
                </a:lnTo>
                <a:cubicBezTo>
                  <a:pt x="93956" y="1500666"/>
                  <a:pt x="1556103" y="91958"/>
                  <a:pt x="3380095" y="2989"/>
                </a:cubicBezTo>
                <a:close/>
              </a:path>
            </a:pathLst>
          </a:custGeom>
          <a:ln>
            <a:noFill/>
          </a:ln>
          <a:effectLst>
            <a:outerShdw blurRad="508000" dist="50800" dir="5400000" algn="ctr" rotWithShape="0">
              <a:srgbClr val="000000">
                <a:alpha val="7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solidFill>
                <a:schemeClr val="tx1"/>
              </a:solidFill>
            </a:endParaRPr>
          </a:p>
        </p:txBody>
      </p:sp>
      <p:pic>
        <p:nvPicPr>
          <p:cNvPr id="7" name="Picture Placeholder 27"/>
          <p:cNvPicPr>
            <a:picLocks noChangeAspect="1"/>
          </p:cNvPicPr>
          <p:nvPr/>
        </p:nvPicPr>
        <p:blipFill>
          <a:blip r:embed="rId4">
            <a:extLst>
              <a:ext uri="{28A0092B-C50C-407E-A947-70E740481C1C}">
                <a14:useLocalDpi xmlns:a14="http://schemas.microsoft.com/office/drawing/2010/main" val="0"/>
              </a:ext>
            </a:extLst>
          </a:blip>
          <a:srcRect l="442" r="442"/>
          <a:stretch>
            <a:fillRect/>
          </a:stretch>
        </p:blipFill>
        <p:spPr>
          <a:xfrm>
            <a:off x="7504831" y="1678092"/>
            <a:ext cx="3569569" cy="3601113"/>
          </a:xfrm>
          <a:prstGeom prst="roundRect">
            <a:avLst>
              <a:gd name="adj" fmla="val 21738"/>
            </a:avLst>
          </a:prstGeom>
        </p:spPr>
      </p:pic>
      <p:sp>
        <p:nvSpPr>
          <p:cNvPr id="8" name="Rounded Rectangle 3_1">
            <a:extLst>
              <a:ext uri="{FF2B5EF4-FFF2-40B4-BE49-F238E27FC236}">
                <a16:creationId xmlns="" xmlns:a16="http://schemas.microsoft.com/office/drawing/2014/main" id="{02A69FC5-E869-7938-B593-C7A42F844DCF}"/>
              </a:ext>
            </a:extLst>
          </p:cNvPr>
          <p:cNvSpPr/>
          <p:nvPr/>
        </p:nvSpPr>
        <p:spPr>
          <a:xfrm>
            <a:off x="167640" y="1871133"/>
            <a:ext cx="6659880" cy="3032449"/>
          </a:xfrm>
          <a:prstGeom prst="roundRect">
            <a:avLst>
              <a:gd name="adj" fmla="val 3632"/>
            </a:avLst>
          </a:prstGeom>
          <a:solidFill>
            <a:schemeClr val="bg1"/>
          </a:solidFill>
          <a:ln>
            <a:noFill/>
          </a:ln>
          <a:effectLst>
            <a:outerShdw blurRad="127000" dist="38100" dir="8100000" sx="101000" sy="101000" algn="tr" rotWithShape="0">
              <a:srgbClr val="CAC5B8">
                <a:alpha val="64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lstStyle/>
          <a:p>
            <a:pPr marL="0" marR="0" lvl="0" indent="0" defTabSz="932742" eaLnBrk="1" fontAlgn="auto" latinLnBrk="0" hangingPunct="1">
              <a:lnSpc>
                <a:spcPct val="100000"/>
              </a:lnSpc>
              <a:spcBef>
                <a:spcPts val="1200"/>
              </a:spcBef>
              <a:spcAft>
                <a:spcPts val="0"/>
              </a:spcAft>
              <a:buClrTx/>
              <a:buSzTx/>
              <a:buFontTx/>
              <a:buNone/>
              <a:tabLst/>
              <a:defRPr/>
            </a:pPr>
            <a:r>
              <a:rPr kumimoji="0" lang="en-US" sz="2500" b="0" i="0" u="none" strike="noStrike" kern="0" cap="none" spc="0" normalizeH="0" baseline="0" noProof="0" dirty="0" err="1" smtClean="0">
                <a:ln>
                  <a:noFill/>
                </a:ln>
                <a:solidFill>
                  <a:srgbClr val="000000"/>
                </a:solidFill>
                <a:effectLst/>
                <a:uLnTx/>
                <a:uFillTx/>
                <a:latin typeface="+mj-lt"/>
                <a:ea typeface="+mn-ea"/>
                <a:cs typeface="+mn-cs"/>
              </a:rPr>
              <a:t>Shahril</a:t>
            </a:r>
            <a:r>
              <a:rPr kumimoji="0" lang="en-US" sz="2500" b="0" i="0" u="none" strike="noStrike" kern="0" cap="none" spc="0" normalizeH="0" baseline="0" noProof="0" dirty="0" smtClean="0">
                <a:ln>
                  <a:noFill/>
                </a:ln>
                <a:solidFill>
                  <a:srgbClr val="000000"/>
                </a:solidFill>
                <a:effectLst/>
                <a:uLnTx/>
                <a:uFillTx/>
                <a:latin typeface="+mj-lt"/>
                <a:ea typeface="+mn-ea"/>
                <a:cs typeface="+mn-cs"/>
              </a:rPr>
              <a:t> </a:t>
            </a:r>
            <a:r>
              <a:rPr kumimoji="0" lang="en-US" sz="2500" b="0" i="0" u="none" strike="noStrike" kern="0" cap="none" spc="0" normalizeH="0" baseline="0" noProof="0" dirty="0" err="1" smtClean="0">
                <a:ln>
                  <a:noFill/>
                </a:ln>
                <a:solidFill>
                  <a:srgbClr val="000000"/>
                </a:solidFill>
                <a:effectLst/>
                <a:uLnTx/>
                <a:uFillTx/>
                <a:latin typeface="+mj-lt"/>
                <a:ea typeface="+mn-ea"/>
                <a:cs typeface="+mn-cs"/>
              </a:rPr>
              <a:t>Kamaruzzaman</a:t>
            </a:r>
            <a:endParaRPr kumimoji="0" lang="en-US" sz="2500" b="0" i="0" u="none" strike="noStrike" kern="0" cap="none" spc="0" normalizeH="0" baseline="0" noProof="0" dirty="0">
              <a:ln>
                <a:noFill/>
              </a:ln>
              <a:solidFill>
                <a:srgbClr val="000000"/>
              </a:solidFill>
              <a:effectLst/>
              <a:uLnTx/>
              <a:uFillTx/>
              <a:ea typeface="+mn-ea"/>
              <a:cs typeface="+mn-cs"/>
            </a:endParaRPr>
          </a:p>
          <a:p>
            <a:pPr lvl="0" defTabSz="932742">
              <a:spcBef>
                <a:spcPts val="1800"/>
              </a:spcBef>
              <a:defRPr/>
            </a:pPr>
            <a:r>
              <a:rPr lang="en-US" sz="1600" kern="0" dirty="0" smtClean="0">
                <a:solidFill>
                  <a:srgbClr val="000000"/>
                </a:solidFill>
              </a:rPr>
              <a:t>      Head </a:t>
            </a:r>
            <a:r>
              <a:rPr lang="en-US" sz="1600" kern="0" dirty="0">
                <a:solidFill>
                  <a:srgbClr val="000000"/>
                </a:solidFill>
              </a:rPr>
              <a:t>of Technology, Engineering and </a:t>
            </a:r>
            <a:r>
              <a:rPr lang="en-US" sz="1600" kern="0" dirty="0" smtClean="0">
                <a:solidFill>
                  <a:srgbClr val="000000"/>
                </a:solidFill>
              </a:rPr>
              <a:t>Data @ Bank Islam</a:t>
            </a:r>
            <a:endParaRPr lang="en-US" sz="1600" kern="0" dirty="0">
              <a:solidFill>
                <a:srgbClr val="000000"/>
              </a:solidFill>
            </a:endParaRPr>
          </a:p>
          <a:p>
            <a:pPr lvl="0" defTabSz="932742">
              <a:spcBef>
                <a:spcPts val="1800"/>
              </a:spcBef>
              <a:defRPr/>
            </a:pPr>
            <a:r>
              <a:rPr lang="en-US" sz="1600" kern="0" dirty="0" smtClean="0">
                <a:solidFill>
                  <a:srgbClr val="000000"/>
                </a:solidFill>
              </a:rPr>
              <a:t>      </a:t>
            </a:r>
            <a:r>
              <a:rPr lang="en-US" sz="1600" kern="0" dirty="0" smtClean="0">
                <a:solidFill>
                  <a:srgbClr val="000000"/>
                </a:solidFill>
                <a:hlinkClick r:id="rId5"/>
              </a:rPr>
              <a:t>https</a:t>
            </a:r>
            <a:r>
              <a:rPr lang="en-US" sz="1600" kern="0" dirty="0">
                <a:solidFill>
                  <a:srgbClr val="000000"/>
                </a:solidFill>
                <a:hlinkClick r:id="rId5"/>
              </a:rPr>
              <a:t>://carillpower.github.io/shahril_kamaruzzaman</a:t>
            </a:r>
            <a:r>
              <a:rPr lang="en-US" sz="1600" kern="0" dirty="0" smtClean="0">
                <a:solidFill>
                  <a:srgbClr val="000000"/>
                </a:solidFill>
                <a:hlinkClick r:id="rId5"/>
              </a:rPr>
              <a:t>/</a:t>
            </a:r>
            <a:r>
              <a:rPr lang="en-US" sz="1600" kern="0" dirty="0" smtClean="0">
                <a:solidFill>
                  <a:srgbClr val="000000"/>
                </a:solidFill>
              </a:rPr>
              <a:t/>
            </a:r>
            <a:br>
              <a:rPr lang="en-US" sz="1600" kern="0" dirty="0" smtClean="0">
                <a:solidFill>
                  <a:srgbClr val="000000"/>
                </a:solidFill>
              </a:rPr>
            </a:br>
            <a:r>
              <a:rPr lang="en-US" sz="1600" kern="0" dirty="0" smtClean="0">
                <a:solidFill>
                  <a:srgbClr val="000000"/>
                </a:solidFill>
              </a:rPr>
              <a:t/>
            </a:r>
            <a:br>
              <a:rPr lang="en-US" sz="1600" kern="0" dirty="0" smtClean="0">
                <a:solidFill>
                  <a:srgbClr val="000000"/>
                </a:solidFill>
              </a:rPr>
            </a:br>
            <a:endParaRPr kumimoji="0" lang="en-US" sz="1600" b="0" i="0" u="none" strike="noStrike" kern="0" cap="none" spc="0" normalizeH="0" baseline="0" noProof="0" dirty="0">
              <a:ln>
                <a:noFill/>
              </a:ln>
              <a:solidFill>
                <a:srgbClr val="000000"/>
              </a:solidFill>
              <a:effectLst/>
              <a:uLnTx/>
              <a:uFillTx/>
              <a:ea typeface="+mn-ea"/>
              <a:cs typeface="+mn-cs"/>
            </a:endParaRPr>
          </a:p>
        </p:txBody>
      </p:sp>
      <p:sp>
        <p:nvSpPr>
          <p:cNvPr id="9" name="Title 5">
            <a:extLst>
              <a:ext uri="{FF2B5EF4-FFF2-40B4-BE49-F238E27FC236}">
                <a16:creationId xmlns="" xmlns:a16="http://schemas.microsoft.com/office/drawing/2014/main" id="{A3E08FA2-C73F-A01D-C334-4FAC0DB0C177}"/>
              </a:ext>
            </a:extLst>
          </p:cNvPr>
          <p:cNvSpPr txBox="1">
            <a:spLocks/>
          </p:cNvSpPr>
          <p:nvPr/>
        </p:nvSpPr>
        <p:spPr>
          <a:xfrm>
            <a:off x="579438" y="353632"/>
            <a:ext cx="4205936" cy="814493"/>
          </a:xfrm>
          <a:prstGeom prst="rect">
            <a:avLst/>
          </a:prstGeom>
          <a:noFill/>
          <a:ln>
            <a:noFill/>
          </a:ln>
          <a:effectLst>
            <a:outerShdw blurRad="50800" dist="50800" dir="5400000" algn="ctr" rotWithShape="0">
              <a:schemeClr val="tx1"/>
            </a:outerShdw>
          </a:effectLst>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solidFill>
                  <a:schemeClr val="bg1"/>
                </a:solidFill>
              </a:rPr>
              <a:t>About Me</a:t>
            </a:r>
            <a:endParaRPr lang="en-US" dirty="0">
              <a:solidFill>
                <a:schemeClr val="bg1"/>
              </a:solidFill>
            </a:endParaRPr>
          </a:p>
        </p:txBody>
      </p:sp>
      <p:pic>
        <p:nvPicPr>
          <p:cNvPr id="10" name="Picture 9"/>
          <p:cNvPicPr>
            <a:picLocks noChangeAspect="1"/>
          </p:cNvPicPr>
          <p:nvPr/>
        </p:nvPicPr>
        <p:blipFill>
          <a:blip r:embed="rId6"/>
          <a:stretch>
            <a:fillRect/>
          </a:stretch>
        </p:blipFill>
        <p:spPr>
          <a:xfrm>
            <a:off x="435877" y="3533092"/>
            <a:ext cx="336283" cy="314447"/>
          </a:xfrm>
          <a:prstGeom prst="rect">
            <a:avLst/>
          </a:prstGeom>
        </p:spPr>
      </p:pic>
      <p:pic>
        <p:nvPicPr>
          <p:cNvPr id="11" name="Picture 10"/>
          <p:cNvPicPr>
            <a:picLocks noChangeAspect="1"/>
          </p:cNvPicPr>
          <p:nvPr/>
        </p:nvPicPr>
        <p:blipFill>
          <a:blip r:embed="rId7"/>
          <a:stretch>
            <a:fillRect/>
          </a:stretch>
        </p:blipFill>
        <p:spPr>
          <a:xfrm>
            <a:off x="445719" y="3045412"/>
            <a:ext cx="316281" cy="316281"/>
          </a:xfrm>
          <a:prstGeom prst="rect">
            <a:avLst/>
          </a:prstGeom>
        </p:spPr>
      </p:pic>
    </p:spTree>
    <p:extLst>
      <p:ext uri="{BB962C8B-B14F-4D97-AF65-F5344CB8AC3E}">
        <p14:creationId xmlns:p14="http://schemas.microsoft.com/office/powerpoint/2010/main" val="124598168"/>
      </p:ext>
    </p:extLst>
  </p:cSld>
  <p:clrMapOvr>
    <a:masterClrMapping/>
  </p:clrMapOvr>
  <p:transition spd="slow">
    <p:cove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useBgFill="1">
        <p:nvSpPr>
          <p:cNvPr id="6" name="Freeform 5"/>
          <p:cNvSpPr/>
          <p:nvPr/>
        </p:nvSpPr>
        <p:spPr>
          <a:xfrm rot="13638925">
            <a:off x="7219241" y="-2729383"/>
            <a:ext cx="12660583" cy="12865817"/>
          </a:xfrm>
          <a:custGeom>
            <a:avLst/>
            <a:gdLst>
              <a:gd name="connsiteX0" fmla="*/ 5410845 w 7126942"/>
              <a:gd name="connsiteY0" fmla="*/ 3396245 h 6855055"/>
              <a:gd name="connsiteX1" fmla="*/ 7126146 w 7126942"/>
              <a:gd name="connsiteY1" fmla="*/ 3396245 h 6855055"/>
              <a:gd name="connsiteX2" fmla="*/ 7126942 w 7126942"/>
              <a:gd name="connsiteY2" fmla="*/ 3427527 h 6855055"/>
              <a:gd name="connsiteX3" fmla="*/ 3746847 w 7126942"/>
              <a:gd name="connsiteY3" fmla="*/ 6852065 h 6855055"/>
              <a:gd name="connsiteX4" fmla="*/ 3651655 w 7126942"/>
              <a:gd name="connsiteY4" fmla="*/ 6854382 h 6855055"/>
              <a:gd name="connsiteX5" fmla="*/ 3651655 w 7126942"/>
              <a:gd name="connsiteY5" fmla="*/ 5137898 h 6855055"/>
              <a:gd name="connsiteX6" fmla="*/ 3752518 w 7126942"/>
              <a:gd name="connsiteY6" fmla="*/ 5133176 h 6855055"/>
              <a:gd name="connsiteX7" fmla="*/ 5412442 w 7126942"/>
              <a:gd name="connsiteY7" fmla="*/ 3427527 h 6855055"/>
              <a:gd name="connsiteX8" fmla="*/ 797 w 7126942"/>
              <a:gd name="connsiteY8" fmla="*/ 3396245 h 6855055"/>
              <a:gd name="connsiteX9" fmla="*/ 1716098 w 7126942"/>
              <a:gd name="connsiteY9" fmla="*/ 3396245 h 6855055"/>
              <a:gd name="connsiteX10" fmla="*/ 1714500 w 7126942"/>
              <a:gd name="connsiteY10" fmla="*/ 3427527 h 6855055"/>
              <a:gd name="connsiteX11" fmla="*/ 3374425 w 7126942"/>
              <a:gd name="connsiteY11" fmla="*/ 5133176 h 6855055"/>
              <a:gd name="connsiteX12" fmla="*/ 3502958 w 7126942"/>
              <a:gd name="connsiteY12" fmla="*/ 5139194 h 6855055"/>
              <a:gd name="connsiteX13" fmla="*/ 3502958 w 7126942"/>
              <a:gd name="connsiteY13" fmla="*/ 6855055 h 6855055"/>
              <a:gd name="connsiteX14" fmla="*/ 3380095 w 7126942"/>
              <a:gd name="connsiteY14" fmla="*/ 6852065 h 6855055"/>
              <a:gd name="connsiteX15" fmla="*/ 0 w 7126942"/>
              <a:gd name="connsiteY15" fmla="*/ 3427527 h 6855055"/>
              <a:gd name="connsiteX16" fmla="*/ 3651655 w 7126942"/>
              <a:gd name="connsiteY16" fmla="*/ 673 h 6855055"/>
              <a:gd name="connsiteX17" fmla="*/ 3746847 w 7126942"/>
              <a:gd name="connsiteY17" fmla="*/ 2989 h 6855055"/>
              <a:gd name="connsiteX18" fmla="*/ 7122589 w 7126942"/>
              <a:gd name="connsiteY18" fmla="*/ 3256552 h 6855055"/>
              <a:gd name="connsiteX19" fmla="*/ 7123205 w 7126942"/>
              <a:gd name="connsiteY19" fmla="*/ 3280742 h 6855055"/>
              <a:gd name="connsiteX20" fmla="*/ 5404947 w 7126942"/>
              <a:gd name="connsiteY20" fmla="*/ 3280742 h 6855055"/>
              <a:gd name="connsiteX21" fmla="*/ 5404044 w 7126942"/>
              <a:gd name="connsiteY21" fmla="*/ 3263046 h 6855055"/>
              <a:gd name="connsiteX22" fmla="*/ 3752518 w 7126942"/>
              <a:gd name="connsiteY22" fmla="*/ 1721879 h 6855055"/>
              <a:gd name="connsiteX23" fmla="*/ 3651655 w 7126942"/>
              <a:gd name="connsiteY23" fmla="*/ 1717156 h 6855055"/>
              <a:gd name="connsiteX24" fmla="*/ 3502958 w 7126942"/>
              <a:gd name="connsiteY24" fmla="*/ 0 h 6855055"/>
              <a:gd name="connsiteX25" fmla="*/ 3502958 w 7126942"/>
              <a:gd name="connsiteY25" fmla="*/ 1715861 h 6855055"/>
              <a:gd name="connsiteX26" fmla="*/ 3374425 w 7126942"/>
              <a:gd name="connsiteY26" fmla="*/ 1721879 h 6855055"/>
              <a:gd name="connsiteX27" fmla="*/ 1722899 w 7126942"/>
              <a:gd name="connsiteY27" fmla="*/ 3263046 h 6855055"/>
              <a:gd name="connsiteX28" fmla="*/ 1721995 w 7126942"/>
              <a:gd name="connsiteY28" fmla="*/ 3280742 h 6855055"/>
              <a:gd name="connsiteX29" fmla="*/ 3737 w 7126942"/>
              <a:gd name="connsiteY29" fmla="*/ 3280742 h 6855055"/>
              <a:gd name="connsiteX30" fmla="*/ 4353 w 7126942"/>
              <a:gd name="connsiteY30" fmla="*/ 3256552 h 6855055"/>
              <a:gd name="connsiteX31" fmla="*/ 3380095 w 7126942"/>
              <a:gd name="connsiteY31" fmla="*/ 2989 h 685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126942" h="6855055">
                <a:moveTo>
                  <a:pt x="5410845" y="3396245"/>
                </a:moveTo>
                <a:lnTo>
                  <a:pt x="7126146" y="3396245"/>
                </a:lnTo>
                <a:lnTo>
                  <a:pt x="7126942" y="3427527"/>
                </a:lnTo>
                <a:cubicBezTo>
                  <a:pt x="7126942" y="5262131"/>
                  <a:pt x="5629678" y="6760226"/>
                  <a:pt x="3746847" y="6852065"/>
                </a:cubicBezTo>
                <a:lnTo>
                  <a:pt x="3651655" y="6854382"/>
                </a:lnTo>
                <a:lnTo>
                  <a:pt x="3651655" y="5137898"/>
                </a:lnTo>
                <a:lnTo>
                  <a:pt x="3752518" y="5133176"/>
                </a:lnTo>
                <a:cubicBezTo>
                  <a:pt x="4684872" y="5045376"/>
                  <a:pt x="5412442" y="4315238"/>
                  <a:pt x="5412442" y="3427527"/>
                </a:cubicBezTo>
                <a:close/>
                <a:moveTo>
                  <a:pt x="797" y="3396245"/>
                </a:moveTo>
                <a:lnTo>
                  <a:pt x="1716098" y="3396245"/>
                </a:lnTo>
                <a:lnTo>
                  <a:pt x="1714500" y="3427527"/>
                </a:lnTo>
                <a:cubicBezTo>
                  <a:pt x="1714500" y="4315238"/>
                  <a:pt x="2442070" y="5045376"/>
                  <a:pt x="3374425" y="5133176"/>
                </a:cubicBezTo>
                <a:lnTo>
                  <a:pt x="3502958" y="5139194"/>
                </a:lnTo>
                <a:lnTo>
                  <a:pt x="3502958" y="6855055"/>
                </a:lnTo>
                <a:lnTo>
                  <a:pt x="3380095" y="6852065"/>
                </a:lnTo>
                <a:cubicBezTo>
                  <a:pt x="1497265" y="6760226"/>
                  <a:pt x="0" y="5262131"/>
                  <a:pt x="0" y="3427527"/>
                </a:cubicBezTo>
                <a:close/>
                <a:moveTo>
                  <a:pt x="3651655" y="673"/>
                </a:moveTo>
                <a:lnTo>
                  <a:pt x="3746847" y="2989"/>
                </a:lnTo>
                <a:cubicBezTo>
                  <a:pt x="5570839" y="91958"/>
                  <a:pt x="7032986" y="1500666"/>
                  <a:pt x="7122589" y="3256552"/>
                </a:cubicBezTo>
                <a:lnTo>
                  <a:pt x="7123205" y="3280742"/>
                </a:lnTo>
                <a:lnTo>
                  <a:pt x="5404947" y="3280742"/>
                </a:lnTo>
                <a:lnTo>
                  <a:pt x="5404044" y="3263046"/>
                </a:lnTo>
                <a:cubicBezTo>
                  <a:pt x="5320696" y="2451058"/>
                  <a:pt x="4626600" y="1804191"/>
                  <a:pt x="3752518" y="1721879"/>
                </a:cubicBezTo>
                <a:lnTo>
                  <a:pt x="3651655" y="1717156"/>
                </a:lnTo>
                <a:close/>
                <a:moveTo>
                  <a:pt x="3502958" y="0"/>
                </a:moveTo>
                <a:lnTo>
                  <a:pt x="3502958" y="1715861"/>
                </a:lnTo>
                <a:lnTo>
                  <a:pt x="3374425" y="1721879"/>
                </a:lnTo>
                <a:cubicBezTo>
                  <a:pt x="2500343" y="1804191"/>
                  <a:pt x="1806247" y="2451058"/>
                  <a:pt x="1722899" y="3263046"/>
                </a:cubicBezTo>
                <a:lnTo>
                  <a:pt x="1721995" y="3280742"/>
                </a:lnTo>
                <a:lnTo>
                  <a:pt x="3737" y="3280742"/>
                </a:lnTo>
                <a:lnTo>
                  <a:pt x="4353" y="3256552"/>
                </a:lnTo>
                <a:cubicBezTo>
                  <a:pt x="93956" y="1500666"/>
                  <a:pt x="1556103" y="91958"/>
                  <a:pt x="3380095" y="2989"/>
                </a:cubicBezTo>
                <a:close/>
              </a:path>
            </a:pathLst>
          </a:custGeom>
          <a:ln>
            <a:noFill/>
          </a:ln>
          <a:effectLst>
            <a:outerShdw blurRad="508000" dist="50800" dir="5400000" algn="ctr" rotWithShape="0">
              <a:srgbClr val="000000">
                <a:alpha val="7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solidFill>
                <a:schemeClr val="tx1"/>
              </a:solidFill>
            </a:endParaRPr>
          </a:p>
        </p:txBody>
      </p:sp>
      <p:sp>
        <p:nvSpPr>
          <p:cNvPr id="7" name="Title 5">
            <a:extLst>
              <a:ext uri="{FF2B5EF4-FFF2-40B4-BE49-F238E27FC236}">
                <a16:creationId xmlns="" xmlns:a16="http://schemas.microsoft.com/office/drawing/2014/main" id="{A3E08FA2-C73F-A01D-C334-4FAC0DB0C177}"/>
              </a:ext>
            </a:extLst>
          </p:cNvPr>
          <p:cNvSpPr txBox="1">
            <a:spLocks/>
          </p:cNvSpPr>
          <p:nvPr/>
        </p:nvSpPr>
        <p:spPr>
          <a:xfrm>
            <a:off x="579438" y="353632"/>
            <a:ext cx="4205936" cy="814493"/>
          </a:xfrm>
          <a:prstGeom prst="rect">
            <a:avLst/>
          </a:prstGeom>
          <a:effectLst>
            <a:outerShdw blurRad="50800" dist="50800" dir="5400000" algn="ctr" rotWithShape="0">
              <a:schemeClr val="tx1"/>
            </a:outerShdw>
          </a:effectLst>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solidFill>
                  <a:schemeClr val="bg1"/>
                </a:solidFill>
              </a:rPr>
              <a:t>Agenda</a:t>
            </a:r>
            <a:endParaRPr lang="en-US" dirty="0">
              <a:solidFill>
                <a:schemeClr val="bg1"/>
              </a:solidFill>
            </a:endParaRPr>
          </a:p>
        </p:txBody>
      </p:sp>
      <p:sp>
        <p:nvSpPr>
          <p:cNvPr id="8" name="Rounded Rectangle 3_1">
            <a:extLst>
              <a:ext uri="{FF2B5EF4-FFF2-40B4-BE49-F238E27FC236}">
                <a16:creationId xmlns="" xmlns:a16="http://schemas.microsoft.com/office/drawing/2014/main" id="{02A69FC5-E869-7938-B593-C7A42F844DCF}"/>
              </a:ext>
            </a:extLst>
          </p:cNvPr>
          <p:cNvSpPr/>
          <p:nvPr/>
        </p:nvSpPr>
        <p:spPr>
          <a:xfrm>
            <a:off x="330655" y="1320525"/>
            <a:ext cx="6216810" cy="4953923"/>
          </a:xfrm>
          <a:prstGeom prst="roundRect">
            <a:avLst>
              <a:gd name="adj" fmla="val 3632"/>
            </a:avLst>
          </a:prstGeom>
          <a:solidFill>
            <a:schemeClr val="bg1"/>
          </a:solidFill>
          <a:ln>
            <a:noFill/>
          </a:ln>
          <a:effectLst>
            <a:outerShdw blurRad="127000" dist="38100" dir="8100000" sx="101000" sy="101000" algn="tr" rotWithShape="0">
              <a:srgbClr val="CAC5B8">
                <a:alpha val="64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lstStyle/>
          <a:p>
            <a:pPr marL="0" marR="0" lvl="0" indent="0" defTabSz="932742" eaLnBrk="1" fontAlgn="auto" latinLnBrk="0" hangingPunct="1">
              <a:lnSpc>
                <a:spcPct val="100000"/>
              </a:lnSpc>
              <a:spcBef>
                <a:spcPts val="120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ea typeface="+mn-ea"/>
              <a:cs typeface="+mn-cs"/>
            </a:endParaRPr>
          </a:p>
        </p:txBody>
      </p:sp>
      <p:sp>
        <p:nvSpPr>
          <p:cNvPr id="4" name="Content Placeholder 4">
            <a:extLst>
              <a:ext uri="{FF2B5EF4-FFF2-40B4-BE49-F238E27FC236}">
                <a16:creationId xmlns:a16="http://schemas.microsoft.com/office/drawing/2014/main" xmlns="" id="{AF1A4846-2FF9-3092-D784-FE20FE375ABF}"/>
              </a:ext>
            </a:extLst>
          </p:cNvPr>
          <p:cNvSpPr txBox="1">
            <a:spLocks/>
          </p:cNvSpPr>
          <p:nvPr/>
        </p:nvSpPr>
        <p:spPr>
          <a:xfrm>
            <a:off x="457200" y="1653033"/>
            <a:ext cx="5080000" cy="3980558"/>
          </a:xfrm>
          <a:prstGeom prst="rect">
            <a:avLst/>
          </a:prstGeom>
        </p:spPr>
        <p:txBody>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dirty="0" smtClean="0"/>
              <a:t>Current </a:t>
            </a:r>
            <a:r>
              <a:rPr lang="en-US" dirty="0"/>
              <a:t>Challenges in Data Orchestration</a:t>
            </a:r>
          </a:p>
          <a:p>
            <a:r>
              <a:rPr lang="en-US" dirty="0" smtClean="0"/>
              <a:t>What </a:t>
            </a:r>
            <a:r>
              <a:rPr lang="en-US" dirty="0"/>
              <a:t>is Argo Workflows?</a:t>
            </a:r>
          </a:p>
          <a:p>
            <a:r>
              <a:rPr lang="en-US" dirty="0" smtClean="0"/>
              <a:t>How Argo Workflows benefits from K8s ?</a:t>
            </a:r>
            <a:endParaRPr lang="en-US" dirty="0"/>
          </a:p>
          <a:p>
            <a:r>
              <a:rPr lang="en-US" dirty="0" smtClean="0"/>
              <a:t>Authentication </a:t>
            </a:r>
            <a:r>
              <a:rPr lang="en-US" dirty="0"/>
              <a:t>&amp; RBAC Architecture</a:t>
            </a:r>
          </a:p>
          <a:p>
            <a:r>
              <a:rPr lang="en-US" dirty="0" smtClean="0"/>
              <a:t>Workflow </a:t>
            </a:r>
            <a:r>
              <a:rPr lang="en-US" dirty="0"/>
              <a:t>Architecture &amp; Components</a:t>
            </a:r>
          </a:p>
          <a:p>
            <a:r>
              <a:rPr lang="en-US" dirty="0" smtClean="0"/>
              <a:t>Features </a:t>
            </a:r>
            <a:r>
              <a:rPr lang="en-US" dirty="0"/>
              <a:t>for </a:t>
            </a:r>
            <a:r>
              <a:rPr lang="en-US" dirty="0" smtClean="0"/>
              <a:t>Data Engineering</a:t>
            </a:r>
            <a:endParaRPr lang="en-US" dirty="0"/>
          </a:p>
          <a:p>
            <a:r>
              <a:rPr lang="en-US" dirty="0" smtClean="0"/>
              <a:t>Argo </a:t>
            </a:r>
            <a:r>
              <a:rPr lang="en-US" dirty="0"/>
              <a:t>Workflows </a:t>
            </a:r>
            <a:r>
              <a:rPr lang="en-US" dirty="0" err="1"/>
              <a:t>vs</a:t>
            </a:r>
            <a:r>
              <a:rPr lang="en-US" dirty="0"/>
              <a:t> Airflow</a:t>
            </a:r>
          </a:p>
          <a:p>
            <a:r>
              <a:rPr lang="en-US" dirty="0" smtClean="0"/>
              <a:t>Extras</a:t>
            </a:r>
          </a:p>
          <a:p>
            <a:r>
              <a:rPr lang="en-US" dirty="0" smtClean="0"/>
              <a:t>Q &amp; A</a:t>
            </a:r>
            <a:endParaRPr lang="en-US" dirty="0"/>
          </a:p>
          <a:p>
            <a:pPr>
              <a:spcAft>
                <a:spcPts val="600"/>
              </a:spcAft>
            </a:pPr>
            <a:endParaRPr lang="en-US" dirty="0"/>
          </a:p>
        </p:txBody>
      </p:sp>
    </p:spTree>
    <p:extLst>
      <p:ext uri="{BB962C8B-B14F-4D97-AF65-F5344CB8AC3E}">
        <p14:creationId xmlns:p14="http://schemas.microsoft.com/office/powerpoint/2010/main" val="4157721828"/>
      </p:ext>
    </p:extLst>
  </p:cSld>
  <p:clrMapOvr>
    <a:masterClrMapping/>
  </p:clrMapOvr>
  <p:transition spd="slow">
    <p:cove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useBgFill="1">
        <p:nvSpPr>
          <p:cNvPr id="6" name="Freeform 5"/>
          <p:cNvSpPr/>
          <p:nvPr/>
        </p:nvSpPr>
        <p:spPr>
          <a:xfrm rot="8395941">
            <a:off x="7219241" y="-2729383"/>
            <a:ext cx="12660583" cy="12865817"/>
          </a:xfrm>
          <a:custGeom>
            <a:avLst/>
            <a:gdLst>
              <a:gd name="connsiteX0" fmla="*/ 5410845 w 7126942"/>
              <a:gd name="connsiteY0" fmla="*/ 3396245 h 6855055"/>
              <a:gd name="connsiteX1" fmla="*/ 7126146 w 7126942"/>
              <a:gd name="connsiteY1" fmla="*/ 3396245 h 6855055"/>
              <a:gd name="connsiteX2" fmla="*/ 7126942 w 7126942"/>
              <a:gd name="connsiteY2" fmla="*/ 3427527 h 6855055"/>
              <a:gd name="connsiteX3" fmla="*/ 3746847 w 7126942"/>
              <a:gd name="connsiteY3" fmla="*/ 6852065 h 6855055"/>
              <a:gd name="connsiteX4" fmla="*/ 3651655 w 7126942"/>
              <a:gd name="connsiteY4" fmla="*/ 6854382 h 6855055"/>
              <a:gd name="connsiteX5" fmla="*/ 3651655 w 7126942"/>
              <a:gd name="connsiteY5" fmla="*/ 5137898 h 6855055"/>
              <a:gd name="connsiteX6" fmla="*/ 3752518 w 7126942"/>
              <a:gd name="connsiteY6" fmla="*/ 5133176 h 6855055"/>
              <a:gd name="connsiteX7" fmla="*/ 5412442 w 7126942"/>
              <a:gd name="connsiteY7" fmla="*/ 3427527 h 6855055"/>
              <a:gd name="connsiteX8" fmla="*/ 797 w 7126942"/>
              <a:gd name="connsiteY8" fmla="*/ 3396245 h 6855055"/>
              <a:gd name="connsiteX9" fmla="*/ 1716098 w 7126942"/>
              <a:gd name="connsiteY9" fmla="*/ 3396245 h 6855055"/>
              <a:gd name="connsiteX10" fmla="*/ 1714500 w 7126942"/>
              <a:gd name="connsiteY10" fmla="*/ 3427527 h 6855055"/>
              <a:gd name="connsiteX11" fmla="*/ 3374425 w 7126942"/>
              <a:gd name="connsiteY11" fmla="*/ 5133176 h 6855055"/>
              <a:gd name="connsiteX12" fmla="*/ 3502958 w 7126942"/>
              <a:gd name="connsiteY12" fmla="*/ 5139194 h 6855055"/>
              <a:gd name="connsiteX13" fmla="*/ 3502958 w 7126942"/>
              <a:gd name="connsiteY13" fmla="*/ 6855055 h 6855055"/>
              <a:gd name="connsiteX14" fmla="*/ 3380095 w 7126942"/>
              <a:gd name="connsiteY14" fmla="*/ 6852065 h 6855055"/>
              <a:gd name="connsiteX15" fmla="*/ 0 w 7126942"/>
              <a:gd name="connsiteY15" fmla="*/ 3427527 h 6855055"/>
              <a:gd name="connsiteX16" fmla="*/ 3651655 w 7126942"/>
              <a:gd name="connsiteY16" fmla="*/ 673 h 6855055"/>
              <a:gd name="connsiteX17" fmla="*/ 3746847 w 7126942"/>
              <a:gd name="connsiteY17" fmla="*/ 2989 h 6855055"/>
              <a:gd name="connsiteX18" fmla="*/ 7122589 w 7126942"/>
              <a:gd name="connsiteY18" fmla="*/ 3256552 h 6855055"/>
              <a:gd name="connsiteX19" fmla="*/ 7123205 w 7126942"/>
              <a:gd name="connsiteY19" fmla="*/ 3280742 h 6855055"/>
              <a:gd name="connsiteX20" fmla="*/ 5404947 w 7126942"/>
              <a:gd name="connsiteY20" fmla="*/ 3280742 h 6855055"/>
              <a:gd name="connsiteX21" fmla="*/ 5404044 w 7126942"/>
              <a:gd name="connsiteY21" fmla="*/ 3263046 h 6855055"/>
              <a:gd name="connsiteX22" fmla="*/ 3752518 w 7126942"/>
              <a:gd name="connsiteY22" fmla="*/ 1721879 h 6855055"/>
              <a:gd name="connsiteX23" fmla="*/ 3651655 w 7126942"/>
              <a:gd name="connsiteY23" fmla="*/ 1717156 h 6855055"/>
              <a:gd name="connsiteX24" fmla="*/ 3502958 w 7126942"/>
              <a:gd name="connsiteY24" fmla="*/ 0 h 6855055"/>
              <a:gd name="connsiteX25" fmla="*/ 3502958 w 7126942"/>
              <a:gd name="connsiteY25" fmla="*/ 1715861 h 6855055"/>
              <a:gd name="connsiteX26" fmla="*/ 3374425 w 7126942"/>
              <a:gd name="connsiteY26" fmla="*/ 1721879 h 6855055"/>
              <a:gd name="connsiteX27" fmla="*/ 1722899 w 7126942"/>
              <a:gd name="connsiteY27" fmla="*/ 3263046 h 6855055"/>
              <a:gd name="connsiteX28" fmla="*/ 1721995 w 7126942"/>
              <a:gd name="connsiteY28" fmla="*/ 3280742 h 6855055"/>
              <a:gd name="connsiteX29" fmla="*/ 3737 w 7126942"/>
              <a:gd name="connsiteY29" fmla="*/ 3280742 h 6855055"/>
              <a:gd name="connsiteX30" fmla="*/ 4353 w 7126942"/>
              <a:gd name="connsiteY30" fmla="*/ 3256552 h 6855055"/>
              <a:gd name="connsiteX31" fmla="*/ 3380095 w 7126942"/>
              <a:gd name="connsiteY31" fmla="*/ 2989 h 685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126942" h="6855055">
                <a:moveTo>
                  <a:pt x="5410845" y="3396245"/>
                </a:moveTo>
                <a:lnTo>
                  <a:pt x="7126146" y="3396245"/>
                </a:lnTo>
                <a:lnTo>
                  <a:pt x="7126942" y="3427527"/>
                </a:lnTo>
                <a:cubicBezTo>
                  <a:pt x="7126942" y="5262131"/>
                  <a:pt x="5629678" y="6760226"/>
                  <a:pt x="3746847" y="6852065"/>
                </a:cubicBezTo>
                <a:lnTo>
                  <a:pt x="3651655" y="6854382"/>
                </a:lnTo>
                <a:lnTo>
                  <a:pt x="3651655" y="5137898"/>
                </a:lnTo>
                <a:lnTo>
                  <a:pt x="3752518" y="5133176"/>
                </a:lnTo>
                <a:cubicBezTo>
                  <a:pt x="4684872" y="5045376"/>
                  <a:pt x="5412442" y="4315238"/>
                  <a:pt x="5412442" y="3427527"/>
                </a:cubicBezTo>
                <a:close/>
                <a:moveTo>
                  <a:pt x="797" y="3396245"/>
                </a:moveTo>
                <a:lnTo>
                  <a:pt x="1716098" y="3396245"/>
                </a:lnTo>
                <a:lnTo>
                  <a:pt x="1714500" y="3427527"/>
                </a:lnTo>
                <a:cubicBezTo>
                  <a:pt x="1714500" y="4315238"/>
                  <a:pt x="2442070" y="5045376"/>
                  <a:pt x="3374425" y="5133176"/>
                </a:cubicBezTo>
                <a:lnTo>
                  <a:pt x="3502958" y="5139194"/>
                </a:lnTo>
                <a:lnTo>
                  <a:pt x="3502958" y="6855055"/>
                </a:lnTo>
                <a:lnTo>
                  <a:pt x="3380095" y="6852065"/>
                </a:lnTo>
                <a:cubicBezTo>
                  <a:pt x="1497265" y="6760226"/>
                  <a:pt x="0" y="5262131"/>
                  <a:pt x="0" y="3427527"/>
                </a:cubicBezTo>
                <a:close/>
                <a:moveTo>
                  <a:pt x="3651655" y="673"/>
                </a:moveTo>
                <a:lnTo>
                  <a:pt x="3746847" y="2989"/>
                </a:lnTo>
                <a:cubicBezTo>
                  <a:pt x="5570839" y="91958"/>
                  <a:pt x="7032986" y="1500666"/>
                  <a:pt x="7122589" y="3256552"/>
                </a:cubicBezTo>
                <a:lnTo>
                  <a:pt x="7123205" y="3280742"/>
                </a:lnTo>
                <a:lnTo>
                  <a:pt x="5404947" y="3280742"/>
                </a:lnTo>
                <a:lnTo>
                  <a:pt x="5404044" y="3263046"/>
                </a:lnTo>
                <a:cubicBezTo>
                  <a:pt x="5320696" y="2451058"/>
                  <a:pt x="4626600" y="1804191"/>
                  <a:pt x="3752518" y="1721879"/>
                </a:cubicBezTo>
                <a:lnTo>
                  <a:pt x="3651655" y="1717156"/>
                </a:lnTo>
                <a:close/>
                <a:moveTo>
                  <a:pt x="3502958" y="0"/>
                </a:moveTo>
                <a:lnTo>
                  <a:pt x="3502958" y="1715861"/>
                </a:lnTo>
                <a:lnTo>
                  <a:pt x="3374425" y="1721879"/>
                </a:lnTo>
                <a:cubicBezTo>
                  <a:pt x="2500343" y="1804191"/>
                  <a:pt x="1806247" y="2451058"/>
                  <a:pt x="1722899" y="3263046"/>
                </a:cubicBezTo>
                <a:lnTo>
                  <a:pt x="1721995" y="3280742"/>
                </a:lnTo>
                <a:lnTo>
                  <a:pt x="3737" y="3280742"/>
                </a:lnTo>
                <a:lnTo>
                  <a:pt x="4353" y="3256552"/>
                </a:lnTo>
                <a:cubicBezTo>
                  <a:pt x="93956" y="1500666"/>
                  <a:pt x="1556103" y="91958"/>
                  <a:pt x="3380095" y="2989"/>
                </a:cubicBezTo>
                <a:close/>
              </a:path>
            </a:pathLst>
          </a:custGeom>
          <a:ln>
            <a:noFill/>
          </a:ln>
          <a:effectLst>
            <a:outerShdw blurRad="508000" dist="50800" dir="5400000" algn="ctr" rotWithShape="0">
              <a:srgbClr val="000000">
                <a:alpha val="7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solidFill>
                <a:schemeClr val="tx1"/>
              </a:solidFill>
            </a:endParaRPr>
          </a:p>
        </p:txBody>
      </p:sp>
      <p:sp>
        <p:nvSpPr>
          <p:cNvPr id="4" name="Title 5">
            <a:extLst>
              <a:ext uri="{FF2B5EF4-FFF2-40B4-BE49-F238E27FC236}">
                <a16:creationId xmlns="" xmlns:a16="http://schemas.microsoft.com/office/drawing/2014/main" id="{A3E08FA2-C73F-A01D-C334-4FAC0DB0C177}"/>
              </a:ext>
            </a:extLst>
          </p:cNvPr>
          <p:cNvSpPr txBox="1">
            <a:spLocks/>
          </p:cNvSpPr>
          <p:nvPr/>
        </p:nvSpPr>
        <p:spPr>
          <a:xfrm>
            <a:off x="579438" y="353632"/>
            <a:ext cx="9021762" cy="814493"/>
          </a:xfrm>
          <a:prstGeom prst="rect">
            <a:avLst/>
          </a:prstGeom>
          <a:effectLst>
            <a:outerShdw blurRad="50800" dist="50800" dir="5400000" algn="ctr" rotWithShape="0">
              <a:schemeClr val="tx1"/>
            </a:outerShdw>
          </a:effectLst>
        </p:spPr>
        <p:txBody>
          <a:bodyPr vert="horz" lIns="91440" tIns="45720" rIns="91440" bIns="45720" rtlCol="0" anchor="b">
            <a:normAutofit fontScale="85000" lnSpcReduction="10000"/>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solidFill>
                  <a:schemeClr val="bg1">
                    <a:lumMod val="95000"/>
                  </a:schemeClr>
                </a:solidFill>
              </a:rPr>
              <a:t>Current </a:t>
            </a:r>
            <a:r>
              <a:rPr lang="en-US" sz="4000" b="1" dirty="0">
                <a:solidFill>
                  <a:schemeClr val="bg1">
                    <a:lumMod val="95000"/>
                  </a:schemeClr>
                </a:solidFill>
              </a:rPr>
              <a:t>Challenges in Data Orchestration</a:t>
            </a:r>
          </a:p>
          <a:p>
            <a:endParaRPr lang="en-US" dirty="0">
              <a:solidFill>
                <a:schemeClr val="bg1"/>
              </a:solidFill>
            </a:endParaRPr>
          </a:p>
        </p:txBody>
      </p:sp>
      <p:sp>
        <p:nvSpPr>
          <p:cNvPr id="7"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457200" y="1168126"/>
            <a:ext cx="10887458" cy="1235267"/>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05539" y="1334532"/>
            <a:ext cx="10566387" cy="415993"/>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TLDR;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9" name="Text Placeholder 2">
            <a:extLst>
              <a:ext uri="{FF2B5EF4-FFF2-40B4-BE49-F238E27FC236}">
                <a16:creationId xmlns="" xmlns:a16="http://schemas.microsoft.com/office/drawing/2014/main" id="{E15275E9-F296-1E2D-E2D3-6BAE1C5EFAAF}"/>
              </a:ext>
            </a:extLst>
          </p:cNvPr>
          <p:cNvSpPr txBox="1">
            <a:spLocks/>
          </p:cNvSpPr>
          <p:nvPr/>
        </p:nvSpPr>
        <p:spPr>
          <a:xfrm>
            <a:off x="605539" y="1806099"/>
            <a:ext cx="10290175" cy="430887"/>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smtClean="0"/>
              <a:t>In </a:t>
            </a:r>
            <a:r>
              <a:rPr lang="en-US" sz="1400" dirty="0"/>
              <a:t>data pipelines, </a:t>
            </a:r>
            <a:r>
              <a:rPr lang="en-US" sz="1400" b="1" dirty="0" smtClean="0"/>
              <a:t>upstream</a:t>
            </a:r>
            <a:r>
              <a:rPr lang="en-US" sz="1400" dirty="0" smtClean="0"/>
              <a:t> </a:t>
            </a:r>
            <a:r>
              <a:rPr lang="en-US" sz="1400" dirty="0"/>
              <a:t>refers to source systems and ingestion (APIs, databases, files), while </a:t>
            </a:r>
            <a:r>
              <a:rPr lang="en-US" sz="1400" b="1" dirty="0" smtClean="0"/>
              <a:t>downstream</a:t>
            </a:r>
            <a:r>
              <a:rPr lang="en-US" sz="1400" dirty="0" smtClean="0"/>
              <a:t> </a:t>
            </a:r>
            <a:r>
              <a:rPr lang="en-US" sz="1400" dirty="0"/>
              <a:t>refers to consumption and serving layers (analytics, ML models, dashboards).</a:t>
            </a:r>
          </a:p>
        </p:txBody>
      </p:sp>
      <p:sp>
        <p:nvSpPr>
          <p:cNvPr id="10"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447040" y="2569799"/>
            <a:ext cx="5273040" cy="2678346"/>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5379" y="2736205"/>
            <a:ext cx="4951969" cy="619933"/>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OPERATIONAL</a:t>
            </a:r>
            <a:r>
              <a:rPr kumimoji="0" lang="en-US" sz="1400" b="0" i="0" u="none" strike="noStrike" kern="1200" cap="none" spc="0" normalizeH="0" noProof="0" dirty="0" smtClean="0">
                <a:ln>
                  <a:noFill/>
                </a:ln>
                <a:solidFill>
                  <a:schemeClr val="bg1"/>
                </a:solidFill>
                <a:effectLst/>
                <a:uLnTx/>
                <a:uFillTx/>
                <a:latin typeface="Segoe UI Semibold"/>
                <a:ea typeface="+mn-ea"/>
                <a:cs typeface="Segoe UI" panose="020B0502040204020203" pitchFamily="34" charset="0"/>
              </a:rPr>
              <a:t> CHALLENGES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2" name="Text Placeholder 2">
            <a:extLst>
              <a:ext uri="{FF2B5EF4-FFF2-40B4-BE49-F238E27FC236}">
                <a16:creationId xmlns="" xmlns:a16="http://schemas.microsoft.com/office/drawing/2014/main" id="{E15275E9-F296-1E2D-E2D3-6BAE1C5EFAAF}"/>
              </a:ext>
            </a:extLst>
          </p:cNvPr>
          <p:cNvSpPr txBox="1">
            <a:spLocks/>
          </p:cNvSpPr>
          <p:nvPr/>
        </p:nvSpPr>
        <p:spPr>
          <a:xfrm>
            <a:off x="619772" y="3565459"/>
            <a:ext cx="4927576" cy="1508105"/>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smtClean="0"/>
              <a:t>Scaling </a:t>
            </a:r>
            <a:r>
              <a:rPr lang="en-US" sz="1400" dirty="0"/>
              <a:t>workflow workers</a:t>
            </a:r>
          </a:p>
          <a:p>
            <a:r>
              <a:rPr lang="en-US" sz="1400" dirty="0" smtClean="0"/>
              <a:t>Python </a:t>
            </a:r>
            <a:r>
              <a:rPr lang="en-US" sz="1400" dirty="0"/>
              <a:t>dependency conflicts</a:t>
            </a:r>
          </a:p>
          <a:p>
            <a:r>
              <a:rPr lang="en-US" sz="1400" dirty="0" smtClean="0"/>
              <a:t>Infrastructure </a:t>
            </a:r>
            <a:r>
              <a:rPr lang="en-US" sz="1400" dirty="0"/>
              <a:t>maintenance overhead</a:t>
            </a:r>
          </a:p>
          <a:p>
            <a:r>
              <a:rPr lang="en-US" sz="1400" dirty="0" smtClean="0"/>
              <a:t>Difficult </a:t>
            </a:r>
            <a:r>
              <a:rPr lang="en-US" sz="1400" dirty="0"/>
              <a:t>multi-team isolation</a:t>
            </a:r>
          </a:p>
          <a:p>
            <a:r>
              <a:rPr lang="en-US" sz="1400" dirty="0" smtClean="0"/>
              <a:t>Complex </a:t>
            </a:r>
            <a:r>
              <a:rPr lang="en-US" sz="1400" dirty="0"/>
              <a:t>CI/CD integration</a:t>
            </a:r>
          </a:p>
          <a:p>
            <a:r>
              <a:rPr lang="en-US" sz="1400" dirty="0" smtClean="0"/>
              <a:t>Resource </a:t>
            </a:r>
            <a:r>
              <a:rPr lang="en-US" sz="1400" dirty="0"/>
              <a:t>inefficiency</a:t>
            </a:r>
          </a:p>
        </p:txBody>
      </p:sp>
      <p:sp>
        <p:nvSpPr>
          <p:cNvPr id="13"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6071618" y="2569799"/>
            <a:ext cx="5273040" cy="2678346"/>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219957" y="2736205"/>
            <a:ext cx="4951969" cy="619933"/>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WORKLOAD</a:t>
            </a:r>
            <a:r>
              <a:rPr kumimoji="0" lang="en-US" sz="1400" b="0" i="0" u="none" strike="noStrike" kern="1200" cap="none" spc="0" normalizeH="0" noProof="0" dirty="0" smtClean="0">
                <a:ln>
                  <a:noFill/>
                </a:ln>
                <a:solidFill>
                  <a:schemeClr val="bg1"/>
                </a:solidFill>
                <a:effectLst/>
                <a:uLnTx/>
                <a:uFillTx/>
                <a:latin typeface="Segoe UI Semibold"/>
                <a:ea typeface="+mn-ea"/>
                <a:cs typeface="Segoe UI" panose="020B0502040204020203" pitchFamily="34" charset="0"/>
              </a:rPr>
              <a:t> CHALLENGES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5" name="Text Placeholder 2">
            <a:extLst>
              <a:ext uri="{FF2B5EF4-FFF2-40B4-BE49-F238E27FC236}">
                <a16:creationId xmlns="" xmlns:a16="http://schemas.microsoft.com/office/drawing/2014/main" id="{E15275E9-F296-1E2D-E2D3-6BAE1C5EFAAF}"/>
              </a:ext>
            </a:extLst>
          </p:cNvPr>
          <p:cNvSpPr txBox="1">
            <a:spLocks/>
          </p:cNvSpPr>
          <p:nvPr/>
        </p:nvSpPr>
        <p:spPr>
          <a:xfrm>
            <a:off x="6244350" y="3565459"/>
            <a:ext cx="4927576" cy="1508105"/>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smtClean="0"/>
              <a:t>Python </a:t>
            </a:r>
            <a:r>
              <a:rPr lang="en-US" sz="1400" dirty="0"/>
              <a:t>ETL</a:t>
            </a:r>
          </a:p>
          <a:p>
            <a:r>
              <a:rPr lang="en-US" sz="1400" dirty="0" smtClean="0"/>
              <a:t>Spark </a:t>
            </a:r>
            <a:r>
              <a:rPr lang="en-US" sz="1400" dirty="0"/>
              <a:t>jobs</a:t>
            </a:r>
          </a:p>
          <a:p>
            <a:r>
              <a:rPr lang="en-US" sz="1400" dirty="0" smtClean="0"/>
              <a:t>DBT </a:t>
            </a:r>
            <a:r>
              <a:rPr lang="en-US" sz="1400" dirty="0"/>
              <a:t>transformations</a:t>
            </a:r>
          </a:p>
          <a:p>
            <a:r>
              <a:rPr lang="en-US" sz="1400" dirty="0" smtClean="0"/>
              <a:t>Machine </a:t>
            </a:r>
            <a:r>
              <a:rPr lang="en-US" sz="1400" dirty="0"/>
              <a:t>learning workloads</a:t>
            </a:r>
          </a:p>
          <a:p>
            <a:r>
              <a:rPr lang="en-US" sz="1400" dirty="0" smtClean="0"/>
              <a:t>API </a:t>
            </a:r>
            <a:r>
              <a:rPr lang="en-US" sz="1400" dirty="0"/>
              <a:t>ingestion</a:t>
            </a:r>
          </a:p>
          <a:p>
            <a:r>
              <a:rPr lang="en-US" sz="1400" dirty="0" smtClean="0"/>
              <a:t>Containerized </a:t>
            </a:r>
            <a:r>
              <a:rPr lang="en-US" sz="1400" dirty="0"/>
              <a:t>applications</a:t>
            </a:r>
          </a:p>
        </p:txBody>
      </p:sp>
    </p:spTree>
    <p:extLst>
      <p:ext uri="{BB962C8B-B14F-4D97-AF65-F5344CB8AC3E}">
        <p14:creationId xmlns:p14="http://schemas.microsoft.com/office/powerpoint/2010/main" val="2740013331"/>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1000"/>
                                        <p:tgtEl>
                                          <p:spTgt spid="13"/>
                                        </p:tgtEl>
                                      </p:cBhvr>
                                    </p:animEffect>
                                    <p:anim calcmode="lin" valueType="num">
                                      <p:cBhvr>
                                        <p:cTn id="42" dur="1000" fill="hold"/>
                                        <p:tgtEl>
                                          <p:spTgt spid="13"/>
                                        </p:tgtEl>
                                        <p:attrNameLst>
                                          <p:attrName>ppt_x</p:attrName>
                                        </p:attrNameLst>
                                      </p:cBhvr>
                                      <p:tavLst>
                                        <p:tav tm="0">
                                          <p:val>
                                            <p:strVal val="#ppt_x"/>
                                          </p:val>
                                        </p:tav>
                                        <p:tav tm="100000">
                                          <p:val>
                                            <p:strVal val="#ppt_x"/>
                                          </p:val>
                                        </p:tav>
                                      </p:tavLst>
                                    </p:anim>
                                    <p:anim calcmode="lin" valueType="num">
                                      <p:cBhvr>
                                        <p:cTn id="43" dur="1000" fill="hold"/>
                                        <p:tgtEl>
                                          <p:spTgt spid="13"/>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anim calcmode="lin" valueType="num">
                                      <p:cBhvr>
                                        <p:cTn id="47" dur="1000" fill="hold"/>
                                        <p:tgtEl>
                                          <p:spTgt spid="14"/>
                                        </p:tgtEl>
                                        <p:attrNameLst>
                                          <p:attrName>ppt_x</p:attrName>
                                        </p:attrNameLst>
                                      </p:cBhvr>
                                      <p:tavLst>
                                        <p:tav tm="0">
                                          <p:val>
                                            <p:strVal val="#ppt_x"/>
                                          </p:val>
                                        </p:tav>
                                        <p:tav tm="100000">
                                          <p:val>
                                            <p:strVal val="#ppt_x"/>
                                          </p:val>
                                        </p:tav>
                                      </p:tavLst>
                                    </p:anim>
                                    <p:anim calcmode="lin" valueType="num">
                                      <p:cBhvr>
                                        <p:cTn id="48" dur="1000" fill="hold"/>
                                        <p:tgtEl>
                                          <p:spTgt spid="14"/>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1000"/>
                                        <p:tgtEl>
                                          <p:spTgt spid="15"/>
                                        </p:tgtEl>
                                      </p:cBhvr>
                                    </p:animEffect>
                                    <p:anim calcmode="lin" valueType="num">
                                      <p:cBhvr>
                                        <p:cTn id="52" dur="1000" fill="hold"/>
                                        <p:tgtEl>
                                          <p:spTgt spid="15"/>
                                        </p:tgtEl>
                                        <p:attrNameLst>
                                          <p:attrName>ppt_x</p:attrName>
                                        </p:attrNameLst>
                                      </p:cBhvr>
                                      <p:tavLst>
                                        <p:tav tm="0">
                                          <p:val>
                                            <p:strVal val="#ppt_x"/>
                                          </p:val>
                                        </p:tav>
                                        <p:tav tm="100000">
                                          <p:val>
                                            <p:strVal val="#ppt_x"/>
                                          </p:val>
                                        </p:tav>
                                      </p:tavLst>
                                    </p:anim>
                                    <p:anim calcmode="lin" valueType="num">
                                      <p:cBhvr>
                                        <p:cTn id="5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animBg="1"/>
      <p:bldP spid="11" grpId="0" animBg="1"/>
      <p:bldP spid="12" grpId="0"/>
      <p:bldP spid="13" grpId="0" animBg="1"/>
      <p:bldP spid="14" grpId="0" animBg="1"/>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useBgFill="1">
        <p:nvSpPr>
          <p:cNvPr id="6" name="Freeform 5"/>
          <p:cNvSpPr/>
          <p:nvPr/>
        </p:nvSpPr>
        <p:spPr>
          <a:xfrm rot="3085689">
            <a:off x="7219241" y="-2729383"/>
            <a:ext cx="12660583" cy="12865817"/>
          </a:xfrm>
          <a:custGeom>
            <a:avLst/>
            <a:gdLst>
              <a:gd name="connsiteX0" fmla="*/ 5410845 w 7126942"/>
              <a:gd name="connsiteY0" fmla="*/ 3396245 h 6855055"/>
              <a:gd name="connsiteX1" fmla="*/ 7126146 w 7126942"/>
              <a:gd name="connsiteY1" fmla="*/ 3396245 h 6855055"/>
              <a:gd name="connsiteX2" fmla="*/ 7126942 w 7126942"/>
              <a:gd name="connsiteY2" fmla="*/ 3427527 h 6855055"/>
              <a:gd name="connsiteX3" fmla="*/ 3746847 w 7126942"/>
              <a:gd name="connsiteY3" fmla="*/ 6852065 h 6855055"/>
              <a:gd name="connsiteX4" fmla="*/ 3651655 w 7126942"/>
              <a:gd name="connsiteY4" fmla="*/ 6854382 h 6855055"/>
              <a:gd name="connsiteX5" fmla="*/ 3651655 w 7126942"/>
              <a:gd name="connsiteY5" fmla="*/ 5137898 h 6855055"/>
              <a:gd name="connsiteX6" fmla="*/ 3752518 w 7126942"/>
              <a:gd name="connsiteY6" fmla="*/ 5133176 h 6855055"/>
              <a:gd name="connsiteX7" fmla="*/ 5412442 w 7126942"/>
              <a:gd name="connsiteY7" fmla="*/ 3427527 h 6855055"/>
              <a:gd name="connsiteX8" fmla="*/ 797 w 7126942"/>
              <a:gd name="connsiteY8" fmla="*/ 3396245 h 6855055"/>
              <a:gd name="connsiteX9" fmla="*/ 1716098 w 7126942"/>
              <a:gd name="connsiteY9" fmla="*/ 3396245 h 6855055"/>
              <a:gd name="connsiteX10" fmla="*/ 1714500 w 7126942"/>
              <a:gd name="connsiteY10" fmla="*/ 3427527 h 6855055"/>
              <a:gd name="connsiteX11" fmla="*/ 3374425 w 7126942"/>
              <a:gd name="connsiteY11" fmla="*/ 5133176 h 6855055"/>
              <a:gd name="connsiteX12" fmla="*/ 3502958 w 7126942"/>
              <a:gd name="connsiteY12" fmla="*/ 5139194 h 6855055"/>
              <a:gd name="connsiteX13" fmla="*/ 3502958 w 7126942"/>
              <a:gd name="connsiteY13" fmla="*/ 6855055 h 6855055"/>
              <a:gd name="connsiteX14" fmla="*/ 3380095 w 7126942"/>
              <a:gd name="connsiteY14" fmla="*/ 6852065 h 6855055"/>
              <a:gd name="connsiteX15" fmla="*/ 0 w 7126942"/>
              <a:gd name="connsiteY15" fmla="*/ 3427527 h 6855055"/>
              <a:gd name="connsiteX16" fmla="*/ 3651655 w 7126942"/>
              <a:gd name="connsiteY16" fmla="*/ 673 h 6855055"/>
              <a:gd name="connsiteX17" fmla="*/ 3746847 w 7126942"/>
              <a:gd name="connsiteY17" fmla="*/ 2989 h 6855055"/>
              <a:gd name="connsiteX18" fmla="*/ 7122589 w 7126942"/>
              <a:gd name="connsiteY18" fmla="*/ 3256552 h 6855055"/>
              <a:gd name="connsiteX19" fmla="*/ 7123205 w 7126942"/>
              <a:gd name="connsiteY19" fmla="*/ 3280742 h 6855055"/>
              <a:gd name="connsiteX20" fmla="*/ 5404947 w 7126942"/>
              <a:gd name="connsiteY20" fmla="*/ 3280742 h 6855055"/>
              <a:gd name="connsiteX21" fmla="*/ 5404044 w 7126942"/>
              <a:gd name="connsiteY21" fmla="*/ 3263046 h 6855055"/>
              <a:gd name="connsiteX22" fmla="*/ 3752518 w 7126942"/>
              <a:gd name="connsiteY22" fmla="*/ 1721879 h 6855055"/>
              <a:gd name="connsiteX23" fmla="*/ 3651655 w 7126942"/>
              <a:gd name="connsiteY23" fmla="*/ 1717156 h 6855055"/>
              <a:gd name="connsiteX24" fmla="*/ 3502958 w 7126942"/>
              <a:gd name="connsiteY24" fmla="*/ 0 h 6855055"/>
              <a:gd name="connsiteX25" fmla="*/ 3502958 w 7126942"/>
              <a:gd name="connsiteY25" fmla="*/ 1715861 h 6855055"/>
              <a:gd name="connsiteX26" fmla="*/ 3374425 w 7126942"/>
              <a:gd name="connsiteY26" fmla="*/ 1721879 h 6855055"/>
              <a:gd name="connsiteX27" fmla="*/ 1722899 w 7126942"/>
              <a:gd name="connsiteY27" fmla="*/ 3263046 h 6855055"/>
              <a:gd name="connsiteX28" fmla="*/ 1721995 w 7126942"/>
              <a:gd name="connsiteY28" fmla="*/ 3280742 h 6855055"/>
              <a:gd name="connsiteX29" fmla="*/ 3737 w 7126942"/>
              <a:gd name="connsiteY29" fmla="*/ 3280742 h 6855055"/>
              <a:gd name="connsiteX30" fmla="*/ 4353 w 7126942"/>
              <a:gd name="connsiteY30" fmla="*/ 3256552 h 6855055"/>
              <a:gd name="connsiteX31" fmla="*/ 3380095 w 7126942"/>
              <a:gd name="connsiteY31" fmla="*/ 2989 h 685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126942" h="6855055">
                <a:moveTo>
                  <a:pt x="5410845" y="3396245"/>
                </a:moveTo>
                <a:lnTo>
                  <a:pt x="7126146" y="3396245"/>
                </a:lnTo>
                <a:lnTo>
                  <a:pt x="7126942" y="3427527"/>
                </a:lnTo>
                <a:cubicBezTo>
                  <a:pt x="7126942" y="5262131"/>
                  <a:pt x="5629678" y="6760226"/>
                  <a:pt x="3746847" y="6852065"/>
                </a:cubicBezTo>
                <a:lnTo>
                  <a:pt x="3651655" y="6854382"/>
                </a:lnTo>
                <a:lnTo>
                  <a:pt x="3651655" y="5137898"/>
                </a:lnTo>
                <a:lnTo>
                  <a:pt x="3752518" y="5133176"/>
                </a:lnTo>
                <a:cubicBezTo>
                  <a:pt x="4684872" y="5045376"/>
                  <a:pt x="5412442" y="4315238"/>
                  <a:pt x="5412442" y="3427527"/>
                </a:cubicBezTo>
                <a:close/>
                <a:moveTo>
                  <a:pt x="797" y="3396245"/>
                </a:moveTo>
                <a:lnTo>
                  <a:pt x="1716098" y="3396245"/>
                </a:lnTo>
                <a:lnTo>
                  <a:pt x="1714500" y="3427527"/>
                </a:lnTo>
                <a:cubicBezTo>
                  <a:pt x="1714500" y="4315238"/>
                  <a:pt x="2442070" y="5045376"/>
                  <a:pt x="3374425" y="5133176"/>
                </a:cubicBezTo>
                <a:lnTo>
                  <a:pt x="3502958" y="5139194"/>
                </a:lnTo>
                <a:lnTo>
                  <a:pt x="3502958" y="6855055"/>
                </a:lnTo>
                <a:lnTo>
                  <a:pt x="3380095" y="6852065"/>
                </a:lnTo>
                <a:cubicBezTo>
                  <a:pt x="1497265" y="6760226"/>
                  <a:pt x="0" y="5262131"/>
                  <a:pt x="0" y="3427527"/>
                </a:cubicBezTo>
                <a:close/>
                <a:moveTo>
                  <a:pt x="3651655" y="673"/>
                </a:moveTo>
                <a:lnTo>
                  <a:pt x="3746847" y="2989"/>
                </a:lnTo>
                <a:cubicBezTo>
                  <a:pt x="5570839" y="91958"/>
                  <a:pt x="7032986" y="1500666"/>
                  <a:pt x="7122589" y="3256552"/>
                </a:cubicBezTo>
                <a:lnTo>
                  <a:pt x="7123205" y="3280742"/>
                </a:lnTo>
                <a:lnTo>
                  <a:pt x="5404947" y="3280742"/>
                </a:lnTo>
                <a:lnTo>
                  <a:pt x="5404044" y="3263046"/>
                </a:lnTo>
                <a:cubicBezTo>
                  <a:pt x="5320696" y="2451058"/>
                  <a:pt x="4626600" y="1804191"/>
                  <a:pt x="3752518" y="1721879"/>
                </a:cubicBezTo>
                <a:lnTo>
                  <a:pt x="3651655" y="1717156"/>
                </a:lnTo>
                <a:close/>
                <a:moveTo>
                  <a:pt x="3502958" y="0"/>
                </a:moveTo>
                <a:lnTo>
                  <a:pt x="3502958" y="1715861"/>
                </a:lnTo>
                <a:lnTo>
                  <a:pt x="3374425" y="1721879"/>
                </a:lnTo>
                <a:cubicBezTo>
                  <a:pt x="2500343" y="1804191"/>
                  <a:pt x="1806247" y="2451058"/>
                  <a:pt x="1722899" y="3263046"/>
                </a:cubicBezTo>
                <a:lnTo>
                  <a:pt x="1721995" y="3280742"/>
                </a:lnTo>
                <a:lnTo>
                  <a:pt x="3737" y="3280742"/>
                </a:lnTo>
                <a:lnTo>
                  <a:pt x="4353" y="3256552"/>
                </a:lnTo>
                <a:cubicBezTo>
                  <a:pt x="93956" y="1500666"/>
                  <a:pt x="1556103" y="91958"/>
                  <a:pt x="3380095" y="2989"/>
                </a:cubicBezTo>
                <a:close/>
              </a:path>
            </a:pathLst>
          </a:custGeom>
          <a:ln>
            <a:noFill/>
          </a:ln>
          <a:effectLst>
            <a:outerShdw blurRad="508000" dist="50800" dir="5400000" algn="ctr" rotWithShape="0">
              <a:srgbClr val="000000">
                <a:alpha val="7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solidFill>
                <a:schemeClr val="tx1"/>
              </a:solidFill>
            </a:endParaRPr>
          </a:p>
        </p:txBody>
      </p:sp>
      <p:sp>
        <p:nvSpPr>
          <p:cNvPr id="4" name="Title 5">
            <a:extLst>
              <a:ext uri="{FF2B5EF4-FFF2-40B4-BE49-F238E27FC236}">
                <a16:creationId xmlns="" xmlns:a16="http://schemas.microsoft.com/office/drawing/2014/main" id="{A3E08FA2-C73F-A01D-C334-4FAC0DB0C177}"/>
              </a:ext>
            </a:extLst>
          </p:cNvPr>
          <p:cNvSpPr txBox="1">
            <a:spLocks/>
          </p:cNvSpPr>
          <p:nvPr/>
        </p:nvSpPr>
        <p:spPr>
          <a:xfrm>
            <a:off x="579438" y="353632"/>
            <a:ext cx="9021762" cy="814493"/>
          </a:xfrm>
          <a:prstGeom prst="rect">
            <a:avLst/>
          </a:prstGeom>
          <a:effectLst>
            <a:outerShdw blurRad="50800" dist="50800" dir="5400000" algn="ctr" rotWithShape="0">
              <a:schemeClr val="tx1"/>
            </a:outerShdw>
          </a:effectLst>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solidFill>
                  <a:schemeClr val="bg1"/>
                </a:solidFill>
              </a:rPr>
              <a:t>What is Argo Workflows?</a:t>
            </a:r>
            <a:endParaRPr lang="en-US" sz="4000" b="1" dirty="0">
              <a:solidFill>
                <a:schemeClr val="bg1"/>
              </a:solidFill>
            </a:endParaRPr>
          </a:p>
          <a:p>
            <a:endParaRPr lang="en-US" dirty="0">
              <a:solidFill>
                <a:schemeClr val="bg1"/>
              </a:solidFill>
            </a:endParaRPr>
          </a:p>
        </p:txBody>
      </p:sp>
      <p:sp>
        <p:nvSpPr>
          <p:cNvPr id="7"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457200" y="1168126"/>
            <a:ext cx="10887458" cy="1235267"/>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05539" y="1334532"/>
            <a:ext cx="10566387" cy="415993"/>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TLDR;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9" name="Text Placeholder 2">
            <a:extLst>
              <a:ext uri="{FF2B5EF4-FFF2-40B4-BE49-F238E27FC236}">
                <a16:creationId xmlns="" xmlns:a16="http://schemas.microsoft.com/office/drawing/2014/main" id="{E15275E9-F296-1E2D-E2D3-6BAE1C5EFAAF}"/>
              </a:ext>
            </a:extLst>
          </p:cNvPr>
          <p:cNvSpPr txBox="1">
            <a:spLocks/>
          </p:cNvSpPr>
          <p:nvPr/>
        </p:nvSpPr>
        <p:spPr>
          <a:xfrm>
            <a:off x="605539" y="1806099"/>
            <a:ext cx="10290175" cy="215444"/>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smtClean="0"/>
              <a:t>Argo </a:t>
            </a:r>
            <a:r>
              <a:rPr lang="en-US" sz="1400" dirty="0"/>
              <a:t>Workflows is a </a:t>
            </a:r>
            <a:r>
              <a:rPr lang="en-US" sz="1400" dirty="0" err="1"/>
              <a:t>Kubernetes</a:t>
            </a:r>
            <a:r>
              <a:rPr lang="en-US" sz="1400" dirty="0"/>
              <a:t>-native workflow engine where each workflow step executes as a </a:t>
            </a:r>
            <a:r>
              <a:rPr lang="en-US" sz="1400" dirty="0" err="1"/>
              <a:t>Kubernetes</a:t>
            </a:r>
            <a:r>
              <a:rPr lang="en-US" sz="1400" dirty="0"/>
              <a:t> pod.</a:t>
            </a:r>
          </a:p>
        </p:txBody>
      </p:sp>
      <p:pic>
        <p:nvPicPr>
          <p:cNvPr id="10" name="Picture 9"/>
          <p:cNvPicPr>
            <a:picLocks noChangeAspect="1"/>
          </p:cNvPicPr>
          <p:nvPr/>
        </p:nvPicPr>
        <p:blipFill>
          <a:blip r:embed="rId4"/>
          <a:stretch>
            <a:fillRect/>
          </a:stretch>
        </p:blipFill>
        <p:spPr>
          <a:xfrm>
            <a:off x="6703961" y="74692"/>
            <a:ext cx="1388664" cy="881132"/>
          </a:xfrm>
          <a:prstGeom prst="rect">
            <a:avLst/>
          </a:prstGeom>
        </p:spPr>
      </p:pic>
      <p:pic>
        <p:nvPicPr>
          <p:cNvPr id="11" name="Picture 10"/>
          <p:cNvPicPr>
            <a:picLocks noChangeAspect="1"/>
          </p:cNvPicPr>
          <p:nvPr/>
        </p:nvPicPr>
        <p:blipFill>
          <a:blip r:embed="rId5"/>
          <a:stretch>
            <a:fillRect/>
          </a:stretch>
        </p:blipFill>
        <p:spPr>
          <a:xfrm>
            <a:off x="457200" y="2569799"/>
            <a:ext cx="5032287" cy="3688715"/>
          </a:xfrm>
          <a:prstGeom prst="rect">
            <a:avLst/>
          </a:prstGeom>
        </p:spPr>
      </p:pic>
      <p:sp>
        <p:nvSpPr>
          <p:cNvPr id="12"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6248400" y="2569799"/>
            <a:ext cx="4900128" cy="2713401"/>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379427" y="2708576"/>
            <a:ext cx="4685015" cy="415993"/>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CORE</a:t>
            </a:r>
            <a:r>
              <a:rPr kumimoji="0" lang="en-US" sz="1400" b="0" i="0" u="none" strike="noStrike" kern="1200" cap="none" spc="0" normalizeH="0" noProof="0" dirty="0" smtClean="0">
                <a:ln>
                  <a:noFill/>
                </a:ln>
                <a:solidFill>
                  <a:schemeClr val="bg1"/>
                </a:solidFill>
                <a:effectLst/>
                <a:uLnTx/>
                <a:uFillTx/>
                <a:latin typeface="Segoe UI Semibold"/>
                <a:ea typeface="+mn-ea"/>
                <a:cs typeface="Segoe UI" panose="020B0502040204020203" pitchFamily="34" charset="0"/>
              </a:rPr>
              <a:t> CONCEPT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4" name="Text Placeholder 2">
            <a:extLst>
              <a:ext uri="{FF2B5EF4-FFF2-40B4-BE49-F238E27FC236}">
                <a16:creationId xmlns="" xmlns:a16="http://schemas.microsoft.com/office/drawing/2014/main" id="{E15275E9-F296-1E2D-E2D3-6BAE1C5EFAAF}"/>
              </a:ext>
            </a:extLst>
          </p:cNvPr>
          <p:cNvSpPr txBox="1">
            <a:spLocks/>
          </p:cNvSpPr>
          <p:nvPr/>
        </p:nvSpPr>
        <p:spPr>
          <a:xfrm>
            <a:off x="6379427" y="3263346"/>
            <a:ext cx="4004295" cy="1508105"/>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MY" sz="1400" dirty="0" err="1" smtClean="0"/>
              <a:t>Kubernetes</a:t>
            </a:r>
            <a:r>
              <a:rPr lang="en-MY" sz="1400" dirty="0" smtClean="0"/>
              <a:t> </a:t>
            </a:r>
            <a:r>
              <a:rPr lang="en-MY" sz="1400" dirty="0"/>
              <a:t>CRD-based</a:t>
            </a:r>
          </a:p>
          <a:p>
            <a:r>
              <a:rPr lang="en-MY" sz="1400" dirty="0" smtClean="0"/>
              <a:t>Container-native </a:t>
            </a:r>
            <a:r>
              <a:rPr lang="en-MY" sz="1400" dirty="0"/>
              <a:t>execution</a:t>
            </a:r>
          </a:p>
          <a:p>
            <a:r>
              <a:rPr lang="en-MY" sz="1400" dirty="0" smtClean="0"/>
              <a:t>Declarative </a:t>
            </a:r>
            <a:r>
              <a:rPr lang="en-MY" sz="1400" dirty="0"/>
              <a:t>YAML workflows</a:t>
            </a:r>
          </a:p>
          <a:p>
            <a:r>
              <a:rPr lang="en-MY" sz="1400" dirty="0" smtClean="0"/>
              <a:t>DAG </a:t>
            </a:r>
            <a:r>
              <a:rPr lang="en-MY" sz="1400" dirty="0"/>
              <a:t>orchestration</a:t>
            </a:r>
          </a:p>
          <a:p>
            <a:r>
              <a:rPr lang="en-MY" sz="1400" dirty="0" smtClean="0"/>
              <a:t>Event-driven </a:t>
            </a:r>
            <a:r>
              <a:rPr lang="en-MY" sz="1400" dirty="0"/>
              <a:t>capable</a:t>
            </a:r>
          </a:p>
          <a:p>
            <a:r>
              <a:rPr lang="en-MY" sz="1400" dirty="0" err="1" smtClean="0"/>
              <a:t>GitOps</a:t>
            </a:r>
            <a:r>
              <a:rPr lang="en-MY" sz="1400" dirty="0" smtClean="0"/>
              <a:t> </a:t>
            </a:r>
            <a:r>
              <a:rPr lang="en-MY" sz="1400" dirty="0"/>
              <a:t>friendly</a:t>
            </a:r>
          </a:p>
        </p:txBody>
      </p:sp>
    </p:spTree>
    <p:extLst>
      <p:ext uri="{BB962C8B-B14F-4D97-AF65-F5344CB8AC3E}">
        <p14:creationId xmlns:p14="http://schemas.microsoft.com/office/powerpoint/2010/main" val="4259531796"/>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1000"/>
                                        <p:tgtEl>
                                          <p:spTgt spid="12"/>
                                        </p:tgtEl>
                                      </p:cBhvr>
                                    </p:animEffect>
                                    <p:anim calcmode="lin" valueType="num">
                                      <p:cBhvr>
                                        <p:cTn id="25" dur="1000" fill="hold"/>
                                        <p:tgtEl>
                                          <p:spTgt spid="12"/>
                                        </p:tgtEl>
                                        <p:attrNameLst>
                                          <p:attrName>ppt_x</p:attrName>
                                        </p:attrNameLst>
                                      </p:cBhvr>
                                      <p:tavLst>
                                        <p:tav tm="0">
                                          <p:val>
                                            <p:strVal val="#ppt_x"/>
                                          </p:val>
                                        </p:tav>
                                        <p:tav tm="100000">
                                          <p:val>
                                            <p:strVal val="#ppt_x"/>
                                          </p:val>
                                        </p:tav>
                                      </p:tavLst>
                                    </p:anim>
                                    <p:anim calcmode="lin" valueType="num">
                                      <p:cBhvr>
                                        <p:cTn id="26" dur="1000" fill="hold"/>
                                        <p:tgtEl>
                                          <p:spTgt spid="12"/>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1000"/>
                                        <p:tgtEl>
                                          <p:spTgt spid="13"/>
                                        </p:tgtEl>
                                      </p:cBhvr>
                                    </p:animEffect>
                                    <p:anim calcmode="lin" valueType="num">
                                      <p:cBhvr>
                                        <p:cTn id="30" dur="1000" fill="hold"/>
                                        <p:tgtEl>
                                          <p:spTgt spid="13"/>
                                        </p:tgtEl>
                                        <p:attrNameLst>
                                          <p:attrName>ppt_x</p:attrName>
                                        </p:attrNameLst>
                                      </p:cBhvr>
                                      <p:tavLst>
                                        <p:tav tm="0">
                                          <p:val>
                                            <p:strVal val="#ppt_x"/>
                                          </p:val>
                                        </p:tav>
                                        <p:tav tm="100000">
                                          <p:val>
                                            <p:strVal val="#ppt_x"/>
                                          </p:val>
                                        </p:tav>
                                      </p:tavLst>
                                    </p:anim>
                                    <p:anim calcmode="lin" valueType="num">
                                      <p:cBhvr>
                                        <p:cTn id="31" dur="1000" fill="hold"/>
                                        <p:tgtEl>
                                          <p:spTgt spid="13"/>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1000"/>
                                        <p:tgtEl>
                                          <p:spTgt spid="14"/>
                                        </p:tgtEl>
                                      </p:cBhvr>
                                    </p:animEffect>
                                    <p:anim calcmode="lin" valueType="num">
                                      <p:cBhvr>
                                        <p:cTn id="35" dur="1000" fill="hold"/>
                                        <p:tgtEl>
                                          <p:spTgt spid="14"/>
                                        </p:tgtEl>
                                        <p:attrNameLst>
                                          <p:attrName>ppt_x</p:attrName>
                                        </p:attrNameLst>
                                      </p:cBhvr>
                                      <p:tavLst>
                                        <p:tav tm="0">
                                          <p:val>
                                            <p:strVal val="#ppt_x"/>
                                          </p:val>
                                        </p:tav>
                                        <p:tav tm="100000">
                                          <p:val>
                                            <p:strVal val="#ppt_x"/>
                                          </p:val>
                                        </p:tav>
                                      </p:tavLst>
                                    </p:anim>
                                    <p:anim calcmode="lin" valueType="num">
                                      <p:cBhvr>
                                        <p:cTn id="3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1000"/>
                                        <p:tgtEl>
                                          <p:spTgt spid="11"/>
                                        </p:tgtEl>
                                      </p:cBhvr>
                                    </p:animEffect>
                                    <p:anim calcmode="lin" valueType="num">
                                      <p:cBhvr>
                                        <p:cTn id="42" dur="1000" fill="hold"/>
                                        <p:tgtEl>
                                          <p:spTgt spid="11"/>
                                        </p:tgtEl>
                                        <p:attrNameLst>
                                          <p:attrName>ppt_x</p:attrName>
                                        </p:attrNameLst>
                                      </p:cBhvr>
                                      <p:tavLst>
                                        <p:tav tm="0">
                                          <p:val>
                                            <p:strVal val="#ppt_x"/>
                                          </p:val>
                                        </p:tav>
                                        <p:tav tm="100000">
                                          <p:val>
                                            <p:strVal val="#ppt_x"/>
                                          </p:val>
                                        </p:tav>
                                      </p:tavLst>
                                    </p:anim>
                                    <p:anim calcmode="lin" valueType="num">
                                      <p:cBhvr>
                                        <p:cTn id="4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2" grpId="0" animBg="1"/>
      <p:bldP spid="13" grpId="0" animBg="1"/>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useBgFill="1">
        <p:nvSpPr>
          <p:cNvPr id="6" name="Freeform 5"/>
          <p:cNvSpPr/>
          <p:nvPr/>
        </p:nvSpPr>
        <p:spPr>
          <a:xfrm rot="18909290">
            <a:off x="7219241" y="-2729383"/>
            <a:ext cx="12660583" cy="12865817"/>
          </a:xfrm>
          <a:custGeom>
            <a:avLst/>
            <a:gdLst>
              <a:gd name="connsiteX0" fmla="*/ 5410845 w 7126942"/>
              <a:gd name="connsiteY0" fmla="*/ 3396245 h 6855055"/>
              <a:gd name="connsiteX1" fmla="*/ 7126146 w 7126942"/>
              <a:gd name="connsiteY1" fmla="*/ 3396245 h 6855055"/>
              <a:gd name="connsiteX2" fmla="*/ 7126942 w 7126942"/>
              <a:gd name="connsiteY2" fmla="*/ 3427527 h 6855055"/>
              <a:gd name="connsiteX3" fmla="*/ 3746847 w 7126942"/>
              <a:gd name="connsiteY3" fmla="*/ 6852065 h 6855055"/>
              <a:gd name="connsiteX4" fmla="*/ 3651655 w 7126942"/>
              <a:gd name="connsiteY4" fmla="*/ 6854382 h 6855055"/>
              <a:gd name="connsiteX5" fmla="*/ 3651655 w 7126942"/>
              <a:gd name="connsiteY5" fmla="*/ 5137898 h 6855055"/>
              <a:gd name="connsiteX6" fmla="*/ 3752518 w 7126942"/>
              <a:gd name="connsiteY6" fmla="*/ 5133176 h 6855055"/>
              <a:gd name="connsiteX7" fmla="*/ 5412442 w 7126942"/>
              <a:gd name="connsiteY7" fmla="*/ 3427527 h 6855055"/>
              <a:gd name="connsiteX8" fmla="*/ 797 w 7126942"/>
              <a:gd name="connsiteY8" fmla="*/ 3396245 h 6855055"/>
              <a:gd name="connsiteX9" fmla="*/ 1716098 w 7126942"/>
              <a:gd name="connsiteY9" fmla="*/ 3396245 h 6855055"/>
              <a:gd name="connsiteX10" fmla="*/ 1714500 w 7126942"/>
              <a:gd name="connsiteY10" fmla="*/ 3427527 h 6855055"/>
              <a:gd name="connsiteX11" fmla="*/ 3374425 w 7126942"/>
              <a:gd name="connsiteY11" fmla="*/ 5133176 h 6855055"/>
              <a:gd name="connsiteX12" fmla="*/ 3502958 w 7126942"/>
              <a:gd name="connsiteY12" fmla="*/ 5139194 h 6855055"/>
              <a:gd name="connsiteX13" fmla="*/ 3502958 w 7126942"/>
              <a:gd name="connsiteY13" fmla="*/ 6855055 h 6855055"/>
              <a:gd name="connsiteX14" fmla="*/ 3380095 w 7126942"/>
              <a:gd name="connsiteY14" fmla="*/ 6852065 h 6855055"/>
              <a:gd name="connsiteX15" fmla="*/ 0 w 7126942"/>
              <a:gd name="connsiteY15" fmla="*/ 3427527 h 6855055"/>
              <a:gd name="connsiteX16" fmla="*/ 3651655 w 7126942"/>
              <a:gd name="connsiteY16" fmla="*/ 673 h 6855055"/>
              <a:gd name="connsiteX17" fmla="*/ 3746847 w 7126942"/>
              <a:gd name="connsiteY17" fmla="*/ 2989 h 6855055"/>
              <a:gd name="connsiteX18" fmla="*/ 7122589 w 7126942"/>
              <a:gd name="connsiteY18" fmla="*/ 3256552 h 6855055"/>
              <a:gd name="connsiteX19" fmla="*/ 7123205 w 7126942"/>
              <a:gd name="connsiteY19" fmla="*/ 3280742 h 6855055"/>
              <a:gd name="connsiteX20" fmla="*/ 5404947 w 7126942"/>
              <a:gd name="connsiteY20" fmla="*/ 3280742 h 6855055"/>
              <a:gd name="connsiteX21" fmla="*/ 5404044 w 7126942"/>
              <a:gd name="connsiteY21" fmla="*/ 3263046 h 6855055"/>
              <a:gd name="connsiteX22" fmla="*/ 3752518 w 7126942"/>
              <a:gd name="connsiteY22" fmla="*/ 1721879 h 6855055"/>
              <a:gd name="connsiteX23" fmla="*/ 3651655 w 7126942"/>
              <a:gd name="connsiteY23" fmla="*/ 1717156 h 6855055"/>
              <a:gd name="connsiteX24" fmla="*/ 3502958 w 7126942"/>
              <a:gd name="connsiteY24" fmla="*/ 0 h 6855055"/>
              <a:gd name="connsiteX25" fmla="*/ 3502958 w 7126942"/>
              <a:gd name="connsiteY25" fmla="*/ 1715861 h 6855055"/>
              <a:gd name="connsiteX26" fmla="*/ 3374425 w 7126942"/>
              <a:gd name="connsiteY26" fmla="*/ 1721879 h 6855055"/>
              <a:gd name="connsiteX27" fmla="*/ 1722899 w 7126942"/>
              <a:gd name="connsiteY27" fmla="*/ 3263046 h 6855055"/>
              <a:gd name="connsiteX28" fmla="*/ 1721995 w 7126942"/>
              <a:gd name="connsiteY28" fmla="*/ 3280742 h 6855055"/>
              <a:gd name="connsiteX29" fmla="*/ 3737 w 7126942"/>
              <a:gd name="connsiteY29" fmla="*/ 3280742 h 6855055"/>
              <a:gd name="connsiteX30" fmla="*/ 4353 w 7126942"/>
              <a:gd name="connsiteY30" fmla="*/ 3256552 h 6855055"/>
              <a:gd name="connsiteX31" fmla="*/ 3380095 w 7126942"/>
              <a:gd name="connsiteY31" fmla="*/ 2989 h 685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126942" h="6855055">
                <a:moveTo>
                  <a:pt x="5410845" y="3396245"/>
                </a:moveTo>
                <a:lnTo>
                  <a:pt x="7126146" y="3396245"/>
                </a:lnTo>
                <a:lnTo>
                  <a:pt x="7126942" y="3427527"/>
                </a:lnTo>
                <a:cubicBezTo>
                  <a:pt x="7126942" y="5262131"/>
                  <a:pt x="5629678" y="6760226"/>
                  <a:pt x="3746847" y="6852065"/>
                </a:cubicBezTo>
                <a:lnTo>
                  <a:pt x="3651655" y="6854382"/>
                </a:lnTo>
                <a:lnTo>
                  <a:pt x="3651655" y="5137898"/>
                </a:lnTo>
                <a:lnTo>
                  <a:pt x="3752518" y="5133176"/>
                </a:lnTo>
                <a:cubicBezTo>
                  <a:pt x="4684872" y="5045376"/>
                  <a:pt x="5412442" y="4315238"/>
                  <a:pt x="5412442" y="3427527"/>
                </a:cubicBezTo>
                <a:close/>
                <a:moveTo>
                  <a:pt x="797" y="3396245"/>
                </a:moveTo>
                <a:lnTo>
                  <a:pt x="1716098" y="3396245"/>
                </a:lnTo>
                <a:lnTo>
                  <a:pt x="1714500" y="3427527"/>
                </a:lnTo>
                <a:cubicBezTo>
                  <a:pt x="1714500" y="4315238"/>
                  <a:pt x="2442070" y="5045376"/>
                  <a:pt x="3374425" y="5133176"/>
                </a:cubicBezTo>
                <a:lnTo>
                  <a:pt x="3502958" y="5139194"/>
                </a:lnTo>
                <a:lnTo>
                  <a:pt x="3502958" y="6855055"/>
                </a:lnTo>
                <a:lnTo>
                  <a:pt x="3380095" y="6852065"/>
                </a:lnTo>
                <a:cubicBezTo>
                  <a:pt x="1497265" y="6760226"/>
                  <a:pt x="0" y="5262131"/>
                  <a:pt x="0" y="3427527"/>
                </a:cubicBezTo>
                <a:close/>
                <a:moveTo>
                  <a:pt x="3651655" y="673"/>
                </a:moveTo>
                <a:lnTo>
                  <a:pt x="3746847" y="2989"/>
                </a:lnTo>
                <a:cubicBezTo>
                  <a:pt x="5570839" y="91958"/>
                  <a:pt x="7032986" y="1500666"/>
                  <a:pt x="7122589" y="3256552"/>
                </a:cubicBezTo>
                <a:lnTo>
                  <a:pt x="7123205" y="3280742"/>
                </a:lnTo>
                <a:lnTo>
                  <a:pt x="5404947" y="3280742"/>
                </a:lnTo>
                <a:lnTo>
                  <a:pt x="5404044" y="3263046"/>
                </a:lnTo>
                <a:cubicBezTo>
                  <a:pt x="5320696" y="2451058"/>
                  <a:pt x="4626600" y="1804191"/>
                  <a:pt x="3752518" y="1721879"/>
                </a:cubicBezTo>
                <a:lnTo>
                  <a:pt x="3651655" y="1717156"/>
                </a:lnTo>
                <a:close/>
                <a:moveTo>
                  <a:pt x="3502958" y="0"/>
                </a:moveTo>
                <a:lnTo>
                  <a:pt x="3502958" y="1715861"/>
                </a:lnTo>
                <a:lnTo>
                  <a:pt x="3374425" y="1721879"/>
                </a:lnTo>
                <a:cubicBezTo>
                  <a:pt x="2500343" y="1804191"/>
                  <a:pt x="1806247" y="2451058"/>
                  <a:pt x="1722899" y="3263046"/>
                </a:cubicBezTo>
                <a:lnTo>
                  <a:pt x="1721995" y="3280742"/>
                </a:lnTo>
                <a:lnTo>
                  <a:pt x="3737" y="3280742"/>
                </a:lnTo>
                <a:lnTo>
                  <a:pt x="4353" y="3256552"/>
                </a:lnTo>
                <a:cubicBezTo>
                  <a:pt x="93956" y="1500666"/>
                  <a:pt x="1556103" y="91958"/>
                  <a:pt x="3380095" y="2989"/>
                </a:cubicBezTo>
                <a:close/>
              </a:path>
            </a:pathLst>
          </a:custGeom>
          <a:ln>
            <a:noFill/>
          </a:ln>
          <a:effectLst>
            <a:outerShdw blurRad="508000" dist="50800" dir="5400000" algn="ctr" rotWithShape="0">
              <a:srgbClr val="000000">
                <a:alpha val="7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solidFill>
                <a:schemeClr val="tx1"/>
              </a:solidFill>
            </a:endParaRPr>
          </a:p>
        </p:txBody>
      </p:sp>
      <p:sp>
        <p:nvSpPr>
          <p:cNvPr id="12" name="Title 5">
            <a:extLst>
              <a:ext uri="{FF2B5EF4-FFF2-40B4-BE49-F238E27FC236}">
                <a16:creationId xmlns="" xmlns:a16="http://schemas.microsoft.com/office/drawing/2014/main" id="{A3E08FA2-C73F-A01D-C334-4FAC0DB0C177}"/>
              </a:ext>
            </a:extLst>
          </p:cNvPr>
          <p:cNvSpPr txBox="1">
            <a:spLocks/>
          </p:cNvSpPr>
          <p:nvPr/>
        </p:nvSpPr>
        <p:spPr>
          <a:xfrm>
            <a:off x="579438" y="353632"/>
            <a:ext cx="9021762" cy="814493"/>
          </a:xfrm>
          <a:prstGeom prst="rect">
            <a:avLst/>
          </a:prstGeom>
          <a:effectLst>
            <a:outerShdw blurRad="50800" dist="50800" dir="5400000" algn="ctr" rotWithShape="0">
              <a:schemeClr val="tx1"/>
            </a:outerShdw>
          </a:effectLst>
        </p:spPr>
        <p:txBody>
          <a:bodyPr vert="horz" lIns="91440" tIns="45720" rIns="91440" bIns="45720" rtlCol="0" anchor="b">
            <a:normAutofit fontScale="92500"/>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solidFill>
                  <a:schemeClr val="bg1"/>
                </a:solidFill>
              </a:rPr>
              <a:t>How Argo Workflows benefits from K8s?</a:t>
            </a:r>
            <a:endParaRPr lang="en-US" sz="4000" b="1" dirty="0">
              <a:solidFill>
                <a:schemeClr val="bg1"/>
              </a:solidFill>
            </a:endParaRPr>
          </a:p>
          <a:p>
            <a:endParaRPr lang="en-US" dirty="0">
              <a:solidFill>
                <a:schemeClr val="bg1"/>
              </a:solidFill>
            </a:endParaRPr>
          </a:p>
        </p:txBody>
      </p:sp>
      <p:sp>
        <p:nvSpPr>
          <p:cNvPr id="13"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447040" y="1168124"/>
            <a:ext cx="10727466" cy="5259569"/>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72" y="1362685"/>
            <a:ext cx="4951969" cy="619933"/>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KUBERNETES CAPABILITY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02972" y="1362684"/>
            <a:ext cx="4951969" cy="619933"/>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ARGO WORKFLOWS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71" y="2084045"/>
            <a:ext cx="4951969" cy="405155"/>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Pods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20791" y="2586718"/>
            <a:ext cx="4951969" cy="405155"/>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Namespaces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70571" y="5741645"/>
            <a:ext cx="4951969" cy="405155"/>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Persisten</a:t>
            </a:r>
            <a:r>
              <a:rPr lang="en-US" sz="1400" dirty="0" smtClean="0">
                <a:solidFill>
                  <a:schemeClr val="bg1"/>
                </a:solidFill>
                <a:latin typeface="Segoe UI Semibold"/>
                <a:cs typeface="Segoe UI" panose="020B0502040204020203" pitchFamily="34" charset="0"/>
              </a:rPr>
              <a:t>t Volume</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60411" y="5213325"/>
            <a:ext cx="4951969" cy="405155"/>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a:solidFill>
                  <a:schemeClr val="bg1"/>
                </a:solidFill>
                <a:latin typeface="Segoe UI Semibold"/>
                <a:cs typeface="Segoe UI" panose="020B0502040204020203" pitchFamily="34" charset="0"/>
              </a:rPr>
              <a:t>Secrets</a:t>
            </a:r>
            <a:endParaRPr lang="en-US" sz="1400" dirty="0">
              <a:solidFill>
                <a:schemeClr val="bg1"/>
              </a:solidFill>
              <a:latin typeface="Segoe UI Semibold"/>
              <a:cs typeface="Segoe UI" panose="020B0502040204020203" pitchFamily="34" charset="0"/>
            </a:endParaRPr>
          </a:p>
        </p:txBody>
      </p:sp>
      <p:sp>
        <p:nvSpPr>
          <p:cNvPr id="2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40091" y="3110205"/>
            <a:ext cx="4951969" cy="405155"/>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sz="1400" dirty="0" smtClean="0">
                <a:solidFill>
                  <a:schemeClr val="bg1"/>
                </a:solidFill>
                <a:latin typeface="Segoe UI Semibold"/>
                <a:cs typeface="Segoe UI" panose="020B0502040204020203" pitchFamily="34" charset="0"/>
              </a:rPr>
              <a:t>Role-binding</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40091" y="3638525"/>
            <a:ext cx="4951969" cy="405155"/>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742">
              <a:buSzPct val="90000"/>
              <a:defRPr/>
            </a:pPr>
            <a:r>
              <a:rPr lang="en-US" sz="1400" dirty="0">
                <a:solidFill>
                  <a:schemeClr val="bg1"/>
                </a:solidFill>
                <a:latin typeface="Segoe UI Semibold"/>
                <a:cs typeface="Segoe UI" panose="020B0502040204020203" pitchFamily="34" charset="0"/>
              </a:rPr>
              <a:t>Service </a:t>
            </a:r>
            <a:r>
              <a:rPr lang="en-US" sz="1400" dirty="0" smtClean="0">
                <a:solidFill>
                  <a:schemeClr val="bg1"/>
                </a:solidFill>
                <a:latin typeface="Segoe UI Semibold"/>
                <a:cs typeface="Segoe UI" panose="020B0502040204020203" pitchFamily="34" charset="0"/>
              </a:rPr>
              <a:t>Accounts</a:t>
            </a:r>
            <a:endParaRPr lang="en-US" sz="1400" dirty="0">
              <a:solidFill>
                <a:schemeClr val="bg1"/>
              </a:solidFill>
              <a:latin typeface="Segoe UI Semibold"/>
              <a:cs typeface="Segoe UI" panose="020B0502040204020203" pitchFamily="34" charset="0"/>
            </a:endParaRPr>
          </a:p>
        </p:txBody>
      </p:sp>
      <p:sp>
        <p:nvSpPr>
          <p:cNvPr id="2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60411" y="4166845"/>
            <a:ext cx="4951969" cy="405155"/>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ConfigMaps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60411" y="4674845"/>
            <a:ext cx="4951969" cy="405155"/>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AutoScaling</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23291" y="2094205"/>
            <a:ext cx="4951969" cy="405155"/>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a:solidFill>
                  <a:schemeClr val="bg1"/>
                </a:solidFill>
                <a:latin typeface="Segoe UI Semibold"/>
                <a:cs typeface="Segoe UI" panose="020B0502040204020203" pitchFamily="34" charset="0"/>
              </a:rPr>
              <a:t>Each task becomes a pod</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24311" y="2596878"/>
            <a:ext cx="4951969" cy="405155"/>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Multi-tenant isolation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74091" y="5751805"/>
            <a:ext cx="4951969" cy="405155"/>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Shared </a:t>
            </a:r>
            <a:r>
              <a:rPr lang="en-US" sz="1400" dirty="0">
                <a:solidFill>
                  <a:schemeClr val="bg1"/>
                </a:solidFill>
                <a:latin typeface="Segoe UI Semibold"/>
                <a:cs typeface="Segoe UI" panose="020B0502040204020203" pitchFamily="34" charset="0"/>
              </a:rPr>
              <a:t>storage support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63931" y="5223485"/>
            <a:ext cx="4951969" cy="405155"/>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742">
              <a:buSzPct val="90000"/>
              <a:defRPr/>
            </a:pPr>
            <a:r>
              <a:rPr lang="en-US" sz="1400" dirty="0">
                <a:solidFill>
                  <a:schemeClr val="bg1"/>
                </a:solidFill>
                <a:latin typeface="Segoe UI Semibold"/>
                <a:cs typeface="Segoe UI" panose="020B0502040204020203" pitchFamily="34" charset="0"/>
              </a:rPr>
              <a:t>Native secret </a:t>
            </a:r>
            <a:r>
              <a:rPr lang="en-US" sz="1400" dirty="0" smtClean="0">
                <a:solidFill>
                  <a:schemeClr val="bg1"/>
                </a:solidFill>
                <a:latin typeface="Segoe UI Semibold"/>
                <a:cs typeface="Segoe UI" panose="020B0502040204020203" pitchFamily="34" charset="0"/>
              </a:rPr>
              <a:t>injection</a:t>
            </a:r>
            <a:endParaRPr lang="en-US" sz="1400" dirty="0">
              <a:solidFill>
                <a:schemeClr val="bg1"/>
              </a:solidFill>
              <a:latin typeface="Segoe UI Semibold"/>
              <a:cs typeface="Segoe UI" panose="020B0502040204020203" pitchFamily="34" charset="0"/>
            </a:endParaRPr>
          </a:p>
        </p:txBody>
      </p:sp>
      <p:sp>
        <p:nvSpPr>
          <p:cNvPr id="2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43611" y="3120365"/>
            <a:ext cx="4951969" cy="405155"/>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a:solidFill>
                  <a:schemeClr val="bg1"/>
                </a:solidFill>
                <a:latin typeface="Segoe UI Semibold"/>
                <a:cs typeface="Segoe UI" panose="020B0502040204020203" pitchFamily="34" charset="0"/>
              </a:rPr>
              <a:t>Native security model</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43611" y="3648685"/>
            <a:ext cx="4951969" cy="405155"/>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a:solidFill>
                  <a:schemeClr val="bg1"/>
                </a:solidFill>
                <a:latin typeface="Segoe UI Semibold"/>
                <a:cs typeface="Segoe UI" panose="020B0502040204020203" pitchFamily="34" charset="0"/>
              </a:rPr>
              <a:t>Fine-grained permissions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63931" y="4177005"/>
            <a:ext cx="4951969" cy="405155"/>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a:solidFill>
                  <a:schemeClr val="bg1"/>
                </a:solidFill>
                <a:latin typeface="Segoe UI Semibold"/>
                <a:cs typeface="Segoe UI" panose="020B0502040204020203" pitchFamily="34" charset="0"/>
              </a:rPr>
              <a:t>Centralized configuration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63931" y="4685005"/>
            <a:ext cx="4951969" cy="405155"/>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a:solidFill>
                  <a:schemeClr val="bg1"/>
                </a:solidFill>
                <a:latin typeface="Segoe UI Semibold"/>
                <a:cs typeface="Segoe UI" panose="020B0502040204020203" pitchFamily="34" charset="0"/>
              </a:rPr>
              <a:t>Dynamic pipeline scaling</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Tree>
    <p:extLst>
      <p:ext uri="{BB962C8B-B14F-4D97-AF65-F5344CB8AC3E}">
        <p14:creationId xmlns:p14="http://schemas.microsoft.com/office/powerpoint/2010/main" val="477552648"/>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anim calcmode="lin" valueType="num">
                                      <p:cBhvr>
                                        <p:cTn id="18" dur="1000" fill="hold"/>
                                        <p:tgtEl>
                                          <p:spTgt spid="13"/>
                                        </p:tgtEl>
                                        <p:attrNameLst>
                                          <p:attrName>ppt_x</p:attrName>
                                        </p:attrNameLst>
                                      </p:cBhvr>
                                      <p:tavLst>
                                        <p:tav tm="0">
                                          <p:val>
                                            <p:strVal val="#ppt_x"/>
                                          </p:val>
                                        </p:tav>
                                        <p:tav tm="100000">
                                          <p:val>
                                            <p:strVal val="#ppt_x"/>
                                          </p:val>
                                        </p:tav>
                                      </p:tavLst>
                                    </p:anim>
                                    <p:anim calcmode="lin" valueType="num">
                                      <p:cBhvr>
                                        <p:cTn id="1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1000"/>
                                        <p:tgtEl>
                                          <p:spTgt spid="24"/>
                                        </p:tgtEl>
                                      </p:cBhvr>
                                    </p:animEffect>
                                    <p:anim calcmode="lin" valueType="num">
                                      <p:cBhvr>
                                        <p:cTn id="30" dur="1000" fill="hold"/>
                                        <p:tgtEl>
                                          <p:spTgt spid="24"/>
                                        </p:tgtEl>
                                        <p:attrNameLst>
                                          <p:attrName>ppt_x</p:attrName>
                                        </p:attrNameLst>
                                      </p:cBhvr>
                                      <p:tavLst>
                                        <p:tav tm="0">
                                          <p:val>
                                            <p:strVal val="#ppt_x"/>
                                          </p:val>
                                        </p:tav>
                                        <p:tav tm="100000">
                                          <p:val>
                                            <p:strVal val="#ppt_x"/>
                                          </p:val>
                                        </p:tav>
                                      </p:tavLst>
                                    </p:anim>
                                    <p:anim calcmode="lin" valueType="num">
                                      <p:cBhvr>
                                        <p:cTn id="31"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1000"/>
                                        <p:tgtEl>
                                          <p:spTgt spid="17"/>
                                        </p:tgtEl>
                                      </p:cBhvr>
                                    </p:animEffect>
                                    <p:anim calcmode="lin" valueType="num">
                                      <p:cBhvr>
                                        <p:cTn id="37" dur="1000" fill="hold"/>
                                        <p:tgtEl>
                                          <p:spTgt spid="17"/>
                                        </p:tgtEl>
                                        <p:attrNameLst>
                                          <p:attrName>ppt_x</p:attrName>
                                        </p:attrNameLst>
                                      </p:cBhvr>
                                      <p:tavLst>
                                        <p:tav tm="0">
                                          <p:val>
                                            <p:strVal val="#ppt_x"/>
                                          </p:val>
                                        </p:tav>
                                        <p:tav tm="100000">
                                          <p:val>
                                            <p:strVal val="#ppt_x"/>
                                          </p:val>
                                        </p:tav>
                                      </p:tavLst>
                                    </p:anim>
                                    <p:anim calcmode="lin" valueType="num">
                                      <p:cBhvr>
                                        <p:cTn id="38" dur="1000" fill="hold"/>
                                        <p:tgtEl>
                                          <p:spTgt spid="17"/>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1000"/>
                                        <p:tgtEl>
                                          <p:spTgt spid="25"/>
                                        </p:tgtEl>
                                      </p:cBhvr>
                                    </p:animEffect>
                                    <p:anim calcmode="lin" valueType="num">
                                      <p:cBhvr>
                                        <p:cTn id="42" dur="1000" fill="hold"/>
                                        <p:tgtEl>
                                          <p:spTgt spid="25"/>
                                        </p:tgtEl>
                                        <p:attrNameLst>
                                          <p:attrName>ppt_x</p:attrName>
                                        </p:attrNameLst>
                                      </p:cBhvr>
                                      <p:tavLst>
                                        <p:tav tm="0">
                                          <p:val>
                                            <p:strVal val="#ppt_x"/>
                                          </p:val>
                                        </p:tav>
                                        <p:tav tm="100000">
                                          <p:val>
                                            <p:strVal val="#ppt_x"/>
                                          </p:val>
                                        </p:tav>
                                      </p:tavLst>
                                    </p:anim>
                                    <p:anim calcmode="lin" valueType="num">
                                      <p:cBhvr>
                                        <p:cTn id="43"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1000"/>
                                        <p:tgtEl>
                                          <p:spTgt spid="20"/>
                                        </p:tgtEl>
                                      </p:cBhvr>
                                    </p:animEffect>
                                    <p:anim calcmode="lin" valueType="num">
                                      <p:cBhvr>
                                        <p:cTn id="49" dur="1000" fill="hold"/>
                                        <p:tgtEl>
                                          <p:spTgt spid="20"/>
                                        </p:tgtEl>
                                        <p:attrNameLst>
                                          <p:attrName>ppt_x</p:attrName>
                                        </p:attrNameLst>
                                      </p:cBhvr>
                                      <p:tavLst>
                                        <p:tav tm="0">
                                          <p:val>
                                            <p:strVal val="#ppt_x"/>
                                          </p:val>
                                        </p:tav>
                                        <p:tav tm="100000">
                                          <p:val>
                                            <p:strVal val="#ppt_x"/>
                                          </p:val>
                                        </p:tav>
                                      </p:tavLst>
                                    </p:anim>
                                    <p:anim calcmode="lin" valueType="num">
                                      <p:cBhvr>
                                        <p:cTn id="50" dur="1000" fill="hold"/>
                                        <p:tgtEl>
                                          <p:spTgt spid="20"/>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1000"/>
                                        <p:tgtEl>
                                          <p:spTgt spid="28"/>
                                        </p:tgtEl>
                                      </p:cBhvr>
                                    </p:animEffect>
                                    <p:anim calcmode="lin" valueType="num">
                                      <p:cBhvr>
                                        <p:cTn id="54" dur="1000" fill="hold"/>
                                        <p:tgtEl>
                                          <p:spTgt spid="28"/>
                                        </p:tgtEl>
                                        <p:attrNameLst>
                                          <p:attrName>ppt_x</p:attrName>
                                        </p:attrNameLst>
                                      </p:cBhvr>
                                      <p:tavLst>
                                        <p:tav tm="0">
                                          <p:val>
                                            <p:strVal val="#ppt_x"/>
                                          </p:val>
                                        </p:tav>
                                        <p:tav tm="100000">
                                          <p:val>
                                            <p:strVal val="#ppt_x"/>
                                          </p:val>
                                        </p:tav>
                                      </p:tavLst>
                                    </p:anim>
                                    <p:anim calcmode="lin" valueType="num">
                                      <p:cBhvr>
                                        <p:cTn id="55"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1000"/>
                                        <p:tgtEl>
                                          <p:spTgt spid="21"/>
                                        </p:tgtEl>
                                      </p:cBhvr>
                                    </p:animEffect>
                                    <p:anim calcmode="lin" valueType="num">
                                      <p:cBhvr>
                                        <p:cTn id="61" dur="1000" fill="hold"/>
                                        <p:tgtEl>
                                          <p:spTgt spid="21"/>
                                        </p:tgtEl>
                                        <p:attrNameLst>
                                          <p:attrName>ppt_x</p:attrName>
                                        </p:attrNameLst>
                                      </p:cBhvr>
                                      <p:tavLst>
                                        <p:tav tm="0">
                                          <p:val>
                                            <p:strVal val="#ppt_x"/>
                                          </p:val>
                                        </p:tav>
                                        <p:tav tm="100000">
                                          <p:val>
                                            <p:strVal val="#ppt_x"/>
                                          </p:val>
                                        </p:tav>
                                      </p:tavLst>
                                    </p:anim>
                                    <p:anim calcmode="lin" valueType="num">
                                      <p:cBhvr>
                                        <p:cTn id="62" dur="1000" fill="hold"/>
                                        <p:tgtEl>
                                          <p:spTgt spid="21"/>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1000"/>
                                        <p:tgtEl>
                                          <p:spTgt spid="29"/>
                                        </p:tgtEl>
                                      </p:cBhvr>
                                    </p:animEffect>
                                    <p:anim calcmode="lin" valueType="num">
                                      <p:cBhvr>
                                        <p:cTn id="66" dur="1000" fill="hold"/>
                                        <p:tgtEl>
                                          <p:spTgt spid="29"/>
                                        </p:tgtEl>
                                        <p:attrNameLst>
                                          <p:attrName>ppt_x</p:attrName>
                                        </p:attrNameLst>
                                      </p:cBhvr>
                                      <p:tavLst>
                                        <p:tav tm="0">
                                          <p:val>
                                            <p:strVal val="#ppt_x"/>
                                          </p:val>
                                        </p:tav>
                                        <p:tav tm="100000">
                                          <p:val>
                                            <p:strVal val="#ppt_x"/>
                                          </p:val>
                                        </p:tav>
                                      </p:tavLst>
                                    </p:anim>
                                    <p:anim calcmode="lin" valueType="num">
                                      <p:cBhvr>
                                        <p:cTn id="67"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1000"/>
                                        <p:tgtEl>
                                          <p:spTgt spid="22"/>
                                        </p:tgtEl>
                                      </p:cBhvr>
                                    </p:animEffect>
                                    <p:anim calcmode="lin" valueType="num">
                                      <p:cBhvr>
                                        <p:cTn id="73" dur="1000" fill="hold"/>
                                        <p:tgtEl>
                                          <p:spTgt spid="22"/>
                                        </p:tgtEl>
                                        <p:attrNameLst>
                                          <p:attrName>ppt_x</p:attrName>
                                        </p:attrNameLst>
                                      </p:cBhvr>
                                      <p:tavLst>
                                        <p:tav tm="0">
                                          <p:val>
                                            <p:strVal val="#ppt_x"/>
                                          </p:val>
                                        </p:tav>
                                        <p:tav tm="100000">
                                          <p:val>
                                            <p:strVal val="#ppt_x"/>
                                          </p:val>
                                        </p:tav>
                                      </p:tavLst>
                                    </p:anim>
                                    <p:anim calcmode="lin" valueType="num">
                                      <p:cBhvr>
                                        <p:cTn id="74" dur="1000" fill="hold"/>
                                        <p:tgtEl>
                                          <p:spTgt spid="22"/>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1000"/>
                                        <p:tgtEl>
                                          <p:spTgt spid="30"/>
                                        </p:tgtEl>
                                      </p:cBhvr>
                                    </p:animEffect>
                                    <p:anim calcmode="lin" valueType="num">
                                      <p:cBhvr>
                                        <p:cTn id="78" dur="1000" fill="hold"/>
                                        <p:tgtEl>
                                          <p:spTgt spid="30"/>
                                        </p:tgtEl>
                                        <p:attrNameLst>
                                          <p:attrName>ppt_x</p:attrName>
                                        </p:attrNameLst>
                                      </p:cBhvr>
                                      <p:tavLst>
                                        <p:tav tm="0">
                                          <p:val>
                                            <p:strVal val="#ppt_x"/>
                                          </p:val>
                                        </p:tav>
                                        <p:tav tm="100000">
                                          <p:val>
                                            <p:strVal val="#ppt_x"/>
                                          </p:val>
                                        </p:tav>
                                      </p:tavLst>
                                    </p:anim>
                                    <p:anim calcmode="lin" valueType="num">
                                      <p:cBhvr>
                                        <p:cTn id="7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fade">
                                      <p:cBhvr>
                                        <p:cTn id="84" dur="1000"/>
                                        <p:tgtEl>
                                          <p:spTgt spid="23"/>
                                        </p:tgtEl>
                                      </p:cBhvr>
                                    </p:animEffect>
                                    <p:anim calcmode="lin" valueType="num">
                                      <p:cBhvr>
                                        <p:cTn id="85" dur="1000" fill="hold"/>
                                        <p:tgtEl>
                                          <p:spTgt spid="23"/>
                                        </p:tgtEl>
                                        <p:attrNameLst>
                                          <p:attrName>ppt_x</p:attrName>
                                        </p:attrNameLst>
                                      </p:cBhvr>
                                      <p:tavLst>
                                        <p:tav tm="0">
                                          <p:val>
                                            <p:strVal val="#ppt_x"/>
                                          </p:val>
                                        </p:tav>
                                        <p:tav tm="100000">
                                          <p:val>
                                            <p:strVal val="#ppt_x"/>
                                          </p:val>
                                        </p:tav>
                                      </p:tavLst>
                                    </p:anim>
                                    <p:anim calcmode="lin" valueType="num">
                                      <p:cBhvr>
                                        <p:cTn id="86" dur="1000" fill="hold"/>
                                        <p:tgtEl>
                                          <p:spTgt spid="23"/>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1000"/>
                                        <p:tgtEl>
                                          <p:spTgt spid="31"/>
                                        </p:tgtEl>
                                      </p:cBhvr>
                                    </p:animEffect>
                                    <p:anim calcmode="lin" valueType="num">
                                      <p:cBhvr>
                                        <p:cTn id="90" dur="1000" fill="hold"/>
                                        <p:tgtEl>
                                          <p:spTgt spid="31"/>
                                        </p:tgtEl>
                                        <p:attrNameLst>
                                          <p:attrName>ppt_x</p:attrName>
                                        </p:attrNameLst>
                                      </p:cBhvr>
                                      <p:tavLst>
                                        <p:tav tm="0">
                                          <p:val>
                                            <p:strVal val="#ppt_x"/>
                                          </p:val>
                                        </p:tav>
                                        <p:tav tm="100000">
                                          <p:val>
                                            <p:strVal val="#ppt_x"/>
                                          </p:val>
                                        </p:tav>
                                      </p:tavLst>
                                    </p:anim>
                                    <p:anim calcmode="lin" valueType="num">
                                      <p:cBhvr>
                                        <p:cTn id="9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grpId="0" nodeType="click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fade">
                                      <p:cBhvr>
                                        <p:cTn id="96" dur="1000"/>
                                        <p:tgtEl>
                                          <p:spTgt spid="19"/>
                                        </p:tgtEl>
                                      </p:cBhvr>
                                    </p:animEffect>
                                    <p:anim calcmode="lin" valueType="num">
                                      <p:cBhvr>
                                        <p:cTn id="97" dur="1000" fill="hold"/>
                                        <p:tgtEl>
                                          <p:spTgt spid="19"/>
                                        </p:tgtEl>
                                        <p:attrNameLst>
                                          <p:attrName>ppt_x</p:attrName>
                                        </p:attrNameLst>
                                      </p:cBhvr>
                                      <p:tavLst>
                                        <p:tav tm="0">
                                          <p:val>
                                            <p:strVal val="#ppt_x"/>
                                          </p:val>
                                        </p:tav>
                                        <p:tav tm="100000">
                                          <p:val>
                                            <p:strVal val="#ppt_x"/>
                                          </p:val>
                                        </p:tav>
                                      </p:tavLst>
                                    </p:anim>
                                    <p:anim calcmode="lin" valueType="num">
                                      <p:cBhvr>
                                        <p:cTn id="98" dur="1000" fill="hold"/>
                                        <p:tgtEl>
                                          <p:spTgt spid="19"/>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7"/>
                                        </p:tgtEl>
                                        <p:attrNameLst>
                                          <p:attrName>style.visibility</p:attrName>
                                        </p:attrNameLst>
                                      </p:cBhvr>
                                      <p:to>
                                        <p:strVal val="visible"/>
                                      </p:to>
                                    </p:set>
                                    <p:animEffect transition="in" filter="fade">
                                      <p:cBhvr>
                                        <p:cTn id="101" dur="1000"/>
                                        <p:tgtEl>
                                          <p:spTgt spid="27"/>
                                        </p:tgtEl>
                                      </p:cBhvr>
                                    </p:animEffect>
                                    <p:anim calcmode="lin" valueType="num">
                                      <p:cBhvr>
                                        <p:cTn id="102" dur="1000" fill="hold"/>
                                        <p:tgtEl>
                                          <p:spTgt spid="27"/>
                                        </p:tgtEl>
                                        <p:attrNameLst>
                                          <p:attrName>ppt_x</p:attrName>
                                        </p:attrNameLst>
                                      </p:cBhvr>
                                      <p:tavLst>
                                        <p:tav tm="0">
                                          <p:val>
                                            <p:strVal val="#ppt_x"/>
                                          </p:val>
                                        </p:tav>
                                        <p:tav tm="100000">
                                          <p:val>
                                            <p:strVal val="#ppt_x"/>
                                          </p:val>
                                        </p:tav>
                                      </p:tavLst>
                                    </p:anim>
                                    <p:anim calcmode="lin" valueType="num">
                                      <p:cBhvr>
                                        <p:cTn id="10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grpId="0" nodeType="clickEffect">
                                  <p:stCondLst>
                                    <p:cond delay="0"/>
                                  </p:stCondLst>
                                  <p:childTnLst>
                                    <p:set>
                                      <p:cBhvr>
                                        <p:cTn id="107" dur="1" fill="hold">
                                          <p:stCondLst>
                                            <p:cond delay="0"/>
                                          </p:stCondLst>
                                        </p:cTn>
                                        <p:tgtEl>
                                          <p:spTgt spid="18"/>
                                        </p:tgtEl>
                                        <p:attrNameLst>
                                          <p:attrName>style.visibility</p:attrName>
                                        </p:attrNameLst>
                                      </p:cBhvr>
                                      <p:to>
                                        <p:strVal val="visible"/>
                                      </p:to>
                                    </p:set>
                                    <p:animEffect transition="in" filter="fade">
                                      <p:cBhvr>
                                        <p:cTn id="108" dur="1000"/>
                                        <p:tgtEl>
                                          <p:spTgt spid="18"/>
                                        </p:tgtEl>
                                      </p:cBhvr>
                                    </p:animEffect>
                                    <p:anim calcmode="lin" valueType="num">
                                      <p:cBhvr>
                                        <p:cTn id="109" dur="1000" fill="hold"/>
                                        <p:tgtEl>
                                          <p:spTgt spid="18"/>
                                        </p:tgtEl>
                                        <p:attrNameLst>
                                          <p:attrName>ppt_x</p:attrName>
                                        </p:attrNameLst>
                                      </p:cBhvr>
                                      <p:tavLst>
                                        <p:tav tm="0">
                                          <p:val>
                                            <p:strVal val="#ppt_x"/>
                                          </p:val>
                                        </p:tav>
                                        <p:tav tm="100000">
                                          <p:val>
                                            <p:strVal val="#ppt_x"/>
                                          </p:val>
                                        </p:tav>
                                      </p:tavLst>
                                    </p:anim>
                                    <p:anim calcmode="lin" valueType="num">
                                      <p:cBhvr>
                                        <p:cTn id="110" dur="1000" fill="hold"/>
                                        <p:tgtEl>
                                          <p:spTgt spid="18"/>
                                        </p:tgtEl>
                                        <p:attrNameLst>
                                          <p:attrName>ppt_y</p:attrName>
                                        </p:attrNameLst>
                                      </p:cBhvr>
                                      <p:tavLst>
                                        <p:tav tm="0">
                                          <p:val>
                                            <p:strVal val="#ppt_y+.1"/>
                                          </p:val>
                                        </p:tav>
                                        <p:tav tm="100000">
                                          <p:val>
                                            <p:strVal val="#ppt_y"/>
                                          </p:val>
                                        </p:tav>
                                      </p:tavLst>
                                    </p:anim>
                                  </p:childTnLst>
                                </p:cTn>
                              </p:par>
                              <p:par>
                                <p:cTn id="111" presetID="42" presetClass="entr" presetSubtype="0" fill="hold" grpId="0" nodeType="withEffect">
                                  <p:stCondLst>
                                    <p:cond delay="0"/>
                                  </p:stCondLst>
                                  <p:childTnLst>
                                    <p:set>
                                      <p:cBhvr>
                                        <p:cTn id="112" dur="1" fill="hold">
                                          <p:stCondLst>
                                            <p:cond delay="0"/>
                                          </p:stCondLst>
                                        </p:cTn>
                                        <p:tgtEl>
                                          <p:spTgt spid="26"/>
                                        </p:tgtEl>
                                        <p:attrNameLst>
                                          <p:attrName>style.visibility</p:attrName>
                                        </p:attrNameLst>
                                      </p:cBhvr>
                                      <p:to>
                                        <p:strVal val="visible"/>
                                      </p:to>
                                    </p:set>
                                    <p:animEffect transition="in" filter="fade">
                                      <p:cBhvr>
                                        <p:cTn id="113" dur="1000"/>
                                        <p:tgtEl>
                                          <p:spTgt spid="26"/>
                                        </p:tgtEl>
                                      </p:cBhvr>
                                    </p:animEffect>
                                    <p:anim calcmode="lin" valueType="num">
                                      <p:cBhvr>
                                        <p:cTn id="114" dur="1000" fill="hold"/>
                                        <p:tgtEl>
                                          <p:spTgt spid="26"/>
                                        </p:tgtEl>
                                        <p:attrNameLst>
                                          <p:attrName>ppt_x</p:attrName>
                                        </p:attrNameLst>
                                      </p:cBhvr>
                                      <p:tavLst>
                                        <p:tav tm="0">
                                          <p:val>
                                            <p:strVal val="#ppt_x"/>
                                          </p:val>
                                        </p:tav>
                                        <p:tav tm="100000">
                                          <p:val>
                                            <p:strVal val="#ppt_x"/>
                                          </p:val>
                                        </p:tav>
                                      </p:tavLst>
                                    </p:anim>
                                    <p:anim calcmode="lin" valueType="num">
                                      <p:cBhvr>
                                        <p:cTn id="115"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useBgFill="1">
        <p:nvSpPr>
          <p:cNvPr id="6" name="Freeform 5"/>
          <p:cNvSpPr/>
          <p:nvPr/>
        </p:nvSpPr>
        <p:spPr>
          <a:xfrm rot="13638925">
            <a:off x="7219241" y="-2729383"/>
            <a:ext cx="12660583" cy="12865817"/>
          </a:xfrm>
          <a:custGeom>
            <a:avLst/>
            <a:gdLst>
              <a:gd name="connsiteX0" fmla="*/ 5410845 w 7126942"/>
              <a:gd name="connsiteY0" fmla="*/ 3396245 h 6855055"/>
              <a:gd name="connsiteX1" fmla="*/ 7126146 w 7126942"/>
              <a:gd name="connsiteY1" fmla="*/ 3396245 h 6855055"/>
              <a:gd name="connsiteX2" fmla="*/ 7126942 w 7126942"/>
              <a:gd name="connsiteY2" fmla="*/ 3427527 h 6855055"/>
              <a:gd name="connsiteX3" fmla="*/ 3746847 w 7126942"/>
              <a:gd name="connsiteY3" fmla="*/ 6852065 h 6855055"/>
              <a:gd name="connsiteX4" fmla="*/ 3651655 w 7126942"/>
              <a:gd name="connsiteY4" fmla="*/ 6854382 h 6855055"/>
              <a:gd name="connsiteX5" fmla="*/ 3651655 w 7126942"/>
              <a:gd name="connsiteY5" fmla="*/ 5137898 h 6855055"/>
              <a:gd name="connsiteX6" fmla="*/ 3752518 w 7126942"/>
              <a:gd name="connsiteY6" fmla="*/ 5133176 h 6855055"/>
              <a:gd name="connsiteX7" fmla="*/ 5412442 w 7126942"/>
              <a:gd name="connsiteY7" fmla="*/ 3427527 h 6855055"/>
              <a:gd name="connsiteX8" fmla="*/ 797 w 7126942"/>
              <a:gd name="connsiteY8" fmla="*/ 3396245 h 6855055"/>
              <a:gd name="connsiteX9" fmla="*/ 1716098 w 7126942"/>
              <a:gd name="connsiteY9" fmla="*/ 3396245 h 6855055"/>
              <a:gd name="connsiteX10" fmla="*/ 1714500 w 7126942"/>
              <a:gd name="connsiteY10" fmla="*/ 3427527 h 6855055"/>
              <a:gd name="connsiteX11" fmla="*/ 3374425 w 7126942"/>
              <a:gd name="connsiteY11" fmla="*/ 5133176 h 6855055"/>
              <a:gd name="connsiteX12" fmla="*/ 3502958 w 7126942"/>
              <a:gd name="connsiteY12" fmla="*/ 5139194 h 6855055"/>
              <a:gd name="connsiteX13" fmla="*/ 3502958 w 7126942"/>
              <a:gd name="connsiteY13" fmla="*/ 6855055 h 6855055"/>
              <a:gd name="connsiteX14" fmla="*/ 3380095 w 7126942"/>
              <a:gd name="connsiteY14" fmla="*/ 6852065 h 6855055"/>
              <a:gd name="connsiteX15" fmla="*/ 0 w 7126942"/>
              <a:gd name="connsiteY15" fmla="*/ 3427527 h 6855055"/>
              <a:gd name="connsiteX16" fmla="*/ 3651655 w 7126942"/>
              <a:gd name="connsiteY16" fmla="*/ 673 h 6855055"/>
              <a:gd name="connsiteX17" fmla="*/ 3746847 w 7126942"/>
              <a:gd name="connsiteY17" fmla="*/ 2989 h 6855055"/>
              <a:gd name="connsiteX18" fmla="*/ 7122589 w 7126942"/>
              <a:gd name="connsiteY18" fmla="*/ 3256552 h 6855055"/>
              <a:gd name="connsiteX19" fmla="*/ 7123205 w 7126942"/>
              <a:gd name="connsiteY19" fmla="*/ 3280742 h 6855055"/>
              <a:gd name="connsiteX20" fmla="*/ 5404947 w 7126942"/>
              <a:gd name="connsiteY20" fmla="*/ 3280742 h 6855055"/>
              <a:gd name="connsiteX21" fmla="*/ 5404044 w 7126942"/>
              <a:gd name="connsiteY21" fmla="*/ 3263046 h 6855055"/>
              <a:gd name="connsiteX22" fmla="*/ 3752518 w 7126942"/>
              <a:gd name="connsiteY22" fmla="*/ 1721879 h 6855055"/>
              <a:gd name="connsiteX23" fmla="*/ 3651655 w 7126942"/>
              <a:gd name="connsiteY23" fmla="*/ 1717156 h 6855055"/>
              <a:gd name="connsiteX24" fmla="*/ 3502958 w 7126942"/>
              <a:gd name="connsiteY24" fmla="*/ 0 h 6855055"/>
              <a:gd name="connsiteX25" fmla="*/ 3502958 w 7126942"/>
              <a:gd name="connsiteY25" fmla="*/ 1715861 h 6855055"/>
              <a:gd name="connsiteX26" fmla="*/ 3374425 w 7126942"/>
              <a:gd name="connsiteY26" fmla="*/ 1721879 h 6855055"/>
              <a:gd name="connsiteX27" fmla="*/ 1722899 w 7126942"/>
              <a:gd name="connsiteY27" fmla="*/ 3263046 h 6855055"/>
              <a:gd name="connsiteX28" fmla="*/ 1721995 w 7126942"/>
              <a:gd name="connsiteY28" fmla="*/ 3280742 h 6855055"/>
              <a:gd name="connsiteX29" fmla="*/ 3737 w 7126942"/>
              <a:gd name="connsiteY29" fmla="*/ 3280742 h 6855055"/>
              <a:gd name="connsiteX30" fmla="*/ 4353 w 7126942"/>
              <a:gd name="connsiteY30" fmla="*/ 3256552 h 6855055"/>
              <a:gd name="connsiteX31" fmla="*/ 3380095 w 7126942"/>
              <a:gd name="connsiteY31" fmla="*/ 2989 h 685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126942" h="6855055">
                <a:moveTo>
                  <a:pt x="5410845" y="3396245"/>
                </a:moveTo>
                <a:lnTo>
                  <a:pt x="7126146" y="3396245"/>
                </a:lnTo>
                <a:lnTo>
                  <a:pt x="7126942" y="3427527"/>
                </a:lnTo>
                <a:cubicBezTo>
                  <a:pt x="7126942" y="5262131"/>
                  <a:pt x="5629678" y="6760226"/>
                  <a:pt x="3746847" y="6852065"/>
                </a:cubicBezTo>
                <a:lnTo>
                  <a:pt x="3651655" y="6854382"/>
                </a:lnTo>
                <a:lnTo>
                  <a:pt x="3651655" y="5137898"/>
                </a:lnTo>
                <a:lnTo>
                  <a:pt x="3752518" y="5133176"/>
                </a:lnTo>
                <a:cubicBezTo>
                  <a:pt x="4684872" y="5045376"/>
                  <a:pt x="5412442" y="4315238"/>
                  <a:pt x="5412442" y="3427527"/>
                </a:cubicBezTo>
                <a:close/>
                <a:moveTo>
                  <a:pt x="797" y="3396245"/>
                </a:moveTo>
                <a:lnTo>
                  <a:pt x="1716098" y="3396245"/>
                </a:lnTo>
                <a:lnTo>
                  <a:pt x="1714500" y="3427527"/>
                </a:lnTo>
                <a:cubicBezTo>
                  <a:pt x="1714500" y="4315238"/>
                  <a:pt x="2442070" y="5045376"/>
                  <a:pt x="3374425" y="5133176"/>
                </a:cubicBezTo>
                <a:lnTo>
                  <a:pt x="3502958" y="5139194"/>
                </a:lnTo>
                <a:lnTo>
                  <a:pt x="3502958" y="6855055"/>
                </a:lnTo>
                <a:lnTo>
                  <a:pt x="3380095" y="6852065"/>
                </a:lnTo>
                <a:cubicBezTo>
                  <a:pt x="1497265" y="6760226"/>
                  <a:pt x="0" y="5262131"/>
                  <a:pt x="0" y="3427527"/>
                </a:cubicBezTo>
                <a:close/>
                <a:moveTo>
                  <a:pt x="3651655" y="673"/>
                </a:moveTo>
                <a:lnTo>
                  <a:pt x="3746847" y="2989"/>
                </a:lnTo>
                <a:cubicBezTo>
                  <a:pt x="5570839" y="91958"/>
                  <a:pt x="7032986" y="1500666"/>
                  <a:pt x="7122589" y="3256552"/>
                </a:cubicBezTo>
                <a:lnTo>
                  <a:pt x="7123205" y="3280742"/>
                </a:lnTo>
                <a:lnTo>
                  <a:pt x="5404947" y="3280742"/>
                </a:lnTo>
                <a:lnTo>
                  <a:pt x="5404044" y="3263046"/>
                </a:lnTo>
                <a:cubicBezTo>
                  <a:pt x="5320696" y="2451058"/>
                  <a:pt x="4626600" y="1804191"/>
                  <a:pt x="3752518" y="1721879"/>
                </a:cubicBezTo>
                <a:lnTo>
                  <a:pt x="3651655" y="1717156"/>
                </a:lnTo>
                <a:close/>
                <a:moveTo>
                  <a:pt x="3502958" y="0"/>
                </a:moveTo>
                <a:lnTo>
                  <a:pt x="3502958" y="1715861"/>
                </a:lnTo>
                <a:lnTo>
                  <a:pt x="3374425" y="1721879"/>
                </a:lnTo>
                <a:cubicBezTo>
                  <a:pt x="2500343" y="1804191"/>
                  <a:pt x="1806247" y="2451058"/>
                  <a:pt x="1722899" y="3263046"/>
                </a:cubicBezTo>
                <a:lnTo>
                  <a:pt x="1721995" y="3280742"/>
                </a:lnTo>
                <a:lnTo>
                  <a:pt x="3737" y="3280742"/>
                </a:lnTo>
                <a:lnTo>
                  <a:pt x="4353" y="3256552"/>
                </a:lnTo>
                <a:cubicBezTo>
                  <a:pt x="93956" y="1500666"/>
                  <a:pt x="1556103" y="91958"/>
                  <a:pt x="3380095" y="2989"/>
                </a:cubicBezTo>
                <a:close/>
              </a:path>
            </a:pathLst>
          </a:custGeom>
          <a:ln>
            <a:noFill/>
          </a:ln>
          <a:effectLst>
            <a:outerShdw blurRad="508000" dist="50800" dir="5400000" algn="ctr" rotWithShape="0">
              <a:srgbClr val="000000">
                <a:alpha val="7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solidFill>
                <a:schemeClr val="tx1"/>
              </a:solidFill>
            </a:endParaRPr>
          </a:p>
        </p:txBody>
      </p:sp>
      <p:sp>
        <p:nvSpPr>
          <p:cNvPr id="9" name="Title 5">
            <a:extLst>
              <a:ext uri="{FF2B5EF4-FFF2-40B4-BE49-F238E27FC236}">
                <a16:creationId xmlns="" xmlns:a16="http://schemas.microsoft.com/office/drawing/2014/main" id="{A3E08FA2-C73F-A01D-C334-4FAC0DB0C177}"/>
              </a:ext>
            </a:extLst>
          </p:cNvPr>
          <p:cNvSpPr txBox="1">
            <a:spLocks/>
          </p:cNvSpPr>
          <p:nvPr/>
        </p:nvSpPr>
        <p:spPr>
          <a:xfrm>
            <a:off x="579438" y="353632"/>
            <a:ext cx="9021762" cy="814493"/>
          </a:xfrm>
          <a:prstGeom prst="rect">
            <a:avLst/>
          </a:prstGeom>
          <a:effectLst>
            <a:outerShdw blurRad="50800" dist="50800" dir="5400000" algn="ctr" rotWithShape="0">
              <a:schemeClr val="tx1"/>
            </a:outerShdw>
          </a:effectLst>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solidFill>
                  <a:schemeClr val="bg1"/>
                </a:solidFill>
              </a:rPr>
              <a:t>Authentication </a:t>
            </a:r>
            <a:r>
              <a:rPr lang="en-US" sz="4000" b="1" dirty="0">
                <a:solidFill>
                  <a:schemeClr val="bg1"/>
                </a:solidFill>
              </a:rPr>
              <a:t>&amp; RBAC Architecture</a:t>
            </a:r>
          </a:p>
          <a:p>
            <a:endParaRPr lang="en-US" dirty="0">
              <a:solidFill>
                <a:schemeClr val="bg1"/>
              </a:solidFill>
            </a:endParaRPr>
          </a:p>
        </p:txBody>
      </p:sp>
      <p:sp>
        <p:nvSpPr>
          <p:cNvPr id="10"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457200" y="1168126"/>
            <a:ext cx="5425440" cy="4663714"/>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1">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05539" y="1334532"/>
            <a:ext cx="5134861" cy="415993"/>
          </a:xfrm>
          <a:prstGeom prst="roundRect">
            <a:avLst>
              <a:gd name="adj" fmla="val 15951"/>
            </a:avLst>
          </a:prstGeom>
          <a:solidFill>
            <a:schemeClr val="tx2">
              <a:lumMod val="7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ARCHITECTURE FLOW</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pic>
        <p:nvPicPr>
          <p:cNvPr id="12" name="Picture 11"/>
          <p:cNvPicPr>
            <a:picLocks noChangeAspect="1"/>
          </p:cNvPicPr>
          <p:nvPr/>
        </p:nvPicPr>
        <p:blipFill>
          <a:blip r:embed="rId4"/>
          <a:stretch>
            <a:fillRect/>
          </a:stretch>
        </p:blipFill>
        <p:spPr>
          <a:xfrm>
            <a:off x="752720" y="3242730"/>
            <a:ext cx="725421" cy="909132"/>
          </a:xfrm>
          <a:prstGeom prst="rect">
            <a:avLst/>
          </a:prstGeom>
        </p:spPr>
      </p:pic>
      <p:pic>
        <p:nvPicPr>
          <p:cNvPr id="13" name="Picture 12"/>
          <p:cNvPicPr>
            <a:picLocks noChangeAspect="1"/>
          </p:cNvPicPr>
          <p:nvPr/>
        </p:nvPicPr>
        <p:blipFill>
          <a:blip r:embed="rId5"/>
          <a:stretch>
            <a:fillRect/>
          </a:stretch>
        </p:blipFill>
        <p:spPr>
          <a:xfrm>
            <a:off x="985243" y="1894328"/>
            <a:ext cx="2337077" cy="1241572"/>
          </a:xfrm>
          <a:prstGeom prst="rect">
            <a:avLst/>
          </a:prstGeom>
        </p:spPr>
      </p:pic>
      <p:pic>
        <p:nvPicPr>
          <p:cNvPr id="14" name="Picture 13"/>
          <p:cNvPicPr>
            <a:picLocks noChangeAspect="1"/>
          </p:cNvPicPr>
          <p:nvPr/>
        </p:nvPicPr>
        <p:blipFill>
          <a:blip r:embed="rId6"/>
          <a:stretch>
            <a:fillRect/>
          </a:stretch>
        </p:blipFill>
        <p:spPr>
          <a:xfrm>
            <a:off x="3397008" y="2361738"/>
            <a:ext cx="1930103" cy="1548324"/>
          </a:xfrm>
          <a:prstGeom prst="rect">
            <a:avLst/>
          </a:prstGeom>
        </p:spPr>
      </p:pic>
      <p:pic>
        <p:nvPicPr>
          <p:cNvPr id="15" name="Picture 14"/>
          <p:cNvPicPr>
            <a:picLocks noChangeAspect="1"/>
          </p:cNvPicPr>
          <p:nvPr/>
        </p:nvPicPr>
        <p:blipFill>
          <a:blip r:embed="rId7"/>
          <a:stretch>
            <a:fillRect/>
          </a:stretch>
        </p:blipFill>
        <p:spPr>
          <a:xfrm>
            <a:off x="2731154" y="3910062"/>
            <a:ext cx="2595957" cy="1130754"/>
          </a:xfrm>
          <a:prstGeom prst="rect">
            <a:avLst/>
          </a:prstGeom>
        </p:spPr>
      </p:pic>
      <p:pic>
        <p:nvPicPr>
          <p:cNvPr id="16" name="Picture 15"/>
          <p:cNvPicPr>
            <a:picLocks noChangeAspect="1"/>
          </p:cNvPicPr>
          <p:nvPr/>
        </p:nvPicPr>
        <p:blipFill>
          <a:blip r:embed="rId8"/>
          <a:stretch>
            <a:fillRect/>
          </a:stretch>
        </p:blipFill>
        <p:spPr>
          <a:xfrm>
            <a:off x="870174" y="4501026"/>
            <a:ext cx="1860980" cy="956616"/>
          </a:xfrm>
          <a:prstGeom prst="rect">
            <a:avLst/>
          </a:prstGeom>
        </p:spPr>
      </p:pic>
      <p:sp>
        <p:nvSpPr>
          <p:cNvPr id="17"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6043688" y="1168125"/>
            <a:ext cx="5273040" cy="2074605"/>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2027" y="1334531"/>
            <a:ext cx="4951969" cy="619933"/>
          </a:xfrm>
          <a:prstGeom prst="roundRect">
            <a:avLst>
              <a:gd name="adj" fmla="val 15951"/>
            </a:avLst>
          </a:prstGeom>
          <a:solidFill>
            <a:schemeClr val="tx2">
              <a:lumMod val="7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AUTHENTICATION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9" name="Text Placeholder 2">
            <a:extLst>
              <a:ext uri="{FF2B5EF4-FFF2-40B4-BE49-F238E27FC236}">
                <a16:creationId xmlns="" xmlns:a16="http://schemas.microsoft.com/office/drawing/2014/main" id="{E15275E9-F296-1E2D-E2D3-6BAE1C5EFAAF}"/>
              </a:ext>
            </a:extLst>
          </p:cNvPr>
          <p:cNvSpPr txBox="1">
            <a:spLocks/>
          </p:cNvSpPr>
          <p:nvPr/>
        </p:nvSpPr>
        <p:spPr>
          <a:xfrm>
            <a:off x="6216420" y="2163785"/>
            <a:ext cx="4927576" cy="732508"/>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MY" sz="1400" dirty="0" smtClean="0"/>
              <a:t>User </a:t>
            </a:r>
            <a:r>
              <a:rPr lang="en-MY" sz="1400" dirty="0"/>
              <a:t>login via username/password</a:t>
            </a:r>
          </a:p>
          <a:p>
            <a:r>
              <a:rPr lang="en-MY" sz="1400" dirty="0" smtClean="0"/>
              <a:t>OIDC </a:t>
            </a:r>
            <a:r>
              <a:rPr lang="en-MY" sz="1400" dirty="0"/>
              <a:t>integration using </a:t>
            </a:r>
            <a:r>
              <a:rPr lang="en-MY" sz="1400" b="1" dirty="0" err="1" smtClean="0"/>
              <a:t>Dex</a:t>
            </a:r>
            <a:r>
              <a:rPr lang="en-MY" sz="1400" b="1" dirty="0" smtClean="0"/>
              <a:t> / </a:t>
            </a:r>
            <a:r>
              <a:rPr lang="en-MY" sz="1400" b="1" dirty="0" err="1" smtClean="0"/>
              <a:t>KeyCloak</a:t>
            </a:r>
            <a:r>
              <a:rPr lang="en-MY" sz="1400" b="1" dirty="0" smtClean="0"/>
              <a:t> / SSO</a:t>
            </a:r>
            <a:endParaRPr lang="en-MY" sz="1400" b="1" dirty="0"/>
          </a:p>
          <a:p>
            <a:r>
              <a:rPr lang="en-MY" sz="1400" dirty="0" smtClean="0"/>
              <a:t>Centralized </a:t>
            </a:r>
            <a:r>
              <a:rPr lang="en-MY" sz="1400" dirty="0"/>
              <a:t>identity management</a:t>
            </a:r>
          </a:p>
        </p:txBody>
      </p:sp>
      <p:sp>
        <p:nvSpPr>
          <p:cNvPr id="20"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6043688" y="3811952"/>
            <a:ext cx="5273040" cy="1918288"/>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2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2027" y="3978358"/>
            <a:ext cx="4951969" cy="619933"/>
          </a:xfrm>
          <a:prstGeom prst="roundRect">
            <a:avLst>
              <a:gd name="adj" fmla="val 15951"/>
            </a:avLst>
          </a:prstGeom>
          <a:solidFill>
            <a:schemeClr val="tx2">
              <a:lumMod val="7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AUTHORIZATION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2" name="Text Placeholder 2">
            <a:extLst>
              <a:ext uri="{FF2B5EF4-FFF2-40B4-BE49-F238E27FC236}">
                <a16:creationId xmlns="" xmlns:a16="http://schemas.microsoft.com/office/drawing/2014/main" id="{E15275E9-F296-1E2D-E2D3-6BAE1C5EFAAF}"/>
              </a:ext>
            </a:extLst>
          </p:cNvPr>
          <p:cNvSpPr txBox="1">
            <a:spLocks/>
          </p:cNvSpPr>
          <p:nvPr/>
        </p:nvSpPr>
        <p:spPr>
          <a:xfrm>
            <a:off x="6216420" y="4807612"/>
            <a:ext cx="4927576" cy="732508"/>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err="1" smtClean="0"/>
              <a:t>Kubernetes</a:t>
            </a:r>
            <a:r>
              <a:rPr lang="en-US" sz="1400" dirty="0" smtClean="0"/>
              <a:t>-native </a:t>
            </a:r>
            <a:r>
              <a:rPr lang="en-US" sz="1400" dirty="0"/>
              <a:t>RBAC</a:t>
            </a:r>
          </a:p>
          <a:p>
            <a:r>
              <a:rPr lang="en-US" sz="1400" dirty="0" smtClean="0"/>
              <a:t>Team-based </a:t>
            </a:r>
            <a:r>
              <a:rPr lang="en-US" sz="1400" dirty="0"/>
              <a:t>access control</a:t>
            </a:r>
          </a:p>
          <a:p>
            <a:r>
              <a:rPr lang="en-US" sz="1400" dirty="0" smtClean="0"/>
              <a:t>Namespace </a:t>
            </a:r>
            <a:r>
              <a:rPr lang="en-US" sz="1400" dirty="0"/>
              <a:t>isolation</a:t>
            </a:r>
          </a:p>
        </p:txBody>
      </p:sp>
    </p:spTree>
    <p:extLst>
      <p:ext uri="{BB962C8B-B14F-4D97-AF65-F5344CB8AC3E}">
        <p14:creationId xmlns:p14="http://schemas.microsoft.com/office/powerpoint/2010/main" val="1188254272"/>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1000"/>
                                        <p:tgtEl>
                                          <p:spTgt spid="22"/>
                                        </p:tgtEl>
                                      </p:cBhvr>
                                    </p:animEffect>
                                    <p:anim calcmode="lin" valueType="num">
                                      <p:cBhvr>
                                        <p:cTn id="15" dur="1000" fill="hold"/>
                                        <p:tgtEl>
                                          <p:spTgt spid="22"/>
                                        </p:tgtEl>
                                        <p:attrNameLst>
                                          <p:attrName>ppt_x</p:attrName>
                                        </p:attrNameLst>
                                      </p:cBhvr>
                                      <p:tavLst>
                                        <p:tav tm="0">
                                          <p:val>
                                            <p:strVal val="#ppt_x"/>
                                          </p:val>
                                        </p:tav>
                                        <p:tav tm="100000">
                                          <p:val>
                                            <p:strVal val="#ppt_x"/>
                                          </p:val>
                                        </p:tav>
                                      </p:tavLst>
                                    </p:anim>
                                    <p:anim calcmode="lin" valueType="num">
                                      <p:cBhvr>
                                        <p:cTn id="1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1000"/>
                                        <p:tgtEl>
                                          <p:spTgt spid="13"/>
                                        </p:tgtEl>
                                      </p:cBhvr>
                                    </p:animEffect>
                                    <p:anim calcmode="lin" valueType="num">
                                      <p:cBhvr>
                                        <p:cTn id="39" dur="1000" fill="hold"/>
                                        <p:tgtEl>
                                          <p:spTgt spid="13"/>
                                        </p:tgtEl>
                                        <p:attrNameLst>
                                          <p:attrName>ppt_x</p:attrName>
                                        </p:attrNameLst>
                                      </p:cBhvr>
                                      <p:tavLst>
                                        <p:tav tm="0">
                                          <p:val>
                                            <p:strVal val="#ppt_x"/>
                                          </p:val>
                                        </p:tav>
                                        <p:tav tm="100000">
                                          <p:val>
                                            <p:strVal val="#ppt_x"/>
                                          </p:val>
                                        </p:tav>
                                      </p:tavLst>
                                    </p:anim>
                                    <p:anim calcmode="lin" valueType="num">
                                      <p:cBhvr>
                                        <p:cTn id="4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1000"/>
                                        <p:tgtEl>
                                          <p:spTgt spid="14"/>
                                        </p:tgtEl>
                                      </p:cBhvr>
                                    </p:animEffect>
                                    <p:anim calcmode="lin" valueType="num">
                                      <p:cBhvr>
                                        <p:cTn id="46" dur="1000" fill="hold"/>
                                        <p:tgtEl>
                                          <p:spTgt spid="14"/>
                                        </p:tgtEl>
                                        <p:attrNameLst>
                                          <p:attrName>ppt_x</p:attrName>
                                        </p:attrNameLst>
                                      </p:cBhvr>
                                      <p:tavLst>
                                        <p:tav tm="0">
                                          <p:val>
                                            <p:strVal val="#ppt_x"/>
                                          </p:val>
                                        </p:tav>
                                        <p:tav tm="100000">
                                          <p:val>
                                            <p:strVal val="#ppt_x"/>
                                          </p:val>
                                        </p:tav>
                                      </p:tavLst>
                                    </p:anim>
                                    <p:anim calcmode="lin" valueType="num">
                                      <p:cBhvr>
                                        <p:cTn id="47"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1000"/>
                                        <p:tgtEl>
                                          <p:spTgt spid="15"/>
                                        </p:tgtEl>
                                      </p:cBhvr>
                                    </p:animEffect>
                                    <p:anim calcmode="lin" valueType="num">
                                      <p:cBhvr>
                                        <p:cTn id="53" dur="1000" fill="hold"/>
                                        <p:tgtEl>
                                          <p:spTgt spid="15"/>
                                        </p:tgtEl>
                                        <p:attrNameLst>
                                          <p:attrName>ppt_x</p:attrName>
                                        </p:attrNameLst>
                                      </p:cBhvr>
                                      <p:tavLst>
                                        <p:tav tm="0">
                                          <p:val>
                                            <p:strVal val="#ppt_x"/>
                                          </p:val>
                                        </p:tav>
                                        <p:tav tm="100000">
                                          <p:val>
                                            <p:strVal val="#ppt_x"/>
                                          </p:val>
                                        </p:tav>
                                      </p:tavLst>
                                    </p:anim>
                                    <p:anim calcmode="lin" valueType="num">
                                      <p:cBhvr>
                                        <p:cTn id="5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1000"/>
                                        <p:tgtEl>
                                          <p:spTgt spid="16"/>
                                        </p:tgtEl>
                                      </p:cBhvr>
                                    </p:animEffect>
                                    <p:anim calcmode="lin" valueType="num">
                                      <p:cBhvr>
                                        <p:cTn id="60" dur="1000" fill="hold"/>
                                        <p:tgtEl>
                                          <p:spTgt spid="16"/>
                                        </p:tgtEl>
                                        <p:attrNameLst>
                                          <p:attrName>ppt_x</p:attrName>
                                        </p:attrNameLst>
                                      </p:cBhvr>
                                      <p:tavLst>
                                        <p:tav tm="0">
                                          <p:val>
                                            <p:strVal val="#ppt_x"/>
                                          </p:val>
                                        </p:tav>
                                        <p:tav tm="100000">
                                          <p:val>
                                            <p:strVal val="#ppt_x"/>
                                          </p:val>
                                        </p:tav>
                                      </p:tavLst>
                                    </p:anim>
                                    <p:anim calcmode="lin" valueType="num">
                                      <p:cBhvr>
                                        <p:cTn id="6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9"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useBgFill="1">
        <p:nvSpPr>
          <p:cNvPr id="6" name="Freeform 5"/>
          <p:cNvSpPr/>
          <p:nvPr/>
        </p:nvSpPr>
        <p:spPr>
          <a:xfrm rot="8395941">
            <a:off x="7219241" y="-2729383"/>
            <a:ext cx="12660583" cy="12865817"/>
          </a:xfrm>
          <a:custGeom>
            <a:avLst/>
            <a:gdLst>
              <a:gd name="connsiteX0" fmla="*/ 5410845 w 7126942"/>
              <a:gd name="connsiteY0" fmla="*/ 3396245 h 6855055"/>
              <a:gd name="connsiteX1" fmla="*/ 7126146 w 7126942"/>
              <a:gd name="connsiteY1" fmla="*/ 3396245 h 6855055"/>
              <a:gd name="connsiteX2" fmla="*/ 7126942 w 7126942"/>
              <a:gd name="connsiteY2" fmla="*/ 3427527 h 6855055"/>
              <a:gd name="connsiteX3" fmla="*/ 3746847 w 7126942"/>
              <a:gd name="connsiteY3" fmla="*/ 6852065 h 6855055"/>
              <a:gd name="connsiteX4" fmla="*/ 3651655 w 7126942"/>
              <a:gd name="connsiteY4" fmla="*/ 6854382 h 6855055"/>
              <a:gd name="connsiteX5" fmla="*/ 3651655 w 7126942"/>
              <a:gd name="connsiteY5" fmla="*/ 5137898 h 6855055"/>
              <a:gd name="connsiteX6" fmla="*/ 3752518 w 7126942"/>
              <a:gd name="connsiteY6" fmla="*/ 5133176 h 6855055"/>
              <a:gd name="connsiteX7" fmla="*/ 5412442 w 7126942"/>
              <a:gd name="connsiteY7" fmla="*/ 3427527 h 6855055"/>
              <a:gd name="connsiteX8" fmla="*/ 797 w 7126942"/>
              <a:gd name="connsiteY8" fmla="*/ 3396245 h 6855055"/>
              <a:gd name="connsiteX9" fmla="*/ 1716098 w 7126942"/>
              <a:gd name="connsiteY9" fmla="*/ 3396245 h 6855055"/>
              <a:gd name="connsiteX10" fmla="*/ 1714500 w 7126942"/>
              <a:gd name="connsiteY10" fmla="*/ 3427527 h 6855055"/>
              <a:gd name="connsiteX11" fmla="*/ 3374425 w 7126942"/>
              <a:gd name="connsiteY11" fmla="*/ 5133176 h 6855055"/>
              <a:gd name="connsiteX12" fmla="*/ 3502958 w 7126942"/>
              <a:gd name="connsiteY12" fmla="*/ 5139194 h 6855055"/>
              <a:gd name="connsiteX13" fmla="*/ 3502958 w 7126942"/>
              <a:gd name="connsiteY13" fmla="*/ 6855055 h 6855055"/>
              <a:gd name="connsiteX14" fmla="*/ 3380095 w 7126942"/>
              <a:gd name="connsiteY14" fmla="*/ 6852065 h 6855055"/>
              <a:gd name="connsiteX15" fmla="*/ 0 w 7126942"/>
              <a:gd name="connsiteY15" fmla="*/ 3427527 h 6855055"/>
              <a:gd name="connsiteX16" fmla="*/ 3651655 w 7126942"/>
              <a:gd name="connsiteY16" fmla="*/ 673 h 6855055"/>
              <a:gd name="connsiteX17" fmla="*/ 3746847 w 7126942"/>
              <a:gd name="connsiteY17" fmla="*/ 2989 h 6855055"/>
              <a:gd name="connsiteX18" fmla="*/ 7122589 w 7126942"/>
              <a:gd name="connsiteY18" fmla="*/ 3256552 h 6855055"/>
              <a:gd name="connsiteX19" fmla="*/ 7123205 w 7126942"/>
              <a:gd name="connsiteY19" fmla="*/ 3280742 h 6855055"/>
              <a:gd name="connsiteX20" fmla="*/ 5404947 w 7126942"/>
              <a:gd name="connsiteY20" fmla="*/ 3280742 h 6855055"/>
              <a:gd name="connsiteX21" fmla="*/ 5404044 w 7126942"/>
              <a:gd name="connsiteY21" fmla="*/ 3263046 h 6855055"/>
              <a:gd name="connsiteX22" fmla="*/ 3752518 w 7126942"/>
              <a:gd name="connsiteY22" fmla="*/ 1721879 h 6855055"/>
              <a:gd name="connsiteX23" fmla="*/ 3651655 w 7126942"/>
              <a:gd name="connsiteY23" fmla="*/ 1717156 h 6855055"/>
              <a:gd name="connsiteX24" fmla="*/ 3502958 w 7126942"/>
              <a:gd name="connsiteY24" fmla="*/ 0 h 6855055"/>
              <a:gd name="connsiteX25" fmla="*/ 3502958 w 7126942"/>
              <a:gd name="connsiteY25" fmla="*/ 1715861 h 6855055"/>
              <a:gd name="connsiteX26" fmla="*/ 3374425 w 7126942"/>
              <a:gd name="connsiteY26" fmla="*/ 1721879 h 6855055"/>
              <a:gd name="connsiteX27" fmla="*/ 1722899 w 7126942"/>
              <a:gd name="connsiteY27" fmla="*/ 3263046 h 6855055"/>
              <a:gd name="connsiteX28" fmla="*/ 1721995 w 7126942"/>
              <a:gd name="connsiteY28" fmla="*/ 3280742 h 6855055"/>
              <a:gd name="connsiteX29" fmla="*/ 3737 w 7126942"/>
              <a:gd name="connsiteY29" fmla="*/ 3280742 h 6855055"/>
              <a:gd name="connsiteX30" fmla="*/ 4353 w 7126942"/>
              <a:gd name="connsiteY30" fmla="*/ 3256552 h 6855055"/>
              <a:gd name="connsiteX31" fmla="*/ 3380095 w 7126942"/>
              <a:gd name="connsiteY31" fmla="*/ 2989 h 685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126942" h="6855055">
                <a:moveTo>
                  <a:pt x="5410845" y="3396245"/>
                </a:moveTo>
                <a:lnTo>
                  <a:pt x="7126146" y="3396245"/>
                </a:lnTo>
                <a:lnTo>
                  <a:pt x="7126942" y="3427527"/>
                </a:lnTo>
                <a:cubicBezTo>
                  <a:pt x="7126942" y="5262131"/>
                  <a:pt x="5629678" y="6760226"/>
                  <a:pt x="3746847" y="6852065"/>
                </a:cubicBezTo>
                <a:lnTo>
                  <a:pt x="3651655" y="6854382"/>
                </a:lnTo>
                <a:lnTo>
                  <a:pt x="3651655" y="5137898"/>
                </a:lnTo>
                <a:lnTo>
                  <a:pt x="3752518" y="5133176"/>
                </a:lnTo>
                <a:cubicBezTo>
                  <a:pt x="4684872" y="5045376"/>
                  <a:pt x="5412442" y="4315238"/>
                  <a:pt x="5412442" y="3427527"/>
                </a:cubicBezTo>
                <a:close/>
                <a:moveTo>
                  <a:pt x="797" y="3396245"/>
                </a:moveTo>
                <a:lnTo>
                  <a:pt x="1716098" y="3396245"/>
                </a:lnTo>
                <a:lnTo>
                  <a:pt x="1714500" y="3427527"/>
                </a:lnTo>
                <a:cubicBezTo>
                  <a:pt x="1714500" y="4315238"/>
                  <a:pt x="2442070" y="5045376"/>
                  <a:pt x="3374425" y="5133176"/>
                </a:cubicBezTo>
                <a:lnTo>
                  <a:pt x="3502958" y="5139194"/>
                </a:lnTo>
                <a:lnTo>
                  <a:pt x="3502958" y="6855055"/>
                </a:lnTo>
                <a:lnTo>
                  <a:pt x="3380095" y="6852065"/>
                </a:lnTo>
                <a:cubicBezTo>
                  <a:pt x="1497265" y="6760226"/>
                  <a:pt x="0" y="5262131"/>
                  <a:pt x="0" y="3427527"/>
                </a:cubicBezTo>
                <a:close/>
                <a:moveTo>
                  <a:pt x="3651655" y="673"/>
                </a:moveTo>
                <a:lnTo>
                  <a:pt x="3746847" y="2989"/>
                </a:lnTo>
                <a:cubicBezTo>
                  <a:pt x="5570839" y="91958"/>
                  <a:pt x="7032986" y="1500666"/>
                  <a:pt x="7122589" y="3256552"/>
                </a:cubicBezTo>
                <a:lnTo>
                  <a:pt x="7123205" y="3280742"/>
                </a:lnTo>
                <a:lnTo>
                  <a:pt x="5404947" y="3280742"/>
                </a:lnTo>
                <a:lnTo>
                  <a:pt x="5404044" y="3263046"/>
                </a:lnTo>
                <a:cubicBezTo>
                  <a:pt x="5320696" y="2451058"/>
                  <a:pt x="4626600" y="1804191"/>
                  <a:pt x="3752518" y="1721879"/>
                </a:cubicBezTo>
                <a:lnTo>
                  <a:pt x="3651655" y="1717156"/>
                </a:lnTo>
                <a:close/>
                <a:moveTo>
                  <a:pt x="3502958" y="0"/>
                </a:moveTo>
                <a:lnTo>
                  <a:pt x="3502958" y="1715861"/>
                </a:lnTo>
                <a:lnTo>
                  <a:pt x="3374425" y="1721879"/>
                </a:lnTo>
                <a:cubicBezTo>
                  <a:pt x="2500343" y="1804191"/>
                  <a:pt x="1806247" y="2451058"/>
                  <a:pt x="1722899" y="3263046"/>
                </a:cubicBezTo>
                <a:lnTo>
                  <a:pt x="1721995" y="3280742"/>
                </a:lnTo>
                <a:lnTo>
                  <a:pt x="3737" y="3280742"/>
                </a:lnTo>
                <a:lnTo>
                  <a:pt x="4353" y="3256552"/>
                </a:lnTo>
                <a:cubicBezTo>
                  <a:pt x="93956" y="1500666"/>
                  <a:pt x="1556103" y="91958"/>
                  <a:pt x="3380095" y="2989"/>
                </a:cubicBezTo>
                <a:close/>
              </a:path>
            </a:pathLst>
          </a:custGeom>
          <a:ln>
            <a:noFill/>
          </a:ln>
          <a:effectLst>
            <a:outerShdw blurRad="508000" dist="50800" dir="5400000" algn="ctr" rotWithShape="0">
              <a:srgbClr val="000000">
                <a:alpha val="7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solidFill>
                <a:schemeClr val="tx1"/>
              </a:solidFill>
            </a:endParaRPr>
          </a:p>
        </p:txBody>
      </p:sp>
      <p:sp>
        <p:nvSpPr>
          <p:cNvPr id="4" name="Title 5">
            <a:extLst>
              <a:ext uri="{FF2B5EF4-FFF2-40B4-BE49-F238E27FC236}">
                <a16:creationId xmlns="" xmlns:a16="http://schemas.microsoft.com/office/drawing/2014/main" id="{A3E08FA2-C73F-A01D-C334-4FAC0DB0C177}"/>
              </a:ext>
            </a:extLst>
          </p:cNvPr>
          <p:cNvSpPr txBox="1">
            <a:spLocks/>
          </p:cNvSpPr>
          <p:nvPr/>
        </p:nvSpPr>
        <p:spPr>
          <a:xfrm>
            <a:off x="579438" y="353632"/>
            <a:ext cx="9021762" cy="814493"/>
          </a:xfrm>
          <a:prstGeom prst="rect">
            <a:avLst/>
          </a:prstGeom>
          <a:effectLst>
            <a:outerShdw blurRad="50800" dist="50800" dir="5400000" algn="ctr" rotWithShape="0">
              <a:schemeClr val="tx1"/>
            </a:outerShdw>
          </a:effectLst>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solidFill>
                  <a:schemeClr val="bg1"/>
                </a:solidFill>
              </a:rPr>
              <a:t>Workflow Architecture &amp; Component</a:t>
            </a:r>
            <a:endParaRPr lang="en-US" sz="4000" b="1" dirty="0">
              <a:solidFill>
                <a:schemeClr val="bg1"/>
              </a:solidFill>
            </a:endParaRPr>
          </a:p>
          <a:p>
            <a:endParaRPr lang="en-US" dirty="0">
              <a:solidFill>
                <a:schemeClr val="bg1"/>
              </a:solidFill>
            </a:endParaRPr>
          </a:p>
        </p:txBody>
      </p:sp>
      <p:sp>
        <p:nvSpPr>
          <p:cNvPr id="7"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487680" y="1168125"/>
            <a:ext cx="5740400" cy="3474995"/>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72" y="1362685"/>
            <a:ext cx="2674821" cy="499495"/>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COMPONENT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3378206" y="1362685"/>
            <a:ext cx="2674821" cy="499495"/>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PURPOSE</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71" y="2084045"/>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Argo Server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20791" y="2586718"/>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Workflow Controller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40091" y="3110205"/>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K8s API Server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40091" y="3638525"/>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Workflow Executor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60411" y="4166845"/>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Artifact</a:t>
            </a:r>
            <a:r>
              <a:rPr kumimoji="0" lang="en-US" sz="1400" b="0" i="0" u="none" strike="noStrike" kern="1200" cap="none" spc="0" normalizeH="0" noProof="0" dirty="0" smtClean="0">
                <a:ln>
                  <a:noFill/>
                </a:ln>
                <a:solidFill>
                  <a:schemeClr val="bg1"/>
                </a:solidFill>
                <a:effectLst/>
                <a:uLnTx/>
                <a:uFillTx/>
                <a:latin typeface="Segoe UI Semibold"/>
                <a:ea typeface="+mn-ea"/>
                <a:cs typeface="Segoe UI" panose="020B0502040204020203" pitchFamily="34" charset="0"/>
              </a:rPr>
              <a:t> Repository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3398525" y="2094206"/>
            <a:ext cx="2674821" cy="326443"/>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UI &amp; API</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3399545" y="2596879"/>
            <a:ext cx="2674821" cy="326443"/>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err="1" smtClean="0">
                <a:solidFill>
                  <a:schemeClr val="bg1"/>
                </a:solidFill>
                <a:latin typeface="Segoe UI Semibold"/>
                <a:cs typeface="Segoe UI" panose="020B0502040204020203" pitchFamily="34" charset="0"/>
              </a:rPr>
              <a:t>Ochestrate</a:t>
            </a:r>
            <a:r>
              <a:rPr lang="en-US" sz="1400" dirty="0" smtClean="0">
                <a:solidFill>
                  <a:schemeClr val="bg1"/>
                </a:solidFill>
                <a:latin typeface="Segoe UI Semibold"/>
                <a:cs typeface="Segoe UI" panose="020B0502040204020203" pitchFamily="34" charset="0"/>
              </a:rPr>
              <a:t> Workflow</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3418845" y="3120366"/>
            <a:ext cx="2674821" cy="326443"/>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Create Pods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3423925" y="3644039"/>
            <a:ext cx="2674821" cy="296766"/>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Execute Tasks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3444245" y="4172359"/>
            <a:ext cx="2674821" cy="296766"/>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Store logs &amp; Output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0"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7739592" y="1185825"/>
            <a:ext cx="3212888" cy="2991182"/>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2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7934972" y="1362685"/>
            <a:ext cx="2674821" cy="499495"/>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SUPPORTING COMPONENT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7934971" y="2084045"/>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Artifact</a:t>
            </a:r>
            <a:r>
              <a:rPr kumimoji="0" lang="en-US" sz="1400" b="0" i="0" u="none" strike="noStrike" kern="1200" cap="none" spc="0" normalizeH="0" noProof="0" dirty="0" smtClean="0">
                <a:ln>
                  <a:noFill/>
                </a:ln>
                <a:solidFill>
                  <a:schemeClr val="bg1"/>
                </a:solidFill>
                <a:effectLst/>
                <a:uLnTx/>
                <a:uFillTx/>
                <a:latin typeface="Segoe UI Semibold"/>
                <a:ea typeface="+mn-ea"/>
                <a:cs typeface="Segoe UI" panose="020B0502040204020203" pitchFamily="34" charset="0"/>
              </a:rPr>
              <a:t> Storage</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7935991" y="2586718"/>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Workflow Templates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7955291" y="3110205"/>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Cron</a:t>
            </a: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 Workflows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7955291" y="3638525"/>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Event Triggers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6"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317618" y="4811289"/>
            <a:ext cx="11153022" cy="1317959"/>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2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459858" y="5002907"/>
            <a:ext cx="10787262" cy="375277"/>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EXAMPLES</a:t>
            </a:r>
            <a:r>
              <a:rPr kumimoji="0" lang="en-US" sz="1400" b="0" i="0" u="none" strike="noStrike" kern="1200" cap="none" spc="0" normalizeH="0" noProof="0" dirty="0" smtClean="0">
                <a:ln>
                  <a:noFill/>
                </a:ln>
                <a:solidFill>
                  <a:schemeClr val="bg1"/>
                </a:solidFill>
                <a:effectLst/>
                <a:uLnTx/>
                <a:uFillTx/>
                <a:latin typeface="Segoe UI Semibold"/>
                <a:ea typeface="+mn-ea"/>
                <a:cs typeface="Segoe UI" panose="020B0502040204020203" pitchFamily="34" charset="0"/>
              </a:rPr>
              <a:t> …</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459858" y="5614826"/>
            <a:ext cx="1817148"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Submit Workflow</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562978" y="5614826"/>
            <a:ext cx="1817148"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Argo Controller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8923138" y="5604666"/>
            <a:ext cx="2323982"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Logs &amp; Artifact Stored</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759058" y="5604666"/>
            <a:ext cx="1817148"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sz="1400" dirty="0" smtClean="0">
                <a:solidFill>
                  <a:schemeClr val="bg1"/>
                </a:solidFill>
                <a:latin typeface="Segoe UI Semibold"/>
                <a:cs typeface="Segoe UI" panose="020B0502040204020203" pitchFamily="34" charset="0"/>
              </a:rPr>
              <a:t>Task Executer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4645778" y="5604666"/>
            <a:ext cx="1817148"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Pod Created</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Tree>
    <p:extLst>
      <p:ext uri="{BB962C8B-B14F-4D97-AF65-F5344CB8AC3E}">
        <p14:creationId xmlns:p14="http://schemas.microsoft.com/office/powerpoint/2010/main" val="2656017104"/>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50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1"/>
                                        </p:tgtEl>
                                        <p:attrNameLst>
                                          <p:attrName>style.visibility</p:attrName>
                                        </p:attrNameLst>
                                      </p:cBhvr>
                                      <p:to>
                                        <p:strVal val="visible"/>
                                      </p:to>
                                    </p:set>
                                    <p:animEffect transition="in" filter="fade">
                                      <p:cBhvr>
                                        <p:cTn id="97" dur="500"/>
                                        <p:tgtEl>
                                          <p:spTgt spid="31"/>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fade">
                                      <p:cBhvr>
                                        <p:cTn id="10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useBgFill="1">
        <p:nvSpPr>
          <p:cNvPr id="6" name="Freeform 5"/>
          <p:cNvSpPr/>
          <p:nvPr/>
        </p:nvSpPr>
        <p:spPr>
          <a:xfrm rot="3085689">
            <a:off x="7219241" y="-2729383"/>
            <a:ext cx="12660583" cy="12865817"/>
          </a:xfrm>
          <a:custGeom>
            <a:avLst/>
            <a:gdLst>
              <a:gd name="connsiteX0" fmla="*/ 5410845 w 7126942"/>
              <a:gd name="connsiteY0" fmla="*/ 3396245 h 6855055"/>
              <a:gd name="connsiteX1" fmla="*/ 7126146 w 7126942"/>
              <a:gd name="connsiteY1" fmla="*/ 3396245 h 6855055"/>
              <a:gd name="connsiteX2" fmla="*/ 7126942 w 7126942"/>
              <a:gd name="connsiteY2" fmla="*/ 3427527 h 6855055"/>
              <a:gd name="connsiteX3" fmla="*/ 3746847 w 7126942"/>
              <a:gd name="connsiteY3" fmla="*/ 6852065 h 6855055"/>
              <a:gd name="connsiteX4" fmla="*/ 3651655 w 7126942"/>
              <a:gd name="connsiteY4" fmla="*/ 6854382 h 6855055"/>
              <a:gd name="connsiteX5" fmla="*/ 3651655 w 7126942"/>
              <a:gd name="connsiteY5" fmla="*/ 5137898 h 6855055"/>
              <a:gd name="connsiteX6" fmla="*/ 3752518 w 7126942"/>
              <a:gd name="connsiteY6" fmla="*/ 5133176 h 6855055"/>
              <a:gd name="connsiteX7" fmla="*/ 5412442 w 7126942"/>
              <a:gd name="connsiteY7" fmla="*/ 3427527 h 6855055"/>
              <a:gd name="connsiteX8" fmla="*/ 797 w 7126942"/>
              <a:gd name="connsiteY8" fmla="*/ 3396245 h 6855055"/>
              <a:gd name="connsiteX9" fmla="*/ 1716098 w 7126942"/>
              <a:gd name="connsiteY9" fmla="*/ 3396245 h 6855055"/>
              <a:gd name="connsiteX10" fmla="*/ 1714500 w 7126942"/>
              <a:gd name="connsiteY10" fmla="*/ 3427527 h 6855055"/>
              <a:gd name="connsiteX11" fmla="*/ 3374425 w 7126942"/>
              <a:gd name="connsiteY11" fmla="*/ 5133176 h 6855055"/>
              <a:gd name="connsiteX12" fmla="*/ 3502958 w 7126942"/>
              <a:gd name="connsiteY12" fmla="*/ 5139194 h 6855055"/>
              <a:gd name="connsiteX13" fmla="*/ 3502958 w 7126942"/>
              <a:gd name="connsiteY13" fmla="*/ 6855055 h 6855055"/>
              <a:gd name="connsiteX14" fmla="*/ 3380095 w 7126942"/>
              <a:gd name="connsiteY14" fmla="*/ 6852065 h 6855055"/>
              <a:gd name="connsiteX15" fmla="*/ 0 w 7126942"/>
              <a:gd name="connsiteY15" fmla="*/ 3427527 h 6855055"/>
              <a:gd name="connsiteX16" fmla="*/ 3651655 w 7126942"/>
              <a:gd name="connsiteY16" fmla="*/ 673 h 6855055"/>
              <a:gd name="connsiteX17" fmla="*/ 3746847 w 7126942"/>
              <a:gd name="connsiteY17" fmla="*/ 2989 h 6855055"/>
              <a:gd name="connsiteX18" fmla="*/ 7122589 w 7126942"/>
              <a:gd name="connsiteY18" fmla="*/ 3256552 h 6855055"/>
              <a:gd name="connsiteX19" fmla="*/ 7123205 w 7126942"/>
              <a:gd name="connsiteY19" fmla="*/ 3280742 h 6855055"/>
              <a:gd name="connsiteX20" fmla="*/ 5404947 w 7126942"/>
              <a:gd name="connsiteY20" fmla="*/ 3280742 h 6855055"/>
              <a:gd name="connsiteX21" fmla="*/ 5404044 w 7126942"/>
              <a:gd name="connsiteY21" fmla="*/ 3263046 h 6855055"/>
              <a:gd name="connsiteX22" fmla="*/ 3752518 w 7126942"/>
              <a:gd name="connsiteY22" fmla="*/ 1721879 h 6855055"/>
              <a:gd name="connsiteX23" fmla="*/ 3651655 w 7126942"/>
              <a:gd name="connsiteY23" fmla="*/ 1717156 h 6855055"/>
              <a:gd name="connsiteX24" fmla="*/ 3502958 w 7126942"/>
              <a:gd name="connsiteY24" fmla="*/ 0 h 6855055"/>
              <a:gd name="connsiteX25" fmla="*/ 3502958 w 7126942"/>
              <a:gd name="connsiteY25" fmla="*/ 1715861 h 6855055"/>
              <a:gd name="connsiteX26" fmla="*/ 3374425 w 7126942"/>
              <a:gd name="connsiteY26" fmla="*/ 1721879 h 6855055"/>
              <a:gd name="connsiteX27" fmla="*/ 1722899 w 7126942"/>
              <a:gd name="connsiteY27" fmla="*/ 3263046 h 6855055"/>
              <a:gd name="connsiteX28" fmla="*/ 1721995 w 7126942"/>
              <a:gd name="connsiteY28" fmla="*/ 3280742 h 6855055"/>
              <a:gd name="connsiteX29" fmla="*/ 3737 w 7126942"/>
              <a:gd name="connsiteY29" fmla="*/ 3280742 h 6855055"/>
              <a:gd name="connsiteX30" fmla="*/ 4353 w 7126942"/>
              <a:gd name="connsiteY30" fmla="*/ 3256552 h 6855055"/>
              <a:gd name="connsiteX31" fmla="*/ 3380095 w 7126942"/>
              <a:gd name="connsiteY31" fmla="*/ 2989 h 685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126942" h="6855055">
                <a:moveTo>
                  <a:pt x="5410845" y="3396245"/>
                </a:moveTo>
                <a:lnTo>
                  <a:pt x="7126146" y="3396245"/>
                </a:lnTo>
                <a:lnTo>
                  <a:pt x="7126942" y="3427527"/>
                </a:lnTo>
                <a:cubicBezTo>
                  <a:pt x="7126942" y="5262131"/>
                  <a:pt x="5629678" y="6760226"/>
                  <a:pt x="3746847" y="6852065"/>
                </a:cubicBezTo>
                <a:lnTo>
                  <a:pt x="3651655" y="6854382"/>
                </a:lnTo>
                <a:lnTo>
                  <a:pt x="3651655" y="5137898"/>
                </a:lnTo>
                <a:lnTo>
                  <a:pt x="3752518" y="5133176"/>
                </a:lnTo>
                <a:cubicBezTo>
                  <a:pt x="4684872" y="5045376"/>
                  <a:pt x="5412442" y="4315238"/>
                  <a:pt x="5412442" y="3427527"/>
                </a:cubicBezTo>
                <a:close/>
                <a:moveTo>
                  <a:pt x="797" y="3396245"/>
                </a:moveTo>
                <a:lnTo>
                  <a:pt x="1716098" y="3396245"/>
                </a:lnTo>
                <a:lnTo>
                  <a:pt x="1714500" y="3427527"/>
                </a:lnTo>
                <a:cubicBezTo>
                  <a:pt x="1714500" y="4315238"/>
                  <a:pt x="2442070" y="5045376"/>
                  <a:pt x="3374425" y="5133176"/>
                </a:cubicBezTo>
                <a:lnTo>
                  <a:pt x="3502958" y="5139194"/>
                </a:lnTo>
                <a:lnTo>
                  <a:pt x="3502958" y="6855055"/>
                </a:lnTo>
                <a:lnTo>
                  <a:pt x="3380095" y="6852065"/>
                </a:lnTo>
                <a:cubicBezTo>
                  <a:pt x="1497265" y="6760226"/>
                  <a:pt x="0" y="5262131"/>
                  <a:pt x="0" y="3427527"/>
                </a:cubicBezTo>
                <a:close/>
                <a:moveTo>
                  <a:pt x="3651655" y="673"/>
                </a:moveTo>
                <a:lnTo>
                  <a:pt x="3746847" y="2989"/>
                </a:lnTo>
                <a:cubicBezTo>
                  <a:pt x="5570839" y="91958"/>
                  <a:pt x="7032986" y="1500666"/>
                  <a:pt x="7122589" y="3256552"/>
                </a:cubicBezTo>
                <a:lnTo>
                  <a:pt x="7123205" y="3280742"/>
                </a:lnTo>
                <a:lnTo>
                  <a:pt x="5404947" y="3280742"/>
                </a:lnTo>
                <a:lnTo>
                  <a:pt x="5404044" y="3263046"/>
                </a:lnTo>
                <a:cubicBezTo>
                  <a:pt x="5320696" y="2451058"/>
                  <a:pt x="4626600" y="1804191"/>
                  <a:pt x="3752518" y="1721879"/>
                </a:cubicBezTo>
                <a:lnTo>
                  <a:pt x="3651655" y="1717156"/>
                </a:lnTo>
                <a:close/>
                <a:moveTo>
                  <a:pt x="3502958" y="0"/>
                </a:moveTo>
                <a:lnTo>
                  <a:pt x="3502958" y="1715861"/>
                </a:lnTo>
                <a:lnTo>
                  <a:pt x="3374425" y="1721879"/>
                </a:lnTo>
                <a:cubicBezTo>
                  <a:pt x="2500343" y="1804191"/>
                  <a:pt x="1806247" y="2451058"/>
                  <a:pt x="1722899" y="3263046"/>
                </a:cubicBezTo>
                <a:lnTo>
                  <a:pt x="1721995" y="3280742"/>
                </a:lnTo>
                <a:lnTo>
                  <a:pt x="3737" y="3280742"/>
                </a:lnTo>
                <a:lnTo>
                  <a:pt x="4353" y="3256552"/>
                </a:lnTo>
                <a:cubicBezTo>
                  <a:pt x="93956" y="1500666"/>
                  <a:pt x="1556103" y="91958"/>
                  <a:pt x="3380095" y="2989"/>
                </a:cubicBezTo>
                <a:close/>
              </a:path>
            </a:pathLst>
          </a:custGeom>
          <a:ln>
            <a:noFill/>
          </a:ln>
          <a:effectLst>
            <a:outerShdw blurRad="508000" dist="50800" dir="5400000" algn="ctr" rotWithShape="0">
              <a:srgbClr val="000000">
                <a:alpha val="7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solidFill>
                <a:schemeClr val="tx1"/>
              </a:solidFill>
            </a:endParaRPr>
          </a:p>
        </p:txBody>
      </p:sp>
      <p:sp>
        <p:nvSpPr>
          <p:cNvPr id="4" name="Title 5">
            <a:extLst>
              <a:ext uri="{FF2B5EF4-FFF2-40B4-BE49-F238E27FC236}">
                <a16:creationId xmlns="" xmlns:a16="http://schemas.microsoft.com/office/drawing/2014/main" id="{A3E08FA2-C73F-A01D-C334-4FAC0DB0C177}"/>
              </a:ext>
            </a:extLst>
          </p:cNvPr>
          <p:cNvSpPr txBox="1">
            <a:spLocks/>
          </p:cNvSpPr>
          <p:nvPr/>
        </p:nvSpPr>
        <p:spPr>
          <a:xfrm>
            <a:off x="480272" y="90232"/>
            <a:ext cx="9021762" cy="814493"/>
          </a:xfrm>
          <a:prstGeom prst="rect">
            <a:avLst/>
          </a:prstGeom>
          <a:effectLst>
            <a:outerShdw blurRad="50800" dist="50800" dir="5400000" algn="ctr" rotWithShape="0">
              <a:schemeClr val="tx1"/>
            </a:outerShdw>
          </a:effectLst>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solidFill>
                  <a:schemeClr val="bg1"/>
                </a:solidFill>
              </a:rPr>
              <a:t>Data Engineering Features</a:t>
            </a:r>
            <a:endParaRPr lang="en-US" dirty="0">
              <a:solidFill>
                <a:schemeClr val="bg1"/>
              </a:solidFill>
            </a:endParaRPr>
          </a:p>
        </p:txBody>
      </p:sp>
      <p:sp>
        <p:nvSpPr>
          <p:cNvPr id="7"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487680" y="1168125"/>
            <a:ext cx="3657600" cy="4358915"/>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72" y="1362685"/>
            <a:ext cx="3352788" cy="499495"/>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CORE FEATURES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71" y="2084045"/>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DAG </a:t>
            </a: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Ochestration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20791" y="2586718"/>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Cron</a:t>
            </a: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 Scheduling</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40091" y="3079725"/>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Retry Policy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40091" y="3567405"/>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Parameterized Workflows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29931" y="4044925"/>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Parallel Execution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4"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5981912" y="1185825"/>
            <a:ext cx="3520122" cy="2991182"/>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77292" y="1362685"/>
            <a:ext cx="3190228" cy="499495"/>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PLATFORM</a:t>
            </a:r>
            <a:r>
              <a:rPr kumimoji="0" lang="en-US" sz="1400" b="0" i="0" u="none" strike="noStrike" kern="1200" cap="none" spc="0" normalizeH="0" noProof="0" dirty="0" smtClean="0">
                <a:ln>
                  <a:noFill/>
                </a:ln>
                <a:solidFill>
                  <a:schemeClr val="bg1"/>
                </a:solidFill>
                <a:effectLst/>
                <a:uLnTx/>
                <a:uFillTx/>
                <a:latin typeface="Segoe UI Semibold"/>
                <a:ea typeface="+mn-ea"/>
                <a:cs typeface="Segoe UI" panose="020B0502040204020203" pitchFamily="34" charset="0"/>
              </a:rPr>
              <a:t> FEATURES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77291" y="2084045"/>
            <a:ext cx="319022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Container Native Execution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78311" y="2586718"/>
            <a:ext cx="318920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GitOps</a:t>
            </a: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 Friendly Deployment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611" y="3110205"/>
            <a:ext cx="319022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K8s </a:t>
            </a: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Autoscaling</a:t>
            </a: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 support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611" y="3638525"/>
            <a:ext cx="319022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Multi Tenant Isolation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50251" y="4522445"/>
            <a:ext cx="33019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Workflow Templates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50251" y="4969485"/>
            <a:ext cx="33019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Manual / Event Driven Trigger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Tree>
    <p:extLst>
      <p:ext uri="{BB962C8B-B14F-4D97-AF65-F5344CB8AC3E}">
        <p14:creationId xmlns:p14="http://schemas.microsoft.com/office/powerpoint/2010/main" val="4169219124"/>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useBgFill="1">
        <p:nvSpPr>
          <p:cNvPr id="6" name="Freeform 5"/>
          <p:cNvSpPr/>
          <p:nvPr/>
        </p:nvSpPr>
        <p:spPr>
          <a:xfrm rot="18909290">
            <a:off x="7219241" y="-2729383"/>
            <a:ext cx="12660583" cy="12865817"/>
          </a:xfrm>
          <a:custGeom>
            <a:avLst/>
            <a:gdLst>
              <a:gd name="connsiteX0" fmla="*/ 5410845 w 7126942"/>
              <a:gd name="connsiteY0" fmla="*/ 3396245 h 6855055"/>
              <a:gd name="connsiteX1" fmla="*/ 7126146 w 7126942"/>
              <a:gd name="connsiteY1" fmla="*/ 3396245 h 6855055"/>
              <a:gd name="connsiteX2" fmla="*/ 7126942 w 7126942"/>
              <a:gd name="connsiteY2" fmla="*/ 3427527 h 6855055"/>
              <a:gd name="connsiteX3" fmla="*/ 3746847 w 7126942"/>
              <a:gd name="connsiteY3" fmla="*/ 6852065 h 6855055"/>
              <a:gd name="connsiteX4" fmla="*/ 3651655 w 7126942"/>
              <a:gd name="connsiteY4" fmla="*/ 6854382 h 6855055"/>
              <a:gd name="connsiteX5" fmla="*/ 3651655 w 7126942"/>
              <a:gd name="connsiteY5" fmla="*/ 5137898 h 6855055"/>
              <a:gd name="connsiteX6" fmla="*/ 3752518 w 7126942"/>
              <a:gd name="connsiteY6" fmla="*/ 5133176 h 6855055"/>
              <a:gd name="connsiteX7" fmla="*/ 5412442 w 7126942"/>
              <a:gd name="connsiteY7" fmla="*/ 3427527 h 6855055"/>
              <a:gd name="connsiteX8" fmla="*/ 797 w 7126942"/>
              <a:gd name="connsiteY8" fmla="*/ 3396245 h 6855055"/>
              <a:gd name="connsiteX9" fmla="*/ 1716098 w 7126942"/>
              <a:gd name="connsiteY9" fmla="*/ 3396245 h 6855055"/>
              <a:gd name="connsiteX10" fmla="*/ 1714500 w 7126942"/>
              <a:gd name="connsiteY10" fmla="*/ 3427527 h 6855055"/>
              <a:gd name="connsiteX11" fmla="*/ 3374425 w 7126942"/>
              <a:gd name="connsiteY11" fmla="*/ 5133176 h 6855055"/>
              <a:gd name="connsiteX12" fmla="*/ 3502958 w 7126942"/>
              <a:gd name="connsiteY12" fmla="*/ 5139194 h 6855055"/>
              <a:gd name="connsiteX13" fmla="*/ 3502958 w 7126942"/>
              <a:gd name="connsiteY13" fmla="*/ 6855055 h 6855055"/>
              <a:gd name="connsiteX14" fmla="*/ 3380095 w 7126942"/>
              <a:gd name="connsiteY14" fmla="*/ 6852065 h 6855055"/>
              <a:gd name="connsiteX15" fmla="*/ 0 w 7126942"/>
              <a:gd name="connsiteY15" fmla="*/ 3427527 h 6855055"/>
              <a:gd name="connsiteX16" fmla="*/ 3651655 w 7126942"/>
              <a:gd name="connsiteY16" fmla="*/ 673 h 6855055"/>
              <a:gd name="connsiteX17" fmla="*/ 3746847 w 7126942"/>
              <a:gd name="connsiteY17" fmla="*/ 2989 h 6855055"/>
              <a:gd name="connsiteX18" fmla="*/ 7122589 w 7126942"/>
              <a:gd name="connsiteY18" fmla="*/ 3256552 h 6855055"/>
              <a:gd name="connsiteX19" fmla="*/ 7123205 w 7126942"/>
              <a:gd name="connsiteY19" fmla="*/ 3280742 h 6855055"/>
              <a:gd name="connsiteX20" fmla="*/ 5404947 w 7126942"/>
              <a:gd name="connsiteY20" fmla="*/ 3280742 h 6855055"/>
              <a:gd name="connsiteX21" fmla="*/ 5404044 w 7126942"/>
              <a:gd name="connsiteY21" fmla="*/ 3263046 h 6855055"/>
              <a:gd name="connsiteX22" fmla="*/ 3752518 w 7126942"/>
              <a:gd name="connsiteY22" fmla="*/ 1721879 h 6855055"/>
              <a:gd name="connsiteX23" fmla="*/ 3651655 w 7126942"/>
              <a:gd name="connsiteY23" fmla="*/ 1717156 h 6855055"/>
              <a:gd name="connsiteX24" fmla="*/ 3502958 w 7126942"/>
              <a:gd name="connsiteY24" fmla="*/ 0 h 6855055"/>
              <a:gd name="connsiteX25" fmla="*/ 3502958 w 7126942"/>
              <a:gd name="connsiteY25" fmla="*/ 1715861 h 6855055"/>
              <a:gd name="connsiteX26" fmla="*/ 3374425 w 7126942"/>
              <a:gd name="connsiteY26" fmla="*/ 1721879 h 6855055"/>
              <a:gd name="connsiteX27" fmla="*/ 1722899 w 7126942"/>
              <a:gd name="connsiteY27" fmla="*/ 3263046 h 6855055"/>
              <a:gd name="connsiteX28" fmla="*/ 1721995 w 7126942"/>
              <a:gd name="connsiteY28" fmla="*/ 3280742 h 6855055"/>
              <a:gd name="connsiteX29" fmla="*/ 3737 w 7126942"/>
              <a:gd name="connsiteY29" fmla="*/ 3280742 h 6855055"/>
              <a:gd name="connsiteX30" fmla="*/ 4353 w 7126942"/>
              <a:gd name="connsiteY30" fmla="*/ 3256552 h 6855055"/>
              <a:gd name="connsiteX31" fmla="*/ 3380095 w 7126942"/>
              <a:gd name="connsiteY31" fmla="*/ 2989 h 685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126942" h="6855055">
                <a:moveTo>
                  <a:pt x="5410845" y="3396245"/>
                </a:moveTo>
                <a:lnTo>
                  <a:pt x="7126146" y="3396245"/>
                </a:lnTo>
                <a:lnTo>
                  <a:pt x="7126942" y="3427527"/>
                </a:lnTo>
                <a:cubicBezTo>
                  <a:pt x="7126942" y="5262131"/>
                  <a:pt x="5629678" y="6760226"/>
                  <a:pt x="3746847" y="6852065"/>
                </a:cubicBezTo>
                <a:lnTo>
                  <a:pt x="3651655" y="6854382"/>
                </a:lnTo>
                <a:lnTo>
                  <a:pt x="3651655" y="5137898"/>
                </a:lnTo>
                <a:lnTo>
                  <a:pt x="3752518" y="5133176"/>
                </a:lnTo>
                <a:cubicBezTo>
                  <a:pt x="4684872" y="5045376"/>
                  <a:pt x="5412442" y="4315238"/>
                  <a:pt x="5412442" y="3427527"/>
                </a:cubicBezTo>
                <a:close/>
                <a:moveTo>
                  <a:pt x="797" y="3396245"/>
                </a:moveTo>
                <a:lnTo>
                  <a:pt x="1716098" y="3396245"/>
                </a:lnTo>
                <a:lnTo>
                  <a:pt x="1714500" y="3427527"/>
                </a:lnTo>
                <a:cubicBezTo>
                  <a:pt x="1714500" y="4315238"/>
                  <a:pt x="2442070" y="5045376"/>
                  <a:pt x="3374425" y="5133176"/>
                </a:cubicBezTo>
                <a:lnTo>
                  <a:pt x="3502958" y="5139194"/>
                </a:lnTo>
                <a:lnTo>
                  <a:pt x="3502958" y="6855055"/>
                </a:lnTo>
                <a:lnTo>
                  <a:pt x="3380095" y="6852065"/>
                </a:lnTo>
                <a:cubicBezTo>
                  <a:pt x="1497265" y="6760226"/>
                  <a:pt x="0" y="5262131"/>
                  <a:pt x="0" y="3427527"/>
                </a:cubicBezTo>
                <a:close/>
                <a:moveTo>
                  <a:pt x="3651655" y="673"/>
                </a:moveTo>
                <a:lnTo>
                  <a:pt x="3746847" y="2989"/>
                </a:lnTo>
                <a:cubicBezTo>
                  <a:pt x="5570839" y="91958"/>
                  <a:pt x="7032986" y="1500666"/>
                  <a:pt x="7122589" y="3256552"/>
                </a:cubicBezTo>
                <a:lnTo>
                  <a:pt x="7123205" y="3280742"/>
                </a:lnTo>
                <a:lnTo>
                  <a:pt x="5404947" y="3280742"/>
                </a:lnTo>
                <a:lnTo>
                  <a:pt x="5404044" y="3263046"/>
                </a:lnTo>
                <a:cubicBezTo>
                  <a:pt x="5320696" y="2451058"/>
                  <a:pt x="4626600" y="1804191"/>
                  <a:pt x="3752518" y="1721879"/>
                </a:cubicBezTo>
                <a:lnTo>
                  <a:pt x="3651655" y="1717156"/>
                </a:lnTo>
                <a:close/>
                <a:moveTo>
                  <a:pt x="3502958" y="0"/>
                </a:moveTo>
                <a:lnTo>
                  <a:pt x="3502958" y="1715861"/>
                </a:lnTo>
                <a:lnTo>
                  <a:pt x="3374425" y="1721879"/>
                </a:lnTo>
                <a:cubicBezTo>
                  <a:pt x="2500343" y="1804191"/>
                  <a:pt x="1806247" y="2451058"/>
                  <a:pt x="1722899" y="3263046"/>
                </a:cubicBezTo>
                <a:lnTo>
                  <a:pt x="1721995" y="3280742"/>
                </a:lnTo>
                <a:lnTo>
                  <a:pt x="3737" y="3280742"/>
                </a:lnTo>
                <a:lnTo>
                  <a:pt x="4353" y="3256552"/>
                </a:lnTo>
                <a:cubicBezTo>
                  <a:pt x="93956" y="1500666"/>
                  <a:pt x="1556103" y="91958"/>
                  <a:pt x="3380095" y="2989"/>
                </a:cubicBezTo>
                <a:close/>
              </a:path>
            </a:pathLst>
          </a:custGeom>
          <a:ln>
            <a:noFill/>
          </a:ln>
          <a:effectLst>
            <a:outerShdw blurRad="508000" dist="50800" dir="5400000" algn="ctr" rotWithShape="0">
              <a:srgbClr val="000000">
                <a:alpha val="7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solidFill>
                <a:schemeClr val="tx1"/>
              </a:solidFill>
            </a:endParaRPr>
          </a:p>
        </p:txBody>
      </p:sp>
      <p:sp>
        <p:nvSpPr>
          <p:cNvPr id="12" name="Title 5">
            <a:extLst>
              <a:ext uri="{FF2B5EF4-FFF2-40B4-BE49-F238E27FC236}">
                <a16:creationId xmlns="" xmlns:a16="http://schemas.microsoft.com/office/drawing/2014/main" id="{A3E08FA2-C73F-A01D-C334-4FAC0DB0C177}"/>
              </a:ext>
            </a:extLst>
          </p:cNvPr>
          <p:cNvSpPr txBox="1">
            <a:spLocks/>
          </p:cNvSpPr>
          <p:nvPr/>
        </p:nvSpPr>
        <p:spPr>
          <a:xfrm>
            <a:off x="480272" y="90232"/>
            <a:ext cx="9021762" cy="814493"/>
          </a:xfrm>
          <a:prstGeom prst="rect">
            <a:avLst/>
          </a:prstGeom>
          <a:effectLst>
            <a:outerShdw blurRad="50800" dist="50800" dir="5400000" algn="ctr" rotWithShape="0">
              <a:schemeClr val="tx1"/>
            </a:outerShdw>
          </a:effectLst>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solidFill>
                  <a:schemeClr val="bg1"/>
                </a:solidFill>
              </a:rPr>
              <a:t>Argo Workflow </a:t>
            </a:r>
            <a:r>
              <a:rPr lang="en-US" sz="4000" b="1" dirty="0" err="1" smtClean="0">
                <a:solidFill>
                  <a:schemeClr val="bg1"/>
                </a:solidFill>
              </a:rPr>
              <a:t>vs</a:t>
            </a:r>
            <a:r>
              <a:rPr lang="en-US" sz="4000" b="1" dirty="0" smtClean="0">
                <a:solidFill>
                  <a:schemeClr val="bg1"/>
                </a:solidFill>
              </a:rPr>
              <a:t> Airflow</a:t>
            </a:r>
            <a:endParaRPr lang="en-US" dirty="0">
              <a:solidFill>
                <a:schemeClr val="bg1"/>
              </a:solidFill>
            </a:endParaRPr>
          </a:p>
        </p:txBody>
      </p:sp>
      <p:sp>
        <p:nvSpPr>
          <p:cNvPr id="13"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flipV="1">
            <a:off x="436880" y="1467279"/>
            <a:ext cx="7149565" cy="3715566"/>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490767" y="1548532"/>
            <a:ext cx="2289999" cy="341161"/>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CAPABILITY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490765" y="1946885"/>
            <a:ext cx="2290000"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K8s Native</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491785" y="2327638"/>
            <a:ext cx="2290000"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Execution Model</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11085" y="2729205"/>
            <a:ext cx="2290000"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Language Dependency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11085" y="3125445"/>
            <a:ext cx="2290000"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Scaling Model</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00925" y="3521685"/>
            <a:ext cx="2290000"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Multi Tenancy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13194" y="3917925"/>
            <a:ext cx="2255303"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GitOps</a:t>
            </a: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 Integration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13194" y="4314165"/>
            <a:ext cx="2255303"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UI Maturity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3354" y="4710405"/>
            <a:ext cx="2255303"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Ecosystem</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68207" y="1558692"/>
            <a:ext cx="2289999" cy="341161"/>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ARGO WORKFLOW</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68205" y="1957045"/>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Excellent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69225" y="2337798"/>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Pod-per-Task</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88525" y="2739365"/>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Any </a:t>
            </a: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language</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88525" y="3135605"/>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K8s </a:t>
            </a: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AutoScaling</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68205" y="3542005"/>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Namespace Based</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59065" y="3922758"/>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Excellent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68205" y="4324325"/>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Moderate</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78365" y="4730725"/>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Growing</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25327" y="1568852"/>
            <a:ext cx="2289999" cy="341161"/>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AIRFLOW</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25325" y="1967205"/>
            <a:ext cx="229000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Partial</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26345" y="2347958"/>
            <a:ext cx="229000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Worker Based</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45645" y="2749525"/>
            <a:ext cx="226968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Mostly Python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45645" y="3155925"/>
            <a:ext cx="226968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sz="1400" dirty="0" smtClean="0">
                <a:solidFill>
                  <a:schemeClr val="bg1"/>
                </a:solidFill>
                <a:latin typeface="Segoe UI Semibold"/>
                <a:cs typeface="Segoe UI" panose="020B0502040204020203" pitchFamily="34" charset="0"/>
              </a:rPr>
              <a:t>Airflow Worker Scaling</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46665" y="3536678"/>
            <a:ext cx="229000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sz="1400" dirty="0" smtClean="0">
                <a:solidFill>
                  <a:schemeClr val="bg1"/>
                </a:solidFill>
                <a:latin typeface="Segoe UI Semibold"/>
                <a:cs typeface="Segoe UI" panose="020B0502040204020203" pitchFamily="34" charset="0"/>
              </a:rPr>
              <a:t>Complex</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65965" y="3938245"/>
            <a:ext cx="224936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Moderate</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65965" y="4375125"/>
            <a:ext cx="224936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Excellent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77145" y="4755878"/>
            <a:ext cx="223818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sz="1400" dirty="0" smtClean="0">
                <a:solidFill>
                  <a:schemeClr val="bg1"/>
                </a:solidFill>
                <a:latin typeface="Segoe UI Semibold"/>
                <a:cs typeface="Segoe UI" panose="020B0502040204020203" pitchFamily="34" charset="0"/>
              </a:rPr>
              <a:t>Matured</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8862610" y="1665858"/>
            <a:ext cx="2069550" cy="583201"/>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Traditional </a:t>
            </a:r>
            <a:r>
              <a:rPr lang="en-US" sz="1400" dirty="0">
                <a:solidFill>
                  <a:schemeClr val="bg1"/>
                </a:solidFill>
                <a:latin typeface="Segoe UI Semibold"/>
                <a:cs typeface="Segoe UI" panose="020B0502040204020203" pitchFamily="34" charset="0"/>
              </a:rPr>
              <a:t>analytics </a:t>
            </a:r>
            <a:r>
              <a:rPr lang="en-US" sz="1400" dirty="0" smtClean="0">
                <a:solidFill>
                  <a:schemeClr val="bg1"/>
                </a:solidFill>
                <a:latin typeface="Segoe UI Semibold"/>
                <a:cs typeface="Segoe UI" panose="020B0502040204020203" pitchFamily="34" charset="0"/>
              </a:rPr>
              <a:t>engineering</a:t>
            </a:r>
            <a:endParaRPr lang="en-US" sz="1400" dirty="0">
              <a:solidFill>
                <a:schemeClr val="bg1"/>
              </a:solidFill>
              <a:latin typeface="Segoe UI Semibold"/>
              <a:cs typeface="Segoe UI" panose="020B0502040204020203" pitchFamily="34" charset="0"/>
            </a:endParaRPr>
          </a:p>
        </p:txBody>
      </p:sp>
      <p:sp>
        <p:nvSpPr>
          <p:cNvPr id="4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9166385" y="2339951"/>
            <a:ext cx="1641810" cy="516914"/>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SQL-centric orchestration</a:t>
            </a:r>
            <a:endParaRPr lang="en-US" sz="1400" dirty="0">
              <a:solidFill>
                <a:schemeClr val="bg1"/>
              </a:solidFill>
              <a:latin typeface="Segoe UI Semibold"/>
              <a:cs typeface="Segoe UI" panose="020B0502040204020203" pitchFamily="34" charset="0"/>
            </a:endParaRPr>
          </a:p>
        </p:txBody>
      </p:sp>
      <p:sp>
        <p:nvSpPr>
          <p:cNvPr id="4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8924592" y="2947757"/>
            <a:ext cx="1945585" cy="535720"/>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Mature </a:t>
            </a:r>
            <a:r>
              <a:rPr lang="en-US" sz="1400" dirty="0">
                <a:solidFill>
                  <a:schemeClr val="bg1"/>
                </a:solidFill>
                <a:latin typeface="Segoe UI Semibold"/>
                <a:cs typeface="Segoe UI" panose="020B0502040204020203" pitchFamily="34" charset="0"/>
              </a:rPr>
              <a:t>enterprise ecosystems</a:t>
            </a:r>
          </a:p>
        </p:txBody>
      </p:sp>
      <p:pic>
        <p:nvPicPr>
          <p:cNvPr id="47" name="Picture 46"/>
          <p:cNvPicPr>
            <a:picLocks noChangeAspect="1"/>
          </p:cNvPicPr>
          <p:nvPr/>
        </p:nvPicPr>
        <p:blipFill>
          <a:blip r:embed="rId4"/>
          <a:stretch>
            <a:fillRect/>
          </a:stretch>
        </p:blipFill>
        <p:spPr>
          <a:xfrm>
            <a:off x="9434166" y="758564"/>
            <a:ext cx="862461" cy="844859"/>
          </a:xfrm>
          <a:prstGeom prst="rect">
            <a:avLst/>
          </a:prstGeom>
        </p:spPr>
      </p:pic>
      <p:pic>
        <p:nvPicPr>
          <p:cNvPr id="48" name="Picture 47"/>
          <p:cNvPicPr>
            <a:picLocks noChangeAspect="1"/>
          </p:cNvPicPr>
          <p:nvPr/>
        </p:nvPicPr>
        <p:blipFill>
          <a:blip r:embed="rId5"/>
          <a:stretch>
            <a:fillRect/>
          </a:stretch>
        </p:blipFill>
        <p:spPr>
          <a:xfrm>
            <a:off x="8520462" y="3792170"/>
            <a:ext cx="1388664" cy="881132"/>
          </a:xfrm>
          <a:prstGeom prst="rect">
            <a:avLst/>
          </a:prstGeom>
        </p:spPr>
      </p:pic>
      <p:sp>
        <p:nvSpPr>
          <p:cNvPr id="4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8212364" y="4735805"/>
            <a:ext cx="2729955" cy="29078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container-first </a:t>
            </a:r>
            <a:r>
              <a:rPr lang="en-US" sz="1400" dirty="0" smtClean="0">
                <a:solidFill>
                  <a:schemeClr val="bg1"/>
                </a:solidFill>
                <a:latin typeface="Segoe UI Semibold"/>
                <a:cs typeface="Segoe UI" panose="020B0502040204020203" pitchFamily="34" charset="0"/>
              </a:rPr>
              <a:t>architecture</a:t>
            </a:r>
            <a:endParaRPr lang="en-US" sz="1400" dirty="0">
              <a:solidFill>
                <a:schemeClr val="bg1"/>
              </a:solidFill>
              <a:latin typeface="Segoe UI Semibold"/>
              <a:cs typeface="Segoe UI" panose="020B0502040204020203" pitchFamily="34" charset="0"/>
            </a:endParaRPr>
          </a:p>
        </p:txBody>
      </p:sp>
      <p:sp>
        <p:nvSpPr>
          <p:cNvPr id="5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9086124" y="5182845"/>
            <a:ext cx="2137601" cy="413990"/>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Platform </a:t>
            </a:r>
            <a:r>
              <a:rPr lang="en-US" sz="1400" dirty="0" err="1" smtClean="0">
                <a:solidFill>
                  <a:schemeClr val="bg1"/>
                </a:solidFill>
                <a:latin typeface="Segoe UI Semibold"/>
                <a:cs typeface="Segoe UI" panose="020B0502040204020203" pitchFamily="34" charset="0"/>
              </a:rPr>
              <a:t>Eng</a:t>
            </a:r>
            <a:r>
              <a:rPr lang="en-US" sz="1400" dirty="0" smtClean="0">
                <a:solidFill>
                  <a:schemeClr val="bg1"/>
                </a:solidFill>
                <a:latin typeface="Segoe UI Semibold"/>
                <a:cs typeface="Segoe UI" panose="020B0502040204020203" pitchFamily="34" charset="0"/>
              </a:rPr>
              <a:t> </a:t>
            </a:r>
            <a:r>
              <a:rPr lang="en-US" sz="1400" dirty="0">
                <a:solidFill>
                  <a:schemeClr val="bg1"/>
                </a:solidFill>
                <a:latin typeface="Segoe UI Semibold"/>
                <a:cs typeface="Segoe UI" panose="020B0502040204020203" pitchFamily="34" charset="0"/>
              </a:rPr>
              <a:t>models</a:t>
            </a:r>
          </a:p>
        </p:txBody>
      </p:sp>
      <p:sp>
        <p:nvSpPr>
          <p:cNvPr id="5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8120924" y="5721325"/>
            <a:ext cx="2821396" cy="413990"/>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err="1" smtClean="0">
                <a:solidFill>
                  <a:schemeClr val="bg1"/>
                </a:solidFill>
                <a:latin typeface="Segoe UI Semibold"/>
                <a:cs typeface="Segoe UI" panose="020B0502040204020203" pitchFamily="34" charset="0"/>
              </a:rPr>
              <a:t>DataOps</a:t>
            </a:r>
            <a:r>
              <a:rPr lang="en-US" sz="1400" dirty="0" smtClean="0">
                <a:solidFill>
                  <a:schemeClr val="bg1"/>
                </a:solidFill>
                <a:latin typeface="Segoe UI Semibold"/>
                <a:cs typeface="Segoe UI" panose="020B0502040204020203" pitchFamily="34" charset="0"/>
              </a:rPr>
              <a:t>/</a:t>
            </a:r>
            <a:r>
              <a:rPr lang="en-US" sz="1400" dirty="0" err="1" smtClean="0">
                <a:solidFill>
                  <a:schemeClr val="bg1"/>
                </a:solidFill>
                <a:latin typeface="Segoe UI Semibold"/>
                <a:cs typeface="Segoe UI" panose="020B0502040204020203" pitchFamily="34" charset="0"/>
              </a:rPr>
              <a:t>MLOps</a:t>
            </a:r>
            <a:r>
              <a:rPr lang="en-US" sz="1400" dirty="0" smtClean="0">
                <a:solidFill>
                  <a:schemeClr val="bg1"/>
                </a:solidFill>
                <a:latin typeface="Segoe UI Semibold"/>
                <a:cs typeface="Segoe UI" panose="020B0502040204020203" pitchFamily="34" charset="0"/>
              </a:rPr>
              <a:t> </a:t>
            </a:r>
            <a:r>
              <a:rPr lang="en-US" sz="1400" dirty="0">
                <a:solidFill>
                  <a:schemeClr val="bg1"/>
                </a:solidFill>
                <a:latin typeface="Segoe UI Semibold"/>
                <a:cs typeface="Segoe UI" panose="020B0502040204020203" pitchFamily="34" charset="0"/>
              </a:rPr>
              <a:t>convergence</a:t>
            </a:r>
          </a:p>
        </p:txBody>
      </p:sp>
    </p:spTree>
    <p:extLst>
      <p:ext uri="{BB962C8B-B14F-4D97-AF65-F5344CB8AC3E}">
        <p14:creationId xmlns:p14="http://schemas.microsoft.com/office/powerpoint/2010/main" val="769243194"/>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5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500"/>
                                        <p:tgtEl>
                                          <p:spTgt spid="3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00"/>
                                        <p:tgtEl>
                                          <p:spTgt spid="2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500"/>
                                        <p:tgtEl>
                                          <p:spTgt spid="3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500"/>
                                        <p:tgtEl>
                                          <p:spTgt spid="3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500"/>
                                        <p:tgtEl>
                                          <p:spTgt spid="1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fade">
                                      <p:cBhvr>
                                        <p:cTn id="70" dur="500"/>
                                        <p:tgtEl>
                                          <p:spTgt spid="38"/>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500"/>
                                        <p:tgtEl>
                                          <p:spTgt spid="29"/>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500"/>
                                        <p:tgtEl>
                                          <p:spTgt spid="39"/>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500"/>
                                        <p:tgtEl>
                                          <p:spTgt spid="20"/>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40"/>
                                        </p:tgtEl>
                                        <p:attrNameLst>
                                          <p:attrName>style.visibility</p:attrName>
                                        </p:attrNameLst>
                                      </p:cBhvr>
                                      <p:to>
                                        <p:strVal val="visible"/>
                                      </p:to>
                                    </p:set>
                                    <p:animEffect transition="in" filter="fade">
                                      <p:cBhvr>
                                        <p:cTn id="93" dur="500"/>
                                        <p:tgtEl>
                                          <p:spTgt spid="4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fade">
                                      <p:cBhvr>
                                        <p:cTn id="96" dur="500"/>
                                        <p:tgtEl>
                                          <p:spTgt spid="30"/>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fade">
                                      <p:cBhvr>
                                        <p:cTn id="101" dur="500"/>
                                        <p:tgtEl>
                                          <p:spTgt spid="21"/>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31"/>
                                        </p:tgtEl>
                                        <p:attrNameLst>
                                          <p:attrName>style.visibility</p:attrName>
                                        </p:attrNameLst>
                                      </p:cBhvr>
                                      <p:to>
                                        <p:strVal val="visible"/>
                                      </p:to>
                                    </p:set>
                                    <p:animEffect transition="in" filter="fade">
                                      <p:cBhvr>
                                        <p:cTn id="106" dur="500"/>
                                        <p:tgtEl>
                                          <p:spTgt spid="31"/>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1"/>
                                        </p:tgtEl>
                                        <p:attrNameLst>
                                          <p:attrName>style.visibility</p:attrName>
                                        </p:attrNameLst>
                                      </p:cBhvr>
                                      <p:to>
                                        <p:strVal val="visible"/>
                                      </p:to>
                                    </p:set>
                                    <p:animEffect transition="in" filter="fade">
                                      <p:cBhvr>
                                        <p:cTn id="109" dur="500"/>
                                        <p:tgtEl>
                                          <p:spTgt spid="41"/>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23"/>
                                        </p:tgtEl>
                                        <p:attrNameLst>
                                          <p:attrName>style.visibility</p:attrName>
                                        </p:attrNameLst>
                                      </p:cBhvr>
                                      <p:to>
                                        <p:strVal val="visible"/>
                                      </p:to>
                                    </p:set>
                                    <p:animEffect transition="in" filter="fade">
                                      <p:cBhvr>
                                        <p:cTn id="114" dur="500"/>
                                        <p:tgtEl>
                                          <p:spTgt spid="23"/>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32"/>
                                        </p:tgtEl>
                                        <p:attrNameLst>
                                          <p:attrName>style.visibility</p:attrName>
                                        </p:attrNameLst>
                                      </p:cBhvr>
                                      <p:to>
                                        <p:strVal val="visible"/>
                                      </p:to>
                                    </p:set>
                                    <p:animEffect transition="in" filter="fade">
                                      <p:cBhvr>
                                        <p:cTn id="119" dur="500"/>
                                        <p:tgtEl>
                                          <p:spTgt spid="3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2"/>
                                        </p:tgtEl>
                                        <p:attrNameLst>
                                          <p:attrName>style.visibility</p:attrName>
                                        </p:attrNameLst>
                                      </p:cBhvr>
                                      <p:to>
                                        <p:strVal val="visible"/>
                                      </p:to>
                                    </p:set>
                                    <p:animEffect transition="in" filter="fade">
                                      <p:cBhvr>
                                        <p:cTn id="122" dur="500"/>
                                        <p:tgtEl>
                                          <p:spTgt spid="42"/>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47"/>
                                        </p:tgtEl>
                                        <p:attrNameLst>
                                          <p:attrName>style.visibility</p:attrName>
                                        </p:attrNameLst>
                                      </p:cBhvr>
                                      <p:to>
                                        <p:strVal val="visible"/>
                                      </p:to>
                                    </p:set>
                                    <p:animEffect transition="in" filter="fade">
                                      <p:cBhvr>
                                        <p:cTn id="127" dur="500"/>
                                        <p:tgtEl>
                                          <p:spTgt spid="47"/>
                                        </p:tgtEl>
                                      </p:cBhvr>
                                    </p:animEffect>
                                  </p:childTnLst>
                                </p:cTn>
                              </p:par>
                              <p:par>
                                <p:cTn id="128" presetID="10" presetClass="entr" presetSubtype="0" fill="hold" nodeType="withEffect">
                                  <p:stCondLst>
                                    <p:cond delay="0"/>
                                  </p:stCondLst>
                                  <p:childTnLst>
                                    <p:set>
                                      <p:cBhvr>
                                        <p:cTn id="129" dur="1" fill="hold">
                                          <p:stCondLst>
                                            <p:cond delay="0"/>
                                          </p:stCondLst>
                                        </p:cTn>
                                        <p:tgtEl>
                                          <p:spTgt spid="48"/>
                                        </p:tgtEl>
                                        <p:attrNameLst>
                                          <p:attrName>style.visibility</p:attrName>
                                        </p:attrNameLst>
                                      </p:cBhvr>
                                      <p:to>
                                        <p:strVal val="visible"/>
                                      </p:to>
                                    </p:set>
                                    <p:animEffect transition="in" filter="fade">
                                      <p:cBhvr>
                                        <p:cTn id="130" dur="500"/>
                                        <p:tgtEl>
                                          <p:spTgt spid="48"/>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44"/>
                                        </p:tgtEl>
                                        <p:attrNameLst>
                                          <p:attrName>style.visibility</p:attrName>
                                        </p:attrNameLst>
                                      </p:cBhvr>
                                      <p:to>
                                        <p:strVal val="visible"/>
                                      </p:to>
                                    </p:set>
                                    <p:animEffect transition="in" filter="fade">
                                      <p:cBhvr>
                                        <p:cTn id="135" dur="500"/>
                                        <p:tgtEl>
                                          <p:spTgt spid="44"/>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45"/>
                                        </p:tgtEl>
                                        <p:attrNameLst>
                                          <p:attrName>style.visibility</p:attrName>
                                        </p:attrNameLst>
                                      </p:cBhvr>
                                      <p:to>
                                        <p:strVal val="visible"/>
                                      </p:to>
                                    </p:set>
                                    <p:animEffect transition="in" filter="fade">
                                      <p:cBhvr>
                                        <p:cTn id="140" dur="500"/>
                                        <p:tgtEl>
                                          <p:spTgt spid="45"/>
                                        </p:tgtEl>
                                      </p:cBhvr>
                                    </p:animEffect>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46"/>
                                        </p:tgtEl>
                                        <p:attrNameLst>
                                          <p:attrName>style.visibility</p:attrName>
                                        </p:attrNameLst>
                                      </p:cBhvr>
                                      <p:to>
                                        <p:strVal val="visible"/>
                                      </p:to>
                                    </p:set>
                                    <p:animEffect transition="in" filter="fade">
                                      <p:cBhvr>
                                        <p:cTn id="145" dur="500"/>
                                        <p:tgtEl>
                                          <p:spTgt spid="46"/>
                                        </p:tgtEl>
                                      </p:cBhvr>
                                    </p:animEffect>
                                  </p:childTnLst>
                                </p:cTn>
                              </p:par>
                            </p:childTnLst>
                          </p:cTn>
                        </p:par>
                      </p:childTnLst>
                    </p:cTn>
                  </p:par>
                  <p:par>
                    <p:cTn id="146" fill="hold">
                      <p:stCondLst>
                        <p:cond delay="indefinite"/>
                      </p:stCondLst>
                      <p:childTnLst>
                        <p:par>
                          <p:cTn id="147" fill="hold">
                            <p:stCondLst>
                              <p:cond delay="0"/>
                            </p:stCondLst>
                            <p:childTnLst>
                              <p:par>
                                <p:cTn id="148" presetID="10" presetClass="entr" presetSubtype="0" fill="hold" grpId="0" nodeType="clickEffect">
                                  <p:stCondLst>
                                    <p:cond delay="0"/>
                                  </p:stCondLst>
                                  <p:childTnLst>
                                    <p:set>
                                      <p:cBhvr>
                                        <p:cTn id="149" dur="1" fill="hold">
                                          <p:stCondLst>
                                            <p:cond delay="0"/>
                                          </p:stCondLst>
                                        </p:cTn>
                                        <p:tgtEl>
                                          <p:spTgt spid="49"/>
                                        </p:tgtEl>
                                        <p:attrNameLst>
                                          <p:attrName>style.visibility</p:attrName>
                                        </p:attrNameLst>
                                      </p:cBhvr>
                                      <p:to>
                                        <p:strVal val="visible"/>
                                      </p:to>
                                    </p:set>
                                    <p:animEffect transition="in" filter="fade">
                                      <p:cBhvr>
                                        <p:cTn id="150" dur="500"/>
                                        <p:tgtEl>
                                          <p:spTgt spid="49"/>
                                        </p:tgtEl>
                                      </p:cBhvr>
                                    </p:animEffect>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grpId="0" nodeType="clickEffect">
                                  <p:stCondLst>
                                    <p:cond delay="0"/>
                                  </p:stCondLst>
                                  <p:childTnLst>
                                    <p:set>
                                      <p:cBhvr>
                                        <p:cTn id="154" dur="1" fill="hold">
                                          <p:stCondLst>
                                            <p:cond delay="0"/>
                                          </p:stCondLst>
                                        </p:cTn>
                                        <p:tgtEl>
                                          <p:spTgt spid="50"/>
                                        </p:tgtEl>
                                        <p:attrNameLst>
                                          <p:attrName>style.visibility</p:attrName>
                                        </p:attrNameLst>
                                      </p:cBhvr>
                                      <p:to>
                                        <p:strVal val="visible"/>
                                      </p:to>
                                    </p:set>
                                    <p:animEffect transition="in" filter="fade">
                                      <p:cBhvr>
                                        <p:cTn id="155" dur="500"/>
                                        <p:tgtEl>
                                          <p:spTgt spid="50"/>
                                        </p:tgtEl>
                                      </p:cBhvr>
                                    </p:animEffect>
                                  </p:childTnLst>
                                </p:cTn>
                              </p:par>
                            </p:childTnLst>
                          </p:cTn>
                        </p:par>
                      </p:childTnLst>
                    </p:cTn>
                  </p:par>
                  <p:par>
                    <p:cTn id="156" fill="hold">
                      <p:stCondLst>
                        <p:cond delay="indefinite"/>
                      </p:stCondLst>
                      <p:childTnLst>
                        <p:par>
                          <p:cTn id="157" fill="hold">
                            <p:stCondLst>
                              <p:cond delay="0"/>
                            </p:stCondLst>
                            <p:childTnLst>
                              <p:par>
                                <p:cTn id="158" presetID="10" presetClass="entr" presetSubtype="0" fill="hold" grpId="0" nodeType="clickEffect">
                                  <p:stCondLst>
                                    <p:cond delay="0"/>
                                  </p:stCondLst>
                                  <p:childTnLst>
                                    <p:set>
                                      <p:cBhvr>
                                        <p:cTn id="159" dur="1" fill="hold">
                                          <p:stCondLst>
                                            <p:cond delay="0"/>
                                          </p:stCondLst>
                                        </p:cTn>
                                        <p:tgtEl>
                                          <p:spTgt spid="51"/>
                                        </p:tgtEl>
                                        <p:attrNameLst>
                                          <p:attrName>style.visibility</p:attrName>
                                        </p:attrNameLst>
                                      </p:cBhvr>
                                      <p:to>
                                        <p:strVal val="visible"/>
                                      </p:to>
                                    </p:set>
                                    <p:animEffect transition="in" filter="fade">
                                      <p:cBhvr>
                                        <p:cTn id="160"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4" grpId="0" animBg="1"/>
      <p:bldP spid="35" grpId="0" animBg="1"/>
      <p:bldP spid="36" grpId="0" animBg="1"/>
      <p:bldP spid="37" grpId="0" animBg="1"/>
      <p:bldP spid="38" grpId="0" animBg="1"/>
      <p:bldP spid="39" grpId="0" animBg="1"/>
      <p:bldP spid="40" grpId="0" animBg="1"/>
      <p:bldP spid="41" grpId="0" animBg="1"/>
      <p:bldP spid="42" grpId="0" animBg="1"/>
      <p:bldP spid="44" grpId="0" animBg="1"/>
      <p:bldP spid="45" grpId="0" animBg="1"/>
      <p:bldP spid="46" grpId="0" animBg="1"/>
      <p:bldP spid="49" grpId="0" animBg="1"/>
      <p:bldP spid="50" grpId="0" animBg="1"/>
      <p:bldP spid="5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useBgFill="1">
        <p:nvSpPr>
          <p:cNvPr id="6" name="Freeform 5"/>
          <p:cNvSpPr/>
          <p:nvPr/>
        </p:nvSpPr>
        <p:spPr>
          <a:xfrm rot="13638925">
            <a:off x="7219241" y="-2729383"/>
            <a:ext cx="12660583" cy="12865817"/>
          </a:xfrm>
          <a:custGeom>
            <a:avLst/>
            <a:gdLst>
              <a:gd name="connsiteX0" fmla="*/ 5410845 w 7126942"/>
              <a:gd name="connsiteY0" fmla="*/ 3396245 h 6855055"/>
              <a:gd name="connsiteX1" fmla="*/ 7126146 w 7126942"/>
              <a:gd name="connsiteY1" fmla="*/ 3396245 h 6855055"/>
              <a:gd name="connsiteX2" fmla="*/ 7126942 w 7126942"/>
              <a:gd name="connsiteY2" fmla="*/ 3427527 h 6855055"/>
              <a:gd name="connsiteX3" fmla="*/ 3746847 w 7126942"/>
              <a:gd name="connsiteY3" fmla="*/ 6852065 h 6855055"/>
              <a:gd name="connsiteX4" fmla="*/ 3651655 w 7126942"/>
              <a:gd name="connsiteY4" fmla="*/ 6854382 h 6855055"/>
              <a:gd name="connsiteX5" fmla="*/ 3651655 w 7126942"/>
              <a:gd name="connsiteY5" fmla="*/ 5137898 h 6855055"/>
              <a:gd name="connsiteX6" fmla="*/ 3752518 w 7126942"/>
              <a:gd name="connsiteY6" fmla="*/ 5133176 h 6855055"/>
              <a:gd name="connsiteX7" fmla="*/ 5412442 w 7126942"/>
              <a:gd name="connsiteY7" fmla="*/ 3427527 h 6855055"/>
              <a:gd name="connsiteX8" fmla="*/ 797 w 7126942"/>
              <a:gd name="connsiteY8" fmla="*/ 3396245 h 6855055"/>
              <a:gd name="connsiteX9" fmla="*/ 1716098 w 7126942"/>
              <a:gd name="connsiteY9" fmla="*/ 3396245 h 6855055"/>
              <a:gd name="connsiteX10" fmla="*/ 1714500 w 7126942"/>
              <a:gd name="connsiteY10" fmla="*/ 3427527 h 6855055"/>
              <a:gd name="connsiteX11" fmla="*/ 3374425 w 7126942"/>
              <a:gd name="connsiteY11" fmla="*/ 5133176 h 6855055"/>
              <a:gd name="connsiteX12" fmla="*/ 3502958 w 7126942"/>
              <a:gd name="connsiteY12" fmla="*/ 5139194 h 6855055"/>
              <a:gd name="connsiteX13" fmla="*/ 3502958 w 7126942"/>
              <a:gd name="connsiteY13" fmla="*/ 6855055 h 6855055"/>
              <a:gd name="connsiteX14" fmla="*/ 3380095 w 7126942"/>
              <a:gd name="connsiteY14" fmla="*/ 6852065 h 6855055"/>
              <a:gd name="connsiteX15" fmla="*/ 0 w 7126942"/>
              <a:gd name="connsiteY15" fmla="*/ 3427527 h 6855055"/>
              <a:gd name="connsiteX16" fmla="*/ 3651655 w 7126942"/>
              <a:gd name="connsiteY16" fmla="*/ 673 h 6855055"/>
              <a:gd name="connsiteX17" fmla="*/ 3746847 w 7126942"/>
              <a:gd name="connsiteY17" fmla="*/ 2989 h 6855055"/>
              <a:gd name="connsiteX18" fmla="*/ 7122589 w 7126942"/>
              <a:gd name="connsiteY18" fmla="*/ 3256552 h 6855055"/>
              <a:gd name="connsiteX19" fmla="*/ 7123205 w 7126942"/>
              <a:gd name="connsiteY19" fmla="*/ 3280742 h 6855055"/>
              <a:gd name="connsiteX20" fmla="*/ 5404947 w 7126942"/>
              <a:gd name="connsiteY20" fmla="*/ 3280742 h 6855055"/>
              <a:gd name="connsiteX21" fmla="*/ 5404044 w 7126942"/>
              <a:gd name="connsiteY21" fmla="*/ 3263046 h 6855055"/>
              <a:gd name="connsiteX22" fmla="*/ 3752518 w 7126942"/>
              <a:gd name="connsiteY22" fmla="*/ 1721879 h 6855055"/>
              <a:gd name="connsiteX23" fmla="*/ 3651655 w 7126942"/>
              <a:gd name="connsiteY23" fmla="*/ 1717156 h 6855055"/>
              <a:gd name="connsiteX24" fmla="*/ 3502958 w 7126942"/>
              <a:gd name="connsiteY24" fmla="*/ 0 h 6855055"/>
              <a:gd name="connsiteX25" fmla="*/ 3502958 w 7126942"/>
              <a:gd name="connsiteY25" fmla="*/ 1715861 h 6855055"/>
              <a:gd name="connsiteX26" fmla="*/ 3374425 w 7126942"/>
              <a:gd name="connsiteY26" fmla="*/ 1721879 h 6855055"/>
              <a:gd name="connsiteX27" fmla="*/ 1722899 w 7126942"/>
              <a:gd name="connsiteY27" fmla="*/ 3263046 h 6855055"/>
              <a:gd name="connsiteX28" fmla="*/ 1721995 w 7126942"/>
              <a:gd name="connsiteY28" fmla="*/ 3280742 h 6855055"/>
              <a:gd name="connsiteX29" fmla="*/ 3737 w 7126942"/>
              <a:gd name="connsiteY29" fmla="*/ 3280742 h 6855055"/>
              <a:gd name="connsiteX30" fmla="*/ 4353 w 7126942"/>
              <a:gd name="connsiteY30" fmla="*/ 3256552 h 6855055"/>
              <a:gd name="connsiteX31" fmla="*/ 3380095 w 7126942"/>
              <a:gd name="connsiteY31" fmla="*/ 2989 h 685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126942" h="6855055">
                <a:moveTo>
                  <a:pt x="5410845" y="3396245"/>
                </a:moveTo>
                <a:lnTo>
                  <a:pt x="7126146" y="3396245"/>
                </a:lnTo>
                <a:lnTo>
                  <a:pt x="7126942" y="3427527"/>
                </a:lnTo>
                <a:cubicBezTo>
                  <a:pt x="7126942" y="5262131"/>
                  <a:pt x="5629678" y="6760226"/>
                  <a:pt x="3746847" y="6852065"/>
                </a:cubicBezTo>
                <a:lnTo>
                  <a:pt x="3651655" y="6854382"/>
                </a:lnTo>
                <a:lnTo>
                  <a:pt x="3651655" y="5137898"/>
                </a:lnTo>
                <a:lnTo>
                  <a:pt x="3752518" y="5133176"/>
                </a:lnTo>
                <a:cubicBezTo>
                  <a:pt x="4684872" y="5045376"/>
                  <a:pt x="5412442" y="4315238"/>
                  <a:pt x="5412442" y="3427527"/>
                </a:cubicBezTo>
                <a:close/>
                <a:moveTo>
                  <a:pt x="797" y="3396245"/>
                </a:moveTo>
                <a:lnTo>
                  <a:pt x="1716098" y="3396245"/>
                </a:lnTo>
                <a:lnTo>
                  <a:pt x="1714500" y="3427527"/>
                </a:lnTo>
                <a:cubicBezTo>
                  <a:pt x="1714500" y="4315238"/>
                  <a:pt x="2442070" y="5045376"/>
                  <a:pt x="3374425" y="5133176"/>
                </a:cubicBezTo>
                <a:lnTo>
                  <a:pt x="3502958" y="5139194"/>
                </a:lnTo>
                <a:lnTo>
                  <a:pt x="3502958" y="6855055"/>
                </a:lnTo>
                <a:lnTo>
                  <a:pt x="3380095" y="6852065"/>
                </a:lnTo>
                <a:cubicBezTo>
                  <a:pt x="1497265" y="6760226"/>
                  <a:pt x="0" y="5262131"/>
                  <a:pt x="0" y="3427527"/>
                </a:cubicBezTo>
                <a:close/>
                <a:moveTo>
                  <a:pt x="3651655" y="673"/>
                </a:moveTo>
                <a:lnTo>
                  <a:pt x="3746847" y="2989"/>
                </a:lnTo>
                <a:cubicBezTo>
                  <a:pt x="5570839" y="91958"/>
                  <a:pt x="7032986" y="1500666"/>
                  <a:pt x="7122589" y="3256552"/>
                </a:cubicBezTo>
                <a:lnTo>
                  <a:pt x="7123205" y="3280742"/>
                </a:lnTo>
                <a:lnTo>
                  <a:pt x="5404947" y="3280742"/>
                </a:lnTo>
                <a:lnTo>
                  <a:pt x="5404044" y="3263046"/>
                </a:lnTo>
                <a:cubicBezTo>
                  <a:pt x="5320696" y="2451058"/>
                  <a:pt x="4626600" y="1804191"/>
                  <a:pt x="3752518" y="1721879"/>
                </a:cubicBezTo>
                <a:lnTo>
                  <a:pt x="3651655" y="1717156"/>
                </a:lnTo>
                <a:close/>
                <a:moveTo>
                  <a:pt x="3502958" y="0"/>
                </a:moveTo>
                <a:lnTo>
                  <a:pt x="3502958" y="1715861"/>
                </a:lnTo>
                <a:lnTo>
                  <a:pt x="3374425" y="1721879"/>
                </a:lnTo>
                <a:cubicBezTo>
                  <a:pt x="2500343" y="1804191"/>
                  <a:pt x="1806247" y="2451058"/>
                  <a:pt x="1722899" y="3263046"/>
                </a:cubicBezTo>
                <a:lnTo>
                  <a:pt x="1721995" y="3280742"/>
                </a:lnTo>
                <a:lnTo>
                  <a:pt x="3737" y="3280742"/>
                </a:lnTo>
                <a:lnTo>
                  <a:pt x="4353" y="3256552"/>
                </a:lnTo>
                <a:cubicBezTo>
                  <a:pt x="93956" y="1500666"/>
                  <a:pt x="1556103" y="91958"/>
                  <a:pt x="3380095" y="2989"/>
                </a:cubicBezTo>
                <a:close/>
              </a:path>
            </a:pathLst>
          </a:custGeom>
          <a:ln>
            <a:noFill/>
          </a:ln>
          <a:effectLst>
            <a:outerShdw blurRad="508000" dist="50800" dir="5400000" algn="ctr" rotWithShape="0">
              <a:srgbClr val="000000">
                <a:alpha val="7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solidFill>
                <a:schemeClr val="tx1"/>
              </a:solidFill>
            </a:endParaRPr>
          </a:p>
        </p:txBody>
      </p:sp>
      <p:sp>
        <p:nvSpPr>
          <p:cNvPr id="9" name="Title 5">
            <a:extLst>
              <a:ext uri="{FF2B5EF4-FFF2-40B4-BE49-F238E27FC236}">
                <a16:creationId xmlns="" xmlns:a16="http://schemas.microsoft.com/office/drawing/2014/main" id="{A3E08FA2-C73F-A01D-C334-4FAC0DB0C177}"/>
              </a:ext>
            </a:extLst>
          </p:cNvPr>
          <p:cNvSpPr txBox="1">
            <a:spLocks/>
          </p:cNvSpPr>
          <p:nvPr/>
        </p:nvSpPr>
        <p:spPr>
          <a:xfrm>
            <a:off x="480272" y="90232"/>
            <a:ext cx="9021762" cy="814493"/>
          </a:xfrm>
          <a:prstGeom prst="rect">
            <a:avLst/>
          </a:prstGeom>
          <a:effectLst>
            <a:outerShdw blurRad="50800" dist="50800" dir="5400000" algn="ctr" rotWithShape="0">
              <a:schemeClr val="tx1"/>
            </a:outerShdw>
          </a:effectLst>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solidFill>
                  <a:schemeClr val="bg1"/>
                </a:solidFill>
              </a:rPr>
              <a:t>Extras: Challenges &amp; Lesson Learned</a:t>
            </a:r>
            <a:endParaRPr lang="en-US" dirty="0">
              <a:solidFill>
                <a:schemeClr val="bg1"/>
              </a:solidFill>
            </a:endParaRPr>
          </a:p>
        </p:txBody>
      </p:sp>
      <p:sp>
        <p:nvSpPr>
          <p:cNvPr id="10"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487680" y="2196825"/>
            <a:ext cx="3657600" cy="2865395"/>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72" y="2391385"/>
            <a:ext cx="3352788" cy="499495"/>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CHALLENGES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71" y="3112745"/>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YAML learning curve</a:t>
            </a:r>
          </a:p>
        </p:txBody>
      </p:sp>
      <p:sp>
        <p:nvSpPr>
          <p:cNvPr id="1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20791" y="3615418"/>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UI less mature than Airflow</a:t>
            </a:r>
          </a:p>
        </p:txBody>
      </p:sp>
      <p:sp>
        <p:nvSpPr>
          <p:cNvPr id="1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40091" y="4108425"/>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pod </a:t>
            </a:r>
            <a:r>
              <a:rPr lang="en-US" sz="1400" dirty="0">
                <a:solidFill>
                  <a:schemeClr val="bg1"/>
                </a:solidFill>
                <a:latin typeface="Segoe UI Semibold"/>
                <a:cs typeface="Segoe UI" panose="020B0502040204020203" pitchFamily="34" charset="0"/>
              </a:rPr>
              <a:t>debugging complexity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40091" y="4596105"/>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K8s knowledge </a:t>
            </a:r>
            <a:r>
              <a:rPr lang="en-US" sz="1400" dirty="0">
                <a:solidFill>
                  <a:schemeClr val="bg1"/>
                </a:solidFill>
                <a:latin typeface="Segoe UI Semibold"/>
                <a:cs typeface="Segoe UI" panose="020B0502040204020203" pitchFamily="34" charset="0"/>
              </a:rPr>
              <a:t>required</a:t>
            </a:r>
          </a:p>
        </p:txBody>
      </p:sp>
      <p:sp>
        <p:nvSpPr>
          <p:cNvPr id="16"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5981912" y="2214524"/>
            <a:ext cx="3520122" cy="3233775"/>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77292" y="2391385"/>
            <a:ext cx="3190228" cy="499495"/>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LESSON LEARNED</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77291" y="3112745"/>
            <a:ext cx="319022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Design namespace strategy early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78311" y="3554458"/>
            <a:ext cx="318920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Standardize templates </a:t>
            </a:r>
            <a:r>
              <a:rPr lang="en-US" sz="1400" dirty="0" smtClean="0">
                <a:solidFill>
                  <a:schemeClr val="bg1"/>
                </a:solidFill>
                <a:latin typeface="Segoe UI Semibold"/>
                <a:cs typeface="Segoe UI" panose="020B0502040204020203" pitchFamily="34" charset="0"/>
              </a:rPr>
              <a:t>early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611" y="4006825"/>
            <a:ext cx="319022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Parameterize </a:t>
            </a: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Input/Output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68151" y="4468858"/>
            <a:ext cx="318920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Implement centralized logging</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611" y="4921225"/>
            <a:ext cx="319022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Define RBAC clearly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Tree>
    <p:extLst>
      <p:ext uri="{BB962C8B-B14F-4D97-AF65-F5344CB8AC3E}">
        <p14:creationId xmlns:p14="http://schemas.microsoft.com/office/powerpoint/2010/main" val="1529616512"/>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useBgFill="1">
        <p:nvSpPr>
          <p:cNvPr id="6" name="Freeform 5"/>
          <p:cNvSpPr/>
          <p:nvPr/>
        </p:nvSpPr>
        <p:spPr>
          <a:xfrm rot="8395941">
            <a:off x="7219241" y="-2729383"/>
            <a:ext cx="12660583" cy="12865817"/>
          </a:xfrm>
          <a:custGeom>
            <a:avLst/>
            <a:gdLst>
              <a:gd name="connsiteX0" fmla="*/ 5410845 w 7126942"/>
              <a:gd name="connsiteY0" fmla="*/ 3396245 h 6855055"/>
              <a:gd name="connsiteX1" fmla="*/ 7126146 w 7126942"/>
              <a:gd name="connsiteY1" fmla="*/ 3396245 h 6855055"/>
              <a:gd name="connsiteX2" fmla="*/ 7126942 w 7126942"/>
              <a:gd name="connsiteY2" fmla="*/ 3427527 h 6855055"/>
              <a:gd name="connsiteX3" fmla="*/ 3746847 w 7126942"/>
              <a:gd name="connsiteY3" fmla="*/ 6852065 h 6855055"/>
              <a:gd name="connsiteX4" fmla="*/ 3651655 w 7126942"/>
              <a:gd name="connsiteY4" fmla="*/ 6854382 h 6855055"/>
              <a:gd name="connsiteX5" fmla="*/ 3651655 w 7126942"/>
              <a:gd name="connsiteY5" fmla="*/ 5137898 h 6855055"/>
              <a:gd name="connsiteX6" fmla="*/ 3752518 w 7126942"/>
              <a:gd name="connsiteY6" fmla="*/ 5133176 h 6855055"/>
              <a:gd name="connsiteX7" fmla="*/ 5412442 w 7126942"/>
              <a:gd name="connsiteY7" fmla="*/ 3427527 h 6855055"/>
              <a:gd name="connsiteX8" fmla="*/ 797 w 7126942"/>
              <a:gd name="connsiteY8" fmla="*/ 3396245 h 6855055"/>
              <a:gd name="connsiteX9" fmla="*/ 1716098 w 7126942"/>
              <a:gd name="connsiteY9" fmla="*/ 3396245 h 6855055"/>
              <a:gd name="connsiteX10" fmla="*/ 1714500 w 7126942"/>
              <a:gd name="connsiteY10" fmla="*/ 3427527 h 6855055"/>
              <a:gd name="connsiteX11" fmla="*/ 3374425 w 7126942"/>
              <a:gd name="connsiteY11" fmla="*/ 5133176 h 6855055"/>
              <a:gd name="connsiteX12" fmla="*/ 3502958 w 7126942"/>
              <a:gd name="connsiteY12" fmla="*/ 5139194 h 6855055"/>
              <a:gd name="connsiteX13" fmla="*/ 3502958 w 7126942"/>
              <a:gd name="connsiteY13" fmla="*/ 6855055 h 6855055"/>
              <a:gd name="connsiteX14" fmla="*/ 3380095 w 7126942"/>
              <a:gd name="connsiteY14" fmla="*/ 6852065 h 6855055"/>
              <a:gd name="connsiteX15" fmla="*/ 0 w 7126942"/>
              <a:gd name="connsiteY15" fmla="*/ 3427527 h 6855055"/>
              <a:gd name="connsiteX16" fmla="*/ 3651655 w 7126942"/>
              <a:gd name="connsiteY16" fmla="*/ 673 h 6855055"/>
              <a:gd name="connsiteX17" fmla="*/ 3746847 w 7126942"/>
              <a:gd name="connsiteY17" fmla="*/ 2989 h 6855055"/>
              <a:gd name="connsiteX18" fmla="*/ 7122589 w 7126942"/>
              <a:gd name="connsiteY18" fmla="*/ 3256552 h 6855055"/>
              <a:gd name="connsiteX19" fmla="*/ 7123205 w 7126942"/>
              <a:gd name="connsiteY19" fmla="*/ 3280742 h 6855055"/>
              <a:gd name="connsiteX20" fmla="*/ 5404947 w 7126942"/>
              <a:gd name="connsiteY20" fmla="*/ 3280742 h 6855055"/>
              <a:gd name="connsiteX21" fmla="*/ 5404044 w 7126942"/>
              <a:gd name="connsiteY21" fmla="*/ 3263046 h 6855055"/>
              <a:gd name="connsiteX22" fmla="*/ 3752518 w 7126942"/>
              <a:gd name="connsiteY22" fmla="*/ 1721879 h 6855055"/>
              <a:gd name="connsiteX23" fmla="*/ 3651655 w 7126942"/>
              <a:gd name="connsiteY23" fmla="*/ 1717156 h 6855055"/>
              <a:gd name="connsiteX24" fmla="*/ 3502958 w 7126942"/>
              <a:gd name="connsiteY24" fmla="*/ 0 h 6855055"/>
              <a:gd name="connsiteX25" fmla="*/ 3502958 w 7126942"/>
              <a:gd name="connsiteY25" fmla="*/ 1715861 h 6855055"/>
              <a:gd name="connsiteX26" fmla="*/ 3374425 w 7126942"/>
              <a:gd name="connsiteY26" fmla="*/ 1721879 h 6855055"/>
              <a:gd name="connsiteX27" fmla="*/ 1722899 w 7126942"/>
              <a:gd name="connsiteY27" fmla="*/ 3263046 h 6855055"/>
              <a:gd name="connsiteX28" fmla="*/ 1721995 w 7126942"/>
              <a:gd name="connsiteY28" fmla="*/ 3280742 h 6855055"/>
              <a:gd name="connsiteX29" fmla="*/ 3737 w 7126942"/>
              <a:gd name="connsiteY29" fmla="*/ 3280742 h 6855055"/>
              <a:gd name="connsiteX30" fmla="*/ 4353 w 7126942"/>
              <a:gd name="connsiteY30" fmla="*/ 3256552 h 6855055"/>
              <a:gd name="connsiteX31" fmla="*/ 3380095 w 7126942"/>
              <a:gd name="connsiteY31" fmla="*/ 2989 h 685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126942" h="6855055">
                <a:moveTo>
                  <a:pt x="5410845" y="3396245"/>
                </a:moveTo>
                <a:lnTo>
                  <a:pt x="7126146" y="3396245"/>
                </a:lnTo>
                <a:lnTo>
                  <a:pt x="7126942" y="3427527"/>
                </a:lnTo>
                <a:cubicBezTo>
                  <a:pt x="7126942" y="5262131"/>
                  <a:pt x="5629678" y="6760226"/>
                  <a:pt x="3746847" y="6852065"/>
                </a:cubicBezTo>
                <a:lnTo>
                  <a:pt x="3651655" y="6854382"/>
                </a:lnTo>
                <a:lnTo>
                  <a:pt x="3651655" y="5137898"/>
                </a:lnTo>
                <a:lnTo>
                  <a:pt x="3752518" y="5133176"/>
                </a:lnTo>
                <a:cubicBezTo>
                  <a:pt x="4684872" y="5045376"/>
                  <a:pt x="5412442" y="4315238"/>
                  <a:pt x="5412442" y="3427527"/>
                </a:cubicBezTo>
                <a:close/>
                <a:moveTo>
                  <a:pt x="797" y="3396245"/>
                </a:moveTo>
                <a:lnTo>
                  <a:pt x="1716098" y="3396245"/>
                </a:lnTo>
                <a:lnTo>
                  <a:pt x="1714500" y="3427527"/>
                </a:lnTo>
                <a:cubicBezTo>
                  <a:pt x="1714500" y="4315238"/>
                  <a:pt x="2442070" y="5045376"/>
                  <a:pt x="3374425" y="5133176"/>
                </a:cubicBezTo>
                <a:lnTo>
                  <a:pt x="3502958" y="5139194"/>
                </a:lnTo>
                <a:lnTo>
                  <a:pt x="3502958" y="6855055"/>
                </a:lnTo>
                <a:lnTo>
                  <a:pt x="3380095" y="6852065"/>
                </a:lnTo>
                <a:cubicBezTo>
                  <a:pt x="1497265" y="6760226"/>
                  <a:pt x="0" y="5262131"/>
                  <a:pt x="0" y="3427527"/>
                </a:cubicBezTo>
                <a:close/>
                <a:moveTo>
                  <a:pt x="3651655" y="673"/>
                </a:moveTo>
                <a:lnTo>
                  <a:pt x="3746847" y="2989"/>
                </a:lnTo>
                <a:cubicBezTo>
                  <a:pt x="5570839" y="91958"/>
                  <a:pt x="7032986" y="1500666"/>
                  <a:pt x="7122589" y="3256552"/>
                </a:cubicBezTo>
                <a:lnTo>
                  <a:pt x="7123205" y="3280742"/>
                </a:lnTo>
                <a:lnTo>
                  <a:pt x="5404947" y="3280742"/>
                </a:lnTo>
                <a:lnTo>
                  <a:pt x="5404044" y="3263046"/>
                </a:lnTo>
                <a:cubicBezTo>
                  <a:pt x="5320696" y="2451058"/>
                  <a:pt x="4626600" y="1804191"/>
                  <a:pt x="3752518" y="1721879"/>
                </a:cubicBezTo>
                <a:lnTo>
                  <a:pt x="3651655" y="1717156"/>
                </a:lnTo>
                <a:close/>
                <a:moveTo>
                  <a:pt x="3502958" y="0"/>
                </a:moveTo>
                <a:lnTo>
                  <a:pt x="3502958" y="1715861"/>
                </a:lnTo>
                <a:lnTo>
                  <a:pt x="3374425" y="1721879"/>
                </a:lnTo>
                <a:cubicBezTo>
                  <a:pt x="2500343" y="1804191"/>
                  <a:pt x="1806247" y="2451058"/>
                  <a:pt x="1722899" y="3263046"/>
                </a:cubicBezTo>
                <a:lnTo>
                  <a:pt x="1721995" y="3280742"/>
                </a:lnTo>
                <a:lnTo>
                  <a:pt x="3737" y="3280742"/>
                </a:lnTo>
                <a:lnTo>
                  <a:pt x="4353" y="3256552"/>
                </a:lnTo>
                <a:cubicBezTo>
                  <a:pt x="93956" y="1500666"/>
                  <a:pt x="1556103" y="91958"/>
                  <a:pt x="3380095" y="2989"/>
                </a:cubicBezTo>
                <a:close/>
              </a:path>
            </a:pathLst>
          </a:custGeom>
          <a:ln>
            <a:noFill/>
          </a:ln>
          <a:effectLst>
            <a:outerShdw blurRad="508000" dist="50800" dir="5400000" algn="ctr" rotWithShape="0">
              <a:srgbClr val="000000">
                <a:alpha val="7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solidFill>
                <a:schemeClr val="tx1"/>
              </a:solidFill>
            </a:endParaRPr>
          </a:p>
        </p:txBody>
      </p:sp>
      <p:sp>
        <p:nvSpPr>
          <p:cNvPr id="4" name="Title 5">
            <a:extLst>
              <a:ext uri="{FF2B5EF4-FFF2-40B4-BE49-F238E27FC236}">
                <a16:creationId xmlns="" xmlns:a16="http://schemas.microsoft.com/office/drawing/2014/main" id="{A3E08FA2-C73F-A01D-C334-4FAC0DB0C177}"/>
              </a:ext>
            </a:extLst>
          </p:cNvPr>
          <p:cNvSpPr txBox="1">
            <a:spLocks/>
          </p:cNvSpPr>
          <p:nvPr/>
        </p:nvSpPr>
        <p:spPr>
          <a:xfrm>
            <a:off x="4757632" y="2528632"/>
            <a:ext cx="2252768" cy="814493"/>
          </a:xfrm>
          <a:prstGeom prst="rect">
            <a:avLst/>
          </a:prstGeom>
          <a:effectLst>
            <a:outerShdw blurRad="50800" dist="50800" dir="5400000" algn="ctr" rotWithShape="0">
              <a:schemeClr val="bg2">
                <a:lumMod val="75000"/>
              </a:schemeClr>
            </a:outerShdw>
          </a:effectLst>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t>Demo</a:t>
            </a:r>
            <a:endParaRPr lang="en-US" dirty="0"/>
          </a:p>
        </p:txBody>
      </p:sp>
    </p:spTree>
    <p:extLst>
      <p:ext uri="{BB962C8B-B14F-4D97-AF65-F5344CB8AC3E}">
        <p14:creationId xmlns:p14="http://schemas.microsoft.com/office/powerpoint/2010/main" val="182724160"/>
      </p:ext>
    </p:extLst>
  </p:cSld>
  <p:clrMapOvr>
    <a:masterClrMapping/>
  </p:clrMapOvr>
  <p:transition spd="slow">
    <p:cove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6000" r="-6000"/>
          </a:stretch>
        </a:blipFill>
        <a:effectLst/>
      </p:bgPr>
    </p:bg>
    <p:spTree>
      <p:nvGrpSpPr>
        <p:cNvPr id="1" name=""/>
        <p:cNvGrpSpPr/>
        <p:nvPr/>
      </p:nvGrpSpPr>
      <p:grpSpPr>
        <a:xfrm>
          <a:off x="0" y="0"/>
          <a:ext cx="0" cy="0"/>
          <a:chOff x="0" y="0"/>
          <a:chExt cx="0" cy="0"/>
        </a:xfrm>
      </p:grpSpPr>
      <p:sp useBgFill="1">
        <p:nvSpPr>
          <p:cNvPr id="6" name="Freeform 5"/>
          <p:cNvSpPr/>
          <p:nvPr/>
        </p:nvSpPr>
        <p:spPr>
          <a:xfrm rot="3085689">
            <a:off x="7219241" y="-2729383"/>
            <a:ext cx="12660583" cy="12865817"/>
          </a:xfrm>
          <a:custGeom>
            <a:avLst/>
            <a:gdLst>
              <a:gd name="connsiteX0" fmla="*/ 5410845 w 7126942"/>
              <a:gd name="connsiteY0" fmla="*/ 3396245 h 6855055"/>
              <a:gd name="connsiteX1" fmla="*/ 7126146 w 7126942"/>
              <a:gd name="connsiteY1" fmla="*/ 3396245 h 6855055"/>
              <a:gd name="connsiteX2" fmla="*/ 7126942 w 7126942"/>
              <a:gd name="connsiteY2" fmla="*/ 3427527 h 6855055"/>
              <a:gd name="connsiteX3" fmla="*/ 3746847 w 7126942"/>
              <a:gd name="connsiteY3" fmla="*/ 6852065 h 6855055"/>
              <a:gd name="connsiteX4" fmla="*/ 3651655 w 7126942"/>
              <a:gd name="connsiteY4" fmla="*/ 6854382 h 6855055"/>
              <a:gd name="connsiteX5" fmla="*/ 3651655 w 7126942"/>
              <a:gd name="connsiteY5" fmla="*/ 5137898 h 6855055"/>
              <a:gd name="connsiteX6" fmla="*/ 3752518 w 7126942"/>
              <a:gd name="connsiteY6" fmla="*/ 5133176 h 6855055"/>
              <a:gd name="connsiteX7" fmla="*/ 5412442 w 7126942"/>
              <a:gd name="connsiteY7" fmla="*/ 3427527 h 6855055"/>
              <a:gd name="connsiteX8" fmla="*/ 797 w 7126942"/>
              <a:gd name="connsiteY8" fmla="*/ 3396245 h 6855055"/>
              <a:gd name="connsiteX9" fmla="*/ 1716098 w 7126942"/>
              <a:gd name="connsiteY9" fmla="*/ 3396245 h 6855055"/>
              <a:gd name="connsiteX10" fmla="*/ 1714500 w 7126942"/>
              <a:gd name="connsiteY10" fmla="*/ 3427527 h 6855055"/>
              <a:gd name="connsiteX11" fmla="*/ 3374425 w 7126942"/>
              <a:gd name="connsiteY11" fmla="*/ 5133176 h 6855055"/>
              <a:gd name="connsiteX12" fmla="*/ 3502958 w 7126942"/>
              <a:gd name="connsiteY12" fmla="*/ 5139194 h 6855055"/>
              <a:gd name="connsiteX13" fmla="*/ 3502958 w 7126942"/>
              <a:gd name="connsiteY13" fmla="*/ 6855055 h 6855055"/>
              <a:gd name="connsiteX14" fmla="*/ 3380095 w 7126942"/>
              <a:gd name="connsiteY14" fmla="*/ 6852065 h 6855055"/>
              <a:gd name="connsiteX15" fmla="*/ 0 w 7126942"/>
              <a:gd name="connsiteY15" fmla="*/ 3427527 h 6855055"/>
              <a:gd name="connsiteX16" fmla="*/ 3651655 w 7126942"/>
              <a:gd name="connsiteY16" fmla="*/ 673 h 6855055"/>
              <a:gd name="connsiteX17" fmla="*/ 3746847 w 7126942"/>
              <a:gd name="connsiteY17" fmla="*/ 2989 h 6855055"/>
              <a:gd name="connsiteX18" fmla="*/ 7122589 w 7126942"/>
              <a:gd name="connsiteY18" fmla="*/ 3256552 h 6855055"/>
              <a:gd name="connsiteX19" fmla="*/ 7123205 w 7126942"/>
              <a:gd name="connsiteY19" fmla="*/ 3280742 h 6855055"/>
              <a:gd name="connsiteX20" fmla="*/ 5404947 w 7126942"/>
              <a:gd name="connsiteY20" fmla="*/ 3280742 h 6855055"/>
              <a:gd name="connsiteX21" fmla="*/ 5404044 w 7126942"/>
              <a:gd name="connsiteY21" fmla="*/ 3263046 h 6855055"/>
              <a:gd name="connsiteX22" fmla="*/ 3752518 w 7126942"/>
              <a:gd name="connsiteY22" fmla="*/ 1721879 h 6855055"/>
              <a:gd name="connsiteX23" fmla="*/ 3651655 w 7126942"/>
              <a:gd name="connsiteY23" fmla="*/ 1717156 h 6855055"/>
              <a:gd name="connsiteX24" fmla="*/ 3502958 w 7126942"/>
              <a:gd name="connsiteY24" fmla="*/ 0 h 6855055"/>
              <a:gd name="connsiteX25" fmla="*/ 3502958 w 7126942"/>
              <a:gd name="connsiteY25" fmla="*/ 1715861 h 6855055"/>
              <a:gd name="connsiteX26" fmla="*/ 3374425 w 7126942"/>
              <a:gd name="connsiteY26" fmla="*/ 1721879 h 6855055"/>
              <a:gd name="connsiteX27" fmla="*/ 1722899 w 7126942"/>
              <a:gd name="connsiteY27" fmla="*/ 3263046 h 6855055"/>
              <a:gd name="connsiteX28" fmla="*/ 1721995 w 7126942"/>
              <a:gd name="connsiteY28" fmla="*/ 3280742 h 6855055"/>
              <a:gd name="connsiteX29" fmla="*/ 3737 w 7126942"/>
              <a:gd name="connsiteY29" fmla="*/ 3280742 h 6855055"/>
              <a:gd name="connsiteX30" fmla="*/ 4353 w 7126942"/>
              <a:gd name="connsiteY30" fmla="*/ 3256552 h 6855055"/>
              <a:gd name="connsiteX31" fmla="*/ 3380095 w 7126942"/>
              <a:gd name="connsiteY31" fmla="*/ 2989 h 6855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126942" h="6855055">
                <a:moveTo>
                  <a:pt x="5410845" y="3396245"/>
                </a:moveTo>
                <a:lnTo>
                  <a:pt x="7126146" y="3396245"/>
                </a:lnTo>
                <a:lnTo>
                  <a:pt x="7126942" y="3427527"/>
                </a:lnTo>
                <a:cubicBezTo>
                  <a:pt x="7126942" y="5262131"/>
                  <a:pt x="5629678" y="6760226"/>
                  <a:pt x="3746847" y="6852065"/>
                </a:cubicBezTo>
                <a:lnTo>
                  <a:pt x="3651655" y="6854382"/>
                </a:lnTo>
                <a:lnTo>
                  <a:pt x="3651655" y="5137898"/>
                </a:lnTo>
                <a:lnTo>
                  <a:pt x="3752518" y="5133176"/>
                </a:lnTo>
                <a:cubicBezTo>
                  <a:pt x="4684872" y="5045376"/>
                  <a:pt x="5412442" y="4315238"/>
                  <a:pt x="5412442" y="3427527"/>
                </a:cubicBezTo>
                <a:close/>
                <a:moveTo>
                  <a:pt x="797" y="3396245"/>
                </a:moveTo>
                <a:lnTo>
                  <a:pt x="1716098" y="3396245"/>
                </a:lnTo>
                <a:lnTo>
                  <a:pt x="1714500" y="3427527"/>
                </a:lnTo>
                <a:cubicBezTo>
                  <a:pt x="1714500" y="4315238"/>
                  <a:pt x="2442070" y="5045376"/>
                  <a:pt x="3374425" y="5133176"/>
                </a:cubicBezTo>
                <a:lnTo>
                  <a:pt x="3502958" y="5139194"/>
                </a:lnTo>
                <a:lnTo>
                  <a:pt x="3502958" y="6855055"/>
                </a:lnTo>
                <a:lnTo>
                  <a:pt x="3380095" y="6852065"/>
                </a:lnTo>
                <a:cubicBezTo>
                  <a:pt x="1497265" y="6760226"/>
                  <a:pt x="0" y="5262131"/>
                  <a:pt x="0" y="3427527"/>
                </a:cubicBezTo>
                <a:close/>
                <a:moveTo>
                  <a:pt x="3651655" y="673"/>
                </a:moveTo>
                <a:lnTo>
                  <a:pt x="3746847" y="2989"/>
                </a:lnTo>
                <a:cubicBezTo>
                  <a:pt x="5570839" y="91958"/>
                  <a:pt x="7032986" y="1500666"/>
                  <a:pt x="7122589" y="3256552"/>
                </a:cubicBezTo>
                <a:lnTo>
                  <a:pt x="7123205" y="3280742"/>
                </a:lnTo>
                <a:lnTo>
                  <a:pt x="5404947" y="3280742"/>
                </a:lnTo>
                <a:lnTo>
                  <a:pt x="5404044" y="3263046"/>
                </a:lnTo>
                <a:cubicBezTo>
                  <a:pt x="5320696" y="2451058"/>
                  <a:pt x="4626600" y="1804191"/>
                  <a:pt x="3752518" y="1721879"/>
                </a:cubicBezTo>
                <a:lnTo>
                  <a:pt x="3651655" y="1717156"/>
                </a:lnTo>
                <a:close/>
                <a:moveTo>
                  <a:pt x="3502958" y="0"/>
                </a:moveTo>
                <a:lnTo>
                  <a:pt x="3502958" y="1715861"/>
                </a:lnTo>
                <a:lnTo>
                  <a:pt x="3374425" y="1721879"/>
                </a:lnTo>
                <a:cubicBezTo>
                  <a:pt x="2500343" y="1804191"/>
                  <a:pt x="1806247" y="2451058"/>
                  <a:pt x="1722899" y="3263046"/>
                </a:cubicBezTo>
                <a:lnTo>
                  <a:pt x="1721995" y="3280742"/>
                </a:lnTo>
                <a:lnTo>
                  <a:pt x="3737" y="3280742"/>
                </a:lnTo>
                <a:lnTo>
                  <a:pt x="4353" y="3256552"/>
                </a:lnTo>
                <a:cubicBezTo>
                  <a:pt x="93956" y="1500666"/>
                  <a:pt x="1556103" y="91958"/>
                  <a:pt x="3380095" y="2989"/>
                </a:cubicBezTo>
                <a:close/>
              </a:path>
            </a:pathLst>
          </a:custGeom>
          <a:ln>
            <a:noFill/>
          </a:ln>
          <a:effectLst>
            <a:outerShdw blurRad="508000" dist="50800" dir="5400000" algn="ctr" rotWithShape="0">
              <a:srgbClr val="000000">
                <a:alpha val="7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solidFill>
                <a:schemeClr val="tx1"/>
              </a:solidFill>
            </a:endParaRPr>
          </a:p>
        </p:txBody>
      </p:sp>
      <p:sp>
        <p:nvSpPr>
          <p:cNvPr id="7" name="Title 5">
            <a:extLst>
              <a:ext uri="{FF2B5EF4-FFF2-40B4-BE49-F238E27FC236}">
                <a16:creationId xmlns="" xmlns:a16="http://schemas.microsoft.com/office/drawing/2014/main" id="{A3E08FA2-C73F-A01D-C334-4FAC0DB0C177}"/>
              </a:ext>
            </a:extLst>
          </p:cNvPr>
          <p:cNvSpPr txBox="1">
            <a:spLocks/>
          </p:cNvSpPr>
          <p:nvPr/>
        </p:nvSpPr>
        <p:spPr>
          <a:xfrm>
            <a:off x="4757632" y="2528632"/>
            <a:ext cx="3281468" cy="814493"/>
          </a:xfrm>
          <a:prstGeom prst="rect">
            <a:avLst/>
          </a:prstGeom>
          <a:effectLst>
            <a:outerShdw blurRad="50800" dist="50800" dir="5400000" algn="ctr" rotWithShape="0">
              <a:schemeClr val="bg2">
                <a:lumMod val="75000"/>
              </a:schemeClr>
            </a:outerShdw>
          </a:effectLst>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t>Questions</a:t>
            </a:r>
            <a:endParaRPr lang="en-US" dirty="0"/>
          </a:p>
        </p:txBody>
      </p:sp>
    </p:spTree>
    <p:extLst>
      <p:ext uri="{BB962C8B-B14F-4D97-AF65-F5344CB8AC3E}">
        <p14:creationId xmlns:p14="http://schemas.microsoft.com/office/powerpoint/2010/main" val="4026560668"/>
      </p:ext>
    </p:extLst>
  </p:cSld>
  <p:clrMapOvr>
    <a:masterClrMapping/>
  </p:clrMapOvr>
  <p:transition spd="slow">
    <p:cove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EEEEEE"/>
        </a:solidFill>
        <a:effectLst/>
      </p:bgPr>
    </p:bg>
    <p:spTree>
      <p:nvGrpSpPr>
        <p:cNvPr id="1" name=""/>
        <p:cNvGrpSpPr/>
        <p:nvPr/>
      </p:nvGrpSpPr>
      <p:grpSpPr>
        <a:xfrm>
          <a:off x="0" y="0"/>
          <a:ext cx="0" cy="0"/>
          <a:chOff x="0" y="0"/>
          <a:chExt cx="0" cy="0"/>
        </a:xfrm>
      </p:grpSpPr>
      <p:pic>
        <p:nvPicPr>
          <p:cNvPr id="23" name="Picture Placeholder 27"/>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442" r="442"/>
          <a:stretch>
            <a:fillRect/>
          </a:stretch>
        </p:blipFill>
        <p:spPr>
          <a:xfrm>
            <a:off x="7504831" y="1678092"/>
            <a:ext cx="3569569" cy="3601113"/>
          </a:xfrm>
        </p:spPr>
      </p:pic>
      <p:sp>
        <p:nvSpPr>
          <p:cNvPr id="22" name="Rounded Rectangle 3_1">
            <a:extLst>
              <a:ext uri="{FF2B5EF4-FFF2-40B4-BE49-F238E27FC236}">
                <a16:creationId xmlns="" xmlns:a16="http://schemas.microsoft.com/office/drawing/2014/main" id="{02A69FC5-E869-7938-B593-C7A42F844DCF}"/>
              </a:ext>
            </a:extLst>
          </p:cNvPr>
          <p:cNvSpPr/>
          <p:nvPr/>
        </p:nvSpPr>
        <p:spPr>
          <a:xfrm>
            <a:off x="167640" y="1871133"/>
            <a:ext cx="6659880" cy="3032449"/>
          </a:xfrm>
          <a:prstGeom prst="roundRect">
            <a:avLst>
              <a:gd name="adj" fmla="val 3632"/>
            </a:avLst>
          </a:prstGeom>
          <a:solidFill>
            <a:schemeClr val="bg1"/>
          </a:solidFill>
          <a:ln>
            <a:noFill/>
          </a:ln>
          <a:effectLst>
            <a:outerShdw blurRad="127000" dist="38100" dir="8100000" sx="101000" sy="101000" algn="tr" rotWithShape="0">
              <a:srgbClr val="CAC5B8">
                <a:alpha val="64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lstStyle/>
          <a:p>
            <a:pPr marL="0" marR="0" lvl="0" indent="0" defTabSz="932742" eaLnBrk="1" fontAlgn="auto" latinLnBrk="0" hangingPunct="1">
              <a:lnSpc>
                <a:spcPct val="100000"/>
              </a:lnSpc>
              <a:spcBef>
                <a:spcPts val="1200"/>
              </a:spcBef>
              <a:spcAft>
                <a:spcPts val="0"/>
              </a:spcAft>
              <a:buClrTx/>
              <a:buSzTx/>
              <a:buFontTx/>
              <a:buNone/>
              <a:tabLst/>
              <a:defRPr/>
            </a:pPr>
            <a:r>
              <a:rPr kumimoji="0" lang="en-US" sz="2500" b="0" i="0" u="none" strike="noStrike" kern="0" cap="none" spc="0" normalizeH="0" baseline="0" noProof="0" dirty="0" err="1" smtClean="0">
                <a:ln>
                  <a:noFill/>
                </a:ln>
                <a:solidFill>
                  <a:srgbClr val="000000"/>
                </a:solidFill>
                <a:effectLst/>
                <a:uLnTx/>
                <a:uFillTx/>
                <a:latin typeface="+mj-lt"/>
                <a:ea typeface="+mn-ea"/>
                <a:cs typeface="+mn-cs"/>
              </a:rPr>
              <a:t>Shahril</a:t>
            </a:r>
            <a:r>
              <a:rPr kumimoji="0" lang="en-US" sz="2500" b="0" i="0" u="none" strike="noStrike" kern="0" cap="none" spc="0" normalizeH="0" baseline="0" noProof="0" dirty="0" smtClean="0">
                <a:ln>
                  <a:noFill/>
                </a:ln>
                <a:solidFill>
                  <a:srgbClr val="000000"/>
                </a:solidFill>
                <a:effectLst/>
                <a:uLnTx/>
                <a:uFillTx/>
                <a:latin typeface="+mj-lt"/>
                <a:ea typeface="+mn-ea"/>
                <a:cs typeface="+mn-cs"/>
              </a:rPr>
              <a:t> </a:t>
            </a:r>
            <a:r>
              <a:rPr kumimoji="0" lang="en-US" sz="2500" b="0" i="0" u="none" strike="noStrike" kern="0" cap="none" spc="0" normalizeH="0" baseline="0" noProof="0" dirty="0" err="1" smtClean="0">
                <a:ln>
                  <a:noFill/>
                </a:ln>
                <a:solidFill>
                  <a:srgbClr val="000000"/>
                </a:solidFill>
                <a:effectLst/>
                <a:uLnTx/>
                <a:uFillTx/>
                <a:latin typeface="+mj-lt"/>
                <a:ea typeface="+mn-ea"/>
                <a:cs typeface="+mn-cs"/>
              </a:rPr>
              <a:t>Kamaruzzaman</a:t>
            </a:r>
            <a:endParaRPr kumimoji="0" lang="en-US" sz="2500" b="0" i="0" u="none" strike="noStrike" kern="0" cap="none" spc="0" normalizeH="0" baseline="0" noProof="0" dirty="0">
              <a:ln>
                <a:noFill/>
              </a:ln>
              <a:solidFill>
                <a:srgbClr val="000000"/>
              </a:solidFill>
              <a:effectLst/>
              <a:uLnTx/>
              <a:uFillTx/>
              <a:ea typeface="+mn-ea"/>
              <a:cs typeface="+mn-cs"/>
            </a:endParaRPr>
          </a:p>
          <a:p>
            <a:pPr lvl="0" defTabSz="932742">
              <a:spcBef>
                <a:spcPts val="1800"/>
              </a:spcBef>
              <a:defRPr/>
            </a:pPr>
            <a:r>
              <a:rPr lang="en-US" sz="1600" kern="0" dirty="0" smtClean="0">
                <a:solidFill>
                  <a:srgbClr val="000000"/>
                </a:solidFill>
              </a:rPr>
              <a:t>      Head </a:t>
            </a:r>
            <a:r>
              <a:rPr lang="en-US" sz="1600" kern="0" dirty="0">
                <a:solidFill>
                  <a:srgbClr val="000000"/>
                </a:solidFill>
              </a:rPr>
              <a:t>of Technology, Engineering and </a:t>
            </a:r>
            <a:r>
              <a:rPr lang="en-US" sz="1600" kern="0" dirty="0" smtClean="0">
                <a:solidFill>
                  <a:srgbClr val="000000"/>
                </a:solidFill>
              </a:rPr>
              <a:t>Data @ Bank Islam</a:t>
            </a:r>
            <a:endParaRPr lang="en-US" sz="1600" kern="0" dirty="0">
              <a:solidFill>
                <a:srgbClr val="000000"/>
              </a:solidFill>
            </a:endParaRPr>
          </a:p>
          <a:p>
            <a:pPr lvl="0" defTabSz="932742">
              <a:spcBef>
                <a:spcPts val="1800"/>
              </a:spcBef>
              <a:defRPr/>
            </a:pPr>
            <a:r>
              <a:rPr lang="en-US" sz="1600" kern="0" dirty="0" smtClean="0">
                <a:solidFill>
                  <a:srgbClr val="000000"/>
                </a:solidFill>
              </a:rPr>
              <a:t>      </a:t>
            </a:r>
            <a:r>
              <a:rPr lang="en-US" sz="1600" kern="0" dirty="0" smtClean="0">
                <a:solidFill>
                  <a:srgbClr val="000000"/>
                </a:solidFill>
                <a:hlinkClick r:id="rId4"/>
              </a:rPr>
              <a:t>https</a:t>
            </a:r>
            <a:r>
              <a:rPr lang="en-US" sz="1600" kern="0" dirty="0">
                <a:solidFill>
                  <a:srgbClr val="000000"/>
                </a:solidFill>
                <a:hlinkClick r:id="rId4"/>
              </a:rPr>
              <a:t>://carillpower.github.io/shahril_kamaruzzaman</a:t>
            </a:r>
            <a:r>
              <a:rPr lang="en-US" sz="1600" kern="0" dirty="0" smtClean="0">
                <a:solidFill>
                  <a:srgbClr val="000000"/>
                </a:solidFill>
                <a:hlinkClick r:id="rId4"/>
              </a:rPr>
              <a:t>/</a:t>
            </a:r>
            <a:r>
              <a:rPr lang="en-US" sz="1600" kern="0" dirty="0" smtClean="0">
                <a:solidFill>
                  <a:srgbClr val="000000"/>
                </a:solidFill>
              </a:rPr>
              <a:t/>
            </a:r>
            <a:br>
              <a:rPr lang="en-US" sz="1600" kern="0" dirty="0" smtClean="0">
                <a:solidFill>
                  <a:srgbClr val="000000"/>
                </a:solidFill>
              </a:rPr>
            </a:br>
            <a:r>
              <a:rPr lang="en-US" sz="1600" kern="0" dirty="0" smtClean="0">
                <a:solidFill>
                  <a:srgbClr val="000000"/>
                </a:solidFill>
              </a:rPr>
              <a:t/>
            </a:r>
            <a:br>
              <a:rPr lang="en-US" sz="1600" kern="0" dirty="0" smtClean="0">
                <a:solidFill>
                  <a:srgbClr val="000000"/>
                </a:solidFill>
              </a:rPr>
            </a:br>
            <a:endParaRPr kumimoji="0" lang="en-US" sz="1600" b="0" i="0" u="none" strike="noStrike" kern="0" cap="none" spc="0" normalizeH="0" baseline="0" noProof="0" dirty="0">
              <a:ln>
                <a:noFill/>
              </a:ln>
              <a:solidFill>
                <a:srgbClr val="000000"/>
              </a:solidFill>
              <a:effectLst/>
              <a:uLnTx/>
              <a:uFillTx/>
              <a:ea typeface="+mn-ea"/>
              <a:cs typeface="+mn-cs"/>
            </a:endParaRPr>
          </a:p>
        </p:txBody>
      </p:sp>
      <p:sp>
        <p:nvSpPr>
          <p:cNvPr id="30" name="Title 5">
            <a:extLst>
              <a:ext uri="{FF2B5EF4-FFF2-40B4-BE49-F238E27FC236}">
                <a16:creationId xmlns="" xmlns:a16="http://schemas.microsoft.com/office/drawing/2014/main" id="{A3E08FA2-C73F-A01D-C334-4FAC0DB0C177}"/>
              </a:ext>
            </a:extLst>
          </p:cNvPr>
          <p:cNvSpPr txBox="1">
            <a:spLocks/>
          </p:cNvSpPr>
          <p:nvPr/>
        </p:nvSpPr>
        <p:spPr>
          <a:xfrm>
            <a:off x="579438" y="353632"/>
            <a:ext cx="4205936" cy="81449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t>About Me</a:t>
            </a:r>
            <a:endParaRPr lang="en-US" dirty="0"/>
          </a:p>
        </p:txBody>
      </p:sp>
      <p:pic>
        <p:nvPicPr>
          <p:cNvPr id="4" name="Picture 3"/>
          <p:cNvPicPr>
            <a:picLocks noChangeAspect="1"/>
          </p:cNvPicPr>
          <p:nvPr/>
        </p:nvPicPr>
        <p:blipFill>
          <a:blip r:embed="rId5"/>
          <a:stretch>
            <a:fillRect/>
          </a:stretch>
        </p:blipFill>
        <p:spPr>
          <a:xfrm>
            <a:off x="435877" y="3533092"/>
            <a:ext cx="336283" cy="314447"/>
          </a:xfrm>
          <a:prstGeom prst="rect">
            <a:avLst/>
          </a:prstGeom>
        </p:spPr>
      </p:pic>
      <p:pic>
        <p:nvPicPr>
          <p:cNvPr id="7" name="Picture 6"/>
          <p:cNvPicPr>
            <a:picLocks noChangeAspect="1"/>
          </p:cNvPicPr>
          <p:nvPr/>
        </p:nvPicPr>
        <p:blipFill>
          <a:blip r:embed="rId6"/>
          <a:stretch>
            <a:fillRect/>
          </a:stretch>
        </p:blipFill>
        <p:spPr>
          <a:xfrm>
            <a:off x="445719" y="3045412"/>
            <a:ext cx="316281" cy="316281"/>
          </a:xfrm>
          <a:prstGeom prst="rect">
            <a:avLst/>
          </a:prstGeom>
        </p:spPr>
      </p:pic>
    </p:spTree>
    <p:extLst>
      <p:ext uri="{BB962C8B-B14F-4D97-AF65-F5344CB8AC3E}">
        <p14:creationId xmlns:p14="http://schemas.microsoft.com/office/powerpoint/2010/main" val="3015403722"/>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xmlns="" id="{AF1A4846-2FF9-3092-D784-FE20FE375ABF}"/>
              </a:ext>
            </a:extLst>
          </p:cNvPr>
          <p:cNvSpPr txBox="1">
            <a:spLocks/>
          </p:cNvSpPr>
          <p:nvPr/>
        </p:nvSpPr>
        <p:spPr>
          <a:xfrm>
            <a:off x="457200" y="1653033"/>
            <a:ext cx="11222038" cy="3980558"/>
          </a:xfrm>
          <a:prstGeom prst="rect">
            <a:avLst/>
          </a:prstGeom>
        </p:spPr>
        <p:txBody>
          <a:bodyPr/>
          <a:lst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a:lstStyle>
          <a:p>
            <a:r>
              <a:rPr lang="en-US" dirty="0" smtClean="0"/>
              <a:t>Current </a:t>
            </a:r>
            <a:r>
              <a:rPr lang="en-US" dirty="0"/>
              <a:t>Challenges in Data Orchestration</a:t>
            </a:r>
          </a:p>
          <a:p>
            <a:r>
              <a:rPr lang="en-US" dirty="0" smtClean="0"/>
              <a:t>What </a:t>
            </a:r>
            <a:r>
              <a:rPr lang="en-US" dirty="0"/>
              <a:t>is Argo Workflows?</a:t>
            </a:r>
          </a:p>
          <a:p>
            <a:r>
              <a:rPr lang="en-US" dirty="0" smtClean="0"/>
              <a:t>How Argo Workflows benefits from K8s ?</a:t>
            </a:r>
            <a:endParaRPr lang="en-US" dirty="0"/>
          </a:p>
          <a:p>
            <a:r>
              <a:rPr lang="en-US" dirty="0" smtClean="0"/>
              <a:t>Authentication </a:t>
            </a:r>
            <a:r>
              <a:rPr lang="en-US" dirty="0"/>
              <a:t>&amp; RBAC Architecture</a:t>
            </a:r>
          </a:p>
          <a:p>
            <a:r>
              <a:rPr lang="en-US" dirty="0" smtClean="0"/>
              <a:t>Workflow </a:t>
            </a:r>
            <a:r>
              <a:rPr lang="en-US" dirty="0"/>
              <a:t>Architecture &amp; Components</a:t>
            </a:r>
          </a:p>
          <a:p>
            <a:r>
              <a:rPr lang="en-US" dirty="0" smtClean="0"/>
              <a:t>Features </a:t>
            </a:r>
            <a:r>
              <a:rPr lang="en-US" dirty="0"/>
              <a:t>for </a:t>
            </a:r>
            <a:r>
              <a:rPr lang="en-US" dirty="0" smtClean="0"/>
              <a:t>Data Engineering</a:t>
            </a:r>
            <a:endParaRPr lang="en-US" dirty="0"/>
          </a:p>
          <a:p>
            <a:r>
              <a:rPr lang="en-US" dirty="0" smtClean="0"/>
              <a:t>Argo </a:t>
            </a:r>
            <a:r>
              <a:rPr lang="en-US" dirty="0"/>
              <a:t>Workflows </a:t>
            </a:r>
            <a:r>
              <a:rPr lang="en-US" dirty="0" err="1"/>
              <a:t>vs</a:t>
            </a:r>
            <a:r>
              <a:rPr lang="en-US" dirty="0"/>
              <a:t> Airflow</a:t>
            </a:r>
          </a:p>
          <a:p>
            <a:r>
              <a:rPr lang="en-US" dirty="0" smtClean="0"/>
              <a:t>Extras</a:t>
            </a:r>
          </a:p>
          <a:p>
            <a:r>
              <a:rPr lang="en-US" dirty="0" smtClean="0"/>
              <a:t>Q &amp; A</a:t>
            </a:r>
            <a:endParaRPr lang="en-US" dirty="0"/>
          </a:p>
          <a:p>
            <a:pPr>
              <a:spcAft>
                <a:spcPts val="600"/>
              </a:spcAft>
            </a:pPr>
            <a:endParaRPr lang="en-US" dirty="0"/>
          </a:p>
        </p:txBody>
      </p:sp>
      <p:sp>
        <p:nvSpPr>
          <p:cNvPr id="6" name="Title 5">
            <a:extLst>
              <a:ext uri="{FF2B5EF4-FFF2-40B4-BE49-F238E27FC236}">
                <a16:creationId xmlns="" xmlns:a16="http://schemas.microsoft.com/office/drawing/2014/main" id="{A3E08FA2-C73F-A01D-C334-4FAC0DB0C177}"/>
              </a:ext>
            </a:extLst>
          </p:cNvPr>
          <p:cNvSpPr txBox="1">
            <a:spLocks/>
          </p:cNvSpPr>
          <p:nvPr/>
        </p:nvSpPr>
        <p:spPr>
          <a:xfrm>
            <a:off x="579438" y="353632"/>
            <a:ext cx="4205936" cy="81449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t>Agenda</a:t>
            </a:r>
            <a:endParaRPr lang="en-US" dirty="0"/>
          </a:p>
        </p:txBody>
      </p:sp>
    </p:spTree>
    <p:extLst>
      <p:ext uri="{BB962C8B-B14F-4D97-AF65-F5344CB8AC3E}">
        <p14:creationId xmlns:p14="http://schemas.microsoft.com/office/powerpoint/2010/main" val="2766176623"/>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A3E08FA2-C73F-A01D-C334-4FAC0DB0C177}"/>
              </a:ext>
            </a:extLst>
          </p:cNvPr>
          <p:cNvSpPr txBox="1">
            <a:spLocks/>
          </p:cNvSpPr>
          <p:nvPr/>
        </p:nvSpPr>
        <p:spPr>
          <a:xfrm>
            <a:off x="579438" y="353632"/>
            <a:ext cx="9021762" cy="814493"/>
          </a:xfrm>
          <a:prstGeom prst="rect">
            <a:avLst/>
          </a:prstGeom>
        </p:spPr>
        <p:txBody>
          <a:bodyPr vert="horz" lIns="91440" tIns="45720" rIns="91440" bIns="45720" rtlCol="0" anchor="b">
            <a:normAutofit fontScale="85000" lnSpcReduction="10000"/>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t>Current </a:t>
            </a:r>
            <a:r>
              <a:rPr lang="en-US" sz="4000" b="1" dirty="0"/>
              <a:t>Challenges in Data Orchestration</a:t>
            </a:r>
          </a:p>
          <a:p>
            <a:endParaRPr lang="en-US" dirty="0"/>
          </a:p>
        </p:txBody>
      </p:sp>
      <p:sp>
        <p:nvSpPr>
          <p:cNvPr id="7"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457200" y="1168126"/>
            <a:ext cx="10887458" cy="1235267"/>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05539" y="1334532"/>
            <a:ext cx="10566387" cy="415993"/>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TLDR;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9" name="Text Placeholder 2">
            <a:extLst>
              <a:ext uri="{FF2B5EF4-FFF2-40B4-BE49-F238E27FC236}">
                <a16:creationId xmlns="" xmlns:a16="http://schemas.microsoft.com/office/drawing/2014/main" id="{E15275E9-F296-1E2D-E2D3-6BAE1C5EFAAF}"/>
              </a:ext>
            </a:extLst>
          </p:cNvPr>
          <p:cNvSpPr txBox="1">
            <a:spLocks/>
          </p:cNvSpPr>
          <p:nvPr/>
        </p:nvSpPr>
        <p:spPr>
          <a:xfrm>
            <a:off x="605539" y="1806099"/>
            <a:ext cx="10290175" cy="430887"/>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smtClean="0"/>
              <a:t>In </a:t>
            </a:r>
            <a:r>
              <a:rPr lang="en-US" sz="1400" dirty="0"/>
              <a:t>data pipelines, </a:t>
            </a:r>
            <a:r>
              <a:rPr lang="en-US" sz="1400" b="1" dirty="0" smtClean="0"/>
              <a:t>upstream</a:t>
            </a:r>
            <a:r>
              <a:rPr lang="en-US" sz="1400" dirty="0" smtClean="0"/>
              <a:t> </a:t>
            </a:r>
            <a:r>
              <a:rPr lang="en-US" sz="1400" dirty="0"/>
              <a:t>refers to source systems and ingestion (APIs, databases, files), while </a:t>
            </a:r>
            <a:r>
              <a:rPr lang="en-US" sz="1400" b="1" dirty="0" smtClean="0"/>
              <a:t>downstream</a:t>
            </a:r>
            <a:r>
              <a:rPr lang="en-US" sz="1400" dirty="0" smtClean="0"/>
              <a:t> </a:t>
            </a:r>
            <a:r>
              <a:rPr lang="en-US" sz="1400" dirty="0"/>
              <a:t>refers to consumption and serving layers (analytics, ML models, dashboards).</a:t>
            </a:r>
          </a:p>
        </p:txBody>
      </p:sp>
      <p:sp>
        <p:nvSpPr>
          <p:cNvPr id="13"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447040" y="2569799"/>
            <a:ext cx="5273040" cy="2678346"/>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5379" y="2736205"/>
            <a:ext cx="4951969" cy="619933"/>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OPERATIONAL</a:t>
            </a:r>
            <a:r>
              <a:rPr kumimoji="0" lang="en-US" sz="1400" b="0" i="0" u="none" strike="noStrike" kern="1200" cap="none" spc="0" normalizeH="0" noProof="0" dirty="0" smtClean="0">
                <a:ln>
                  <a:noFill/>
                </a:ln>
                <a:solidFill>
                  <a:schemeClr val="bg1"/>
                </a:solidFill>
                <a:effectLst/>
                <a:uLnTx/>
                <a:uFillTx/>
                <a:latin typeface="Segoe UI Semibold"/>
                <a:ea typeface="+mn-ea"/>
                <a:cs typeface="Segoe UI" panose="020B0502040204020203" pitchFamily="34" charset="0"/>
              </a:rPr>
              <a:t> CHALLENGES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5" name="Text Placeholder 2">
            <a:extLst>
              <a:ext uri="{FF2B5EF4-FFF2-40B4-BE49-F238E27FC236}">
                <a16:creationId xmlns="" xmlns:a16="http://schemas.microsoft.com/office/drawing/2014/main" id="{E15275E9-F296-1E2D-E2D3-6BAE1C5EFAAF}"/>
              </a:ext>
            </a:extLst>
          </p:cNvPr>
          <p:cNvSpPr txBox="1">
            <a:spLocks/>
          </p:cNvSpPr>
          <p:nvPr/>
        </p:nvSpPr>
        <p:spPr>
          <a:xfrm>
            <a:off x="619772" y="3565459"/>
            <a:ext cx="4927576" cy="1508105"/>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smtClean="0"/>
              <a:t>Scaling </a:t>
            </a:r>
            <a:r>
              <a:rPr lang="en-US" sz="1400" dirty="0"/>
              <a:t>workflow workers</a:t>
            </a:r>
          </a:p>
          <a:p>
            <a:r>
              <a:rPr lang="en-US" sz="1400" dirty="0" smtClean="0"/>
              <a:t>Python </a:t>
            </a:r>
            <a:r>
              <a:rPr lang="en-US" sz="1400" dirty="0"/>
              <a:t>dependency conflicts</a:t>
            </a:r>
          </a:p>
          <a:p>
            <a:r>
              <a:rPr lang="en-US" sz="1400" dirty="0" smtClean="0"/>
              <a:t>Infrastructure </a:t>
            </a:r>
            <a:r>
              <a:rPr lang="en-US" sz="1400" dirty="0"/>
              <a:t>maintenance overhead</a:t>
            </a:r>
          </a:p>
          <a:p>
            <a:r>
              <a:rPr lang="en-US" sz="1400" dirty="0" smtClean="0"/>
              <a:t>Difficult </a:t>
            </a:r>
            <a:r>
              <a:rPr lang="en-US" sz="1400" dirty="0"/>
              <a:t>multi-team isolation</a:t>
            </a:r>
          </a:p>
          <a:p>
            <a:r>
              <a:rPr lang="en-US" sz="1400" dirty="0" smtClean="0"/>
              <a:t>Complex </a:t>
            </a:r>
            <a:r>
              <a:rPr lang="en-US" sz="1400" dirty="0"/>
              <a:t>CI/CD integration</a:t>
            </a:r>
          </a:p>
          <a:p>
            <a:r>
              <a:rPr lang="en-US" sz="1400" dirty="0" smtClean="0"/>
              <a:t>Resource </a:t>
            </a:r>
            <a:r>
              <a:rPr lang="en-US" sz="1400" dirty="0"/>
              <a:t>inefficiency</a:t>
            </a:r>
          </a:p>
        </p:txBody>
      </p:sp>
      <p:sp>
        <p:nvSpPr>
          <p:cNvPr id="19"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6071618" y="2569799"/>
            <a:ext cx="5273040" cy="2678346"/>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2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219957" y="2736205"/>
            <a:ext cx="4951969" cy="619933"/>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WORKLOAD</a:t>
            </a:r>
            <a:r>
              <a:rPr kumimoji="0" lang="en-US" sz="1400" b="0" i="0" u="none" strike="noStrike" kern="1200" cap="none" spc="0" normalizeH="0" noProof="0" dirty="0" smtClean="0">
                <a:ln>
                  <a:noFill/>
                </a:ln>
                <a:solidFill>
                  <a:schemeClr val="bg1"/>
                </a:solidFill>
                <a:effectLst/>
                <a:uLnTx/>
                <a:uFillTx/>
                <a:latin typeface="Segoe UI Semibold"/>
                <a:ea typeface="+mn-ea"/>
                <a:cs typeface="Segoe UI" panose="020B0502040204020203" pitchFamily="34" charset="0"/>
              </a:rPr>
              <a:t> CHALLENGES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1" name="Text Placeholder 2">
            <a:extLst>
              <a:ext uri="{FF2B5EF4-FFF2-40B4-BE49-F238E27FC236}">
                <a16:creationId xmlns="" xmlns:a16="http://schemas.microsoft.com/office/drawing/2014/main" id="{E15275E9-F296-1E2D-E2D3-6BAE1C5EFAAF}"/>
              </a:ext>
            </a:extLst>
          </p:cNvPr>
          <p:cNvSpPr txBox="1">
            <a:spLocks/>
          </p:cNvSpPr>
          <p:nvPr/>
        </p:nvSpPr>
        <p:spPr>
          <a:xfrm>
            <a:off x="6244350" y="3565459"/>
            <a:ext cx="4927576" cy="1508105"/>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smtClean="0"/>
              <a:t>Python </a:t>
            </a:r>
            <a:r>
              <a:rPr lang="en-US" sz="1400" dirty="0"/>
              <a:t>ETL</a:t>
            </a:r>
          </a:p>
          <a:p>
            <a:r>
              <a:rPr lang="en-US" sz="1400" dirty="0" smtClean="0"/>
              <a:t>Spark </a:t>
            </a:r>
            <a:r>
              <a:rPr lang="en-US" sz="1400" dirty="0"/>
              <a:t>jobs</a:t>
            </a:r>
          </a:p>
          <a:p>
            <a:r>
              <a:rPr lang="en-US" sz="1400" dirty="0" smtClean="0"/>
              <a:t>DBT </a:t>
            </a:r>
            <a:r>
              <a:rPr lang="en-US" sz="1400" dirty="0"/>
              <a:t>transformations</a:t>
            </a:r>
          </a:p>
          <a:p>
            <a:r>
              <a:rPr lang="en-US" sz="1400" dirty="0" smtClean="0"/>
              <a:t>Machine </a:t>
            </a:r>
            <a:r>
              <a:rPr lang="en-US" sz="1400" dirty="0"/>
              <a:t>learning workloads</a:t>
            </a:r>
          </a:p>
          <a:p>
            <a:r>
              <a:rPr lang="en-US" sz="1400" dirty="0" smtClean="0"/>
              <a:t>API </a:t>
            </a:r>
            <a:r>
              <a:rPr lang="en-US" sz="1400" dirty="0"/>
              <a:t>ingestion</a:t>
            </a:r>
          </a:p>
          <a:p>
            <a:r>
              <a:rPr lang="en-US" sz="1400" dirty="0" smtClean="0"/>
              <a:t>Containerized </a:t>
            </a:r>
            <a:r>
              <a:rPr lang="en-US" sz="1400" dirty="0"/>
              <a:t>applications</a:t>
            </a:r>
          </a:p>
        </p:txBody>
      </p:sp>
    </p:spTree>
    <p:extLst>
      <p:ext uri="{BB962C8B-B14F-4D97-AF65-F5344CB8AC3E}">
        <p14:creationId xmlns:p14="http://schemas.microsoft.com/office/powerpoint/2010/main" val="202684792"/>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A3E08FA2-C73F-A01D-C334-4FAC0DB0C177}"/>
              </a:ext>
            </a:extLst>
          </p:cNvPr>
          <p:cNvSpPr txBox="1">
            <a:spLocks/>
          </p:cNvSpPr>
          <p:nvPr/>
        </p:nvSpPr>
        <p:spPr>
          <a:xfrm>
            <a:off x="579438" y="353632"/>
            <a:ext cx="9021762" cy="81449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t>What is Argo Workflows?</a:t>
            </a:r>
            <a:endParaRPr lang="en-US" sz="4000" b="1" dirty="0"/>
          </a:p>
          <a:p>
            <a:endParaRPr lang="en-US" dirty="0"/>
          </a:p>
        </p:txBody>
      </p:sp>
      <p:sp>
        <p:nvSpPr>
          <p:cNvPr id="7"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457200" y="1168126"/>
            <a:ext cx="10887458" cy="1235267"/>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05539" y="1334532"/>
            <a:ext cx="10566387" cy="415993"/>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TLDR;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9" name="Text Placeholder 2">
            <a:extLst>
              <a:ext uri="{FF2B5EF4-FFF2-40B4-BE49-F238E27FC236}">
                <a16:creationId xmlns="" xmlns:a16="http://schemas.microsoft.com/office/drawing/2014/main" id="{E15275E9-F296-1E2D-E2D3-6BAE1C5EFAAF}"/>
              </a:ext>
            </a:extLst>
          </p:cNvPr>
          <p:cNvSpPr txBox="1">
            <a:spLocks/>
          </p:cNvSpPr>
          <p:nvPr/>
        </p:nvSpPr>
        <p:spPr>
          <a:xfrm>
            <a:off x="605539" y="1806099"/>
            <a:ext cx="10290175" cy="215444"/>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smtClean="0"/>
              <a:t>Argo </a:t>
            </a:r>
            <a:r>
              <a:rPr lang="en-US" sz="1400" dirty="0"/>
              <a:t>Workflows is a </a:t>
            </a:r>
            <a:r>
              <a:rPr lang="en-US" sz="1400" dirty="0" err="1"/>
              <a:t>Kubernetes</a:t>
            </a:r>
            <a:r>
              <a:rPr lang="en-US" sz="1400" dirty="0"/>
              <a:t>-native workflow engine where each workflow step executes as a </a:t>
            </a:r>
            <a:r>
              <a:rPr lang="en-US" sz="1400" dirty="0" err="1"/>
              <a:t>Kubernetes</a:t>
            </a:r>
            <a:r>
              <a:rPr lang="en-US" sz="1400" dirty="0"/>
              <a:t> pod.</a:t>
            </a:r>
          </a:p>
        </p:txBody>
      </p:sp>
      <p:pic>
        <p:nvPicPr>
          <p:cNvPr id="2" name="Picture 1"/>
          <p:cNvPicPr>
            <a:picLocks noChangeAspect="1"/>
          </p:cNvPicPr>
          <p:nvPr/>
        </p:nvPicPr>
        <p:blipFill>
          <a:blip r:embed="rId3"/>
          <a:stretch>
            <a:fillRect/>
          </a:stretch>
        </p:blipFill>
        <p:spPr>
          <a:xfrm>
            <a:off x="6703961" y="74692"/>
            <a:ext cx="1388664" cy="881132"/>
          </a:xfrm>
          <a:prstGeom prst="rect">
            <a:avLst/>
          </a:prstGeom>
        </p:spPr>
      </p:pic>
      <p:pic>
        <p:nvPicPr>
          <p:cNvPr id="4" name="Picture 3"/>
          <p:cNvPicPr>
            <a:picLocks noChangeAspect="1"/>
          </p:cNvPicPr>
          <p:nvPr/>
        </p:nvPicPr>
        <p:blipFill>
          <a:blip r:embed="rId4"/>
          <a:stretch>
            <a:fillRect/>
          </a:stretch>
        </p:blipFill>
        <p:spPr>
          <a:xfrm>
            <a:off x="457200" y="2569799"/>
            <a:ext cx="5032287" cy="3688715"/>
          </a:xfrm>
          <a:prstGeom prst="rect">
            <a:avLst/>
          </a:prstGeom>
        </p:spPr>
      </p:pic>
      <p:sp>
        <p:nvSpPr>
          <p:cNvPr id="17"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6248400" y="2569799"/>
            <a:ext cx="4900128" cy="2713401"/>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379427" y="2708576"/>
            <a:ext cx="4685015" cy="415993"/>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CORE</a:t>
            </a:r>
            <a:r>
              <a:rPr kumimoji="0" lang="en-US" sz="1400" b="0" i="0" u="none" strike="noStrike" kern="1200" cap="none" spc="0" normalizeH="0" noProof="0" dirty="0" smtClean="0">
                <a:ln>
                  <a:noFill/>
                </a:ln>
                <a:solidFill>
                  <a:schemeClr val="bg1"/>
                </a:solidFill>
                <a:effectLst/>
                <a:uLnTx/>
                <a:uFillTx/>
                <a:latin typeface="Segoe UI Semibold"/>
                <a:ea typeface="+mn-ea"/>
                <a:cs typeface="Segoe UI" panose="020B0502040204020203" pitchFamily="34" charset="0"/>
              </a:rPr>
              <a:t> CONCEPT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2" name="Text Placeholder 2">
            <a:extLst>
              <a:ext uri="{FF2B5EF4-FFF2-40B4-BE49-F238E27FC236}">
                <a16:creationId xmlns="" xmlns:a16="http://schemas.microsoft.com/office/drawing/2014/main" id="{E15275E9-F296-1E2D-E2D3-6BAE1C5EFAAF}"/>
              </a:ext>
            </a:extLst>
          </p:cNvPr>
          <p:cNvSpPr txBox="1">
            <a:spLocks/>
          </p:cNvSpPr>
          <p:nvPr/>
        </p:nvSpPr>
        <p:spPr>
          <a:xfrm>
            <a:off x="6379427" y="3263346"/>
            <a:ext cx="4004295" cy="1508105"/>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MY" sz="1400" dirty="0" err="1" smtClean="0"/>
              <a:t>Kubernetes</a:t>
            </a:r>
            <a:r>
              <a:rPr lang="en-MY" sz="1400" dirty="0" smtClean="0"/>
              <a:t> </a:t>
            </a:r>
            <a:r>
              <a:rPr lang="en-MY" sz="1400" dirty="0"/>
              <a:t>CRD-based</a:t>
            </a:r>
          </a:p>
          <a:p>
            <a:r>
              <a:rPr lang="en-MY" sz="1400" dirty="0" smtClean="0"/>
              <a:t>Container-native </a:t>
            </a:r>
            <a:r>
              <a:rPr lang="en-MY" sz="1400" dirty="0"/>
              <a:t>execution</a:t>
            </a:r>
          </a:p>
          <a:p>
            <a:r>
              <a:rPr lang="en-MY" sz="1400" dirty="0" smtClean="0"/>
              <a:t>Declarative </a:t>
            </a:r>
            <a:r>
              <a:rPr lang="en-MY" sz="1400" dirty="0"/>
              <a:t>YAML workflows</a:t>
            </a:r>
          </a:p>
          <a:p>
            <a:r>
              <a:rPr lang="en-MY" sz="1400" dirty="0" smtClean="0"/>
              <a:t>DAG </a:t>
            </a:r>
            <a:r>
              <a:rPr lang="en-MY" sz="1400" dirty="0"/>
              <a:t>orchestration</a:t>
            </a:r>
          </a:p>
          <a:p>
            <a:r>
              <a:rPr lang="en-MY" sz="1400" dirty="0" smtClean="0"/>
              <a:t>Event-driven </a:t>
            </a:r>
            <a:r>
              <a:rPr lang="en-MY" sz="1400" dirty="0"/>
              <a:t>capable</a:t>
            </a:r>
          </a:p>
          <a:p>
            <a:r>
              <a:rPr lang="en-MY" sz="1400" dirty="0" err="1" smtClean="0"/>
              <a:t>GitOps</a:t>
            </a:r>
            <a:r>
              <a:rPr lang="en-MY" sz="1400" dirty="0" smtClean="0"/>
              <a:t> </a:t>
            </a:r>
            <a:r>
              <a:rPr lang="en-MY" sz="1400" dirty="0"/>
              <a:t>friendly</a:t>
            </a:r>
          </a:p>
        </p:txBody>
      </p:sp>
    </p:spTree>
    <p:extLst>
      <p:ext uri="{BB962C8B-B14F-4D97-AF65-F5344CB8AC3E}">
        <p14:creationId xmlns:p14="http://schemas.microsoft.com/office/powerpoint/2010/main" val="1173968584"/>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A3E08FA2-C73F-A01D-C334-4FAC0DB0C177}"/>
              </a:ext>
            </a:extLst>
          </p:cNvPr>
          <p:cNvSpPr txBox="1">
            <a:spLocks/>
          </p:cNvSpPr>
          <p:nvPr/>
        </p:nvSpPr>
        <p:spPr>
          <a:xfrm>
            <a:off x="579438" y="353632"/>
            <a:ext cx="9021762" cy="814493"/>
          </a:xfrm>
          <a:prstGeom prst="rect">
            <a:avLst/>
          </a:prstGeom>
        </p:spPr>
        <p:txBody>
          <a:bodyPr vert="horz" lIns="91440" tIns="45720" rIns="91440" bIns="45720" rtlCol="0" anchor="b">
            <a:normAutofit fontScale="92500"/>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t>How Argo Workflows benefits from K8s?</a:t>
            </a:r>
            <a:endParaRPr lang="en-US" sz="4000" b="1" dirty="0"/>
          </a:p>
          <a:p>
            <a:endParaRPr lang="en-US" dirty="0"/>
          </a:p>
        </p:txBody>
      </p:sp>
      <p:sp>
        <p:nvSpPr>
          <p:cNvPr id="13"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447040" y="1168124"/>
            <a:ext cx="10727466" cy="5259569"/>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72" y="1362685"/>
            <a:ext cx="4951969" cy="619933"/>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KUBERNETES CAPABILITY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02972" y="1362684"/>
            <a:ext cx="4951969" cy="619933"/>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ARGO WORKFLOWS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71" y="2084045"/>
            <a:ext cx="4951969" cy="405155"/>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Pods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20791" y="2586718"/>
            <a:ext cx="4951969" cy="405155"/>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Namespaces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70571" y="5741645"/>
            <a:ext cx="4951969" cy="405155"/>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Persisten</a:t>
            </a:r>
            <a:r>
              <a:rPr lang="en-US" sz="1400" dirty="0" smtClean="0">
                <a:solidFill>
                  <a:schemeClr val="bg1"/>
                </a:solidFill>
                <a:latin typeface="Segoe UI Semibold"/>
                <a:cs typeface="Segoe UI" panose="020B0502040204020203" pitchFamily="34" charset="0"/>
              </a:rPr>
              <a:t>t Volume</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60411" y="5213325"/>
            <a:ext cx="4951969" cy="405155"/>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Service Accounts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40091" y="3110205"/>
            <a:ext cx="4951969" cy="405155"/>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RBAC</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40091" y="3638525"/>
            <a:ext cx="4951969" cy="405155"/>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Secrets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60411" y="4166845"/>
            <a:ext cx="4951969" cy="405155"/>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ConfigMaps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60411" y="4674845"/>
            <a:ext cx="4951969" cy="405155"/>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AutoScaling</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23291" y="2094205"/>
            <a:ext cx="4951969" cy="405155"/>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a:solidFill>
                  <a:schemeClr val="bg1"/>
                </a:solidFill>
                <a:latin typeface="Segoe UI Semibold"/>
                <a:cs typeface="Segoe UI" panose="020B0502040204020203" pitchFamily="34" charset="0"/>
              </a:rPr>
              <a:t>Each task becomes a pod</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24311" y="2596878"/>
            <a:ext cx="4951969" cy="405155"/>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Multi-tenant isolation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74091" y="5751805"/>
            <a:ext cx="4951969" cy="405155"/>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Shared </a:t>
            </a:r>
            <a:r>
              <a:rPr lang="en-US" sz="1400" dirty="0">
                <a:solidFill>
                  <a:schemeClr val="bg1"/>
                </a:solidFill>
                <a:latin typeface="Segoe UI Semibold"/>
                <a:cs typeface="Segoe UI" panose="020B0502040204020203" pitchFamily="34" charset="0"/>
              </a:rPr>
              <a:t>storage support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63931" y="5223485"/>
            <a:ext cx="4951969" cy="405155"/>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a:solidFill>
                  <a:schemeClr val="bg1"/>
                </a:solidFill>
                <a:latin typeface="Segoe UI Semibold"/>
                <a:cs typeface="Segoe UI" panose="020B0502040204020203" pitchFamily="34" charset="0"/>
              </a:rPr>
              <a:t>Fine-grained permissions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43611" y="3120365"/>
            <a:ext cx="4951969" cy="405155"/>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a:solidFill>
                  <a:schemeClr val="bg1"/>
                </a:solidFill>
                <a:latin typeface="Segoe UI Semibold"/>
                <a:cs typeface="Segoe UI" panose="020B0502040204020203" pitchFamily="34" charset="0"/>
              </a:rPr>
              <a:t>Native security model</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43611" y="3648685"/>
            <a:ext cx="4951969" cy="405155"/>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Native secret injection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63931" y="4177005"/>
            <a:ext cx="4951969" cy="405155"/>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a:solidFill>
                  <a:schemeClr val="bg1"/>
                </a:solidFill>
                <a:latin typeface="Segoe UI Semibold"/>
                <a:cs typeface="Segoe UI" panose="020B0502040204020203" pitchFamily="34" charset="0"/>
              </a:rPr>
              <a:t>Centralized configuration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963931" y="4685005"/>
            <a:ext cx="4951969" cy="405155"/>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a:solidFill>
                  <a:schemeClr val="bg1"/>
                </a:solidFill>
                <a:latin typeface="Segoe UI Semibold"/>
                <a:cs typeface="Segoe UI" panose="020B0502040204020203" pitchFamily="34" charset="0"/>
              </a:rPr>
              <a:t>Dynamic pipeline scaling</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Tree>
    <p:extLst>
      <p:ext uri="{BB962C8B-B14F-4D97-AF65-F5344CB8AC3E}">
        <p14:creationId xmlns:p14="http://schemas.microsoft.com/office/powerpoint/2010/main" val="3337767562"/>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A3E08FA2-C73F-A01D-C334-4FAC0DB0C177}"/>
              </a:ext>
            </a:extLst>
          </p:cNvPr>
          <p:cNvSpPr txBox="1">
            <a:spLocks/>
          </p:cNvSpPr>
          <p:nvPr/>
        </p:nvSpPr>
        <p:spPr>
          <a:xfrm>
            <a:off x="579438" y="353632"/>
            <a:ext cx="9021762" cy="81449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t>Authentication </a:t>
            </a:r>
            <a:r>
              <a:rPr lang="en-US" sz="4000" b="1" dirty="0"/>
              <a:t>&amp; RBAC Architecture</a:t>
            </a:r>
          </a:p>
          <a:p>
            <a:endParaRPr lang="en-US" dirty="0"/>
          </a:p>
        </p:txBody>
      </p:sp>
      <p:sp>
        <p:nvSpPr>
          <p:cNvPr id="7"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457200" y="1168126"/>
            <a:ext cx="5425440" cy="4663714"/>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1">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05539" y="1334532"/>
            <a:ext cx="5134861" cy="415993"/>
          </a:xfrm>
          <a:prstGeom prst="roundRect">
            <a:avLst>
              <a:gd name="adj" fmla="val 15951"/>
            </a:avLst>
          </a:prstGeom>
          <a:solidFill>
            <a:schemeClr val="tx2">
              <a:lumMod val="7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ARCHITECTURE FLOW</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pic>
        <p:nvPicPr>
          <p:cNvPr id="10" name="Picture 9"/>
          <p:cNvPicPr>
            <a:picLocks noChangeAspect="1"/>
          </p:cNvPicPr>
          <p:nvPr/>
        </p:nvPicPr>
        <p:blipFill>
          <a:blip r:embed="rId3"/>
          <a:stretch>
            <a:fillRect/>
          </a:stretch>
        </p:blipFill>
        <p:spPr>
          <a:xfrm>
            <a:off x="752720" y="3242730"/>
            <a:ext cx="725421" cy="909132"/>
          </a:xfrm>
          <a:prstGeom prst="rect">
            <a:avLst/>
          </a:prstGeom>
        </p:spPr>
      </p:pic>
      <p:pic>
        <p:nvPicPr>
          <p:cNvPr id="11" name="Picture 10"/>
          <p:cNvPicPr>
            <a:picLocks noChangeAspect="1"/>
          </p:cNvPicPr>
          <p:nvPr/>
        </p:nvPicPr>
        <p:blipFill>
          <a:blip r:embed="rId4"/>
          <a:stretch>
            <a:fillRect/>
          </a:stretch>
        </p:blipFill>
        <p:spPr>
          <a:xfrm>
            <a:off x="985243" y="1894328"/>
            <a:ext cx="2337077" cy="1241572"/>
          </a:xfrm>
          <a:prstGeom prst="rect">
            <a:avLst/>
          </a:prstGeom>
        </p:spPr>
      </p:pic>
      <p:pic>
        <p:nvPicPr>
          <p:cNvPr id="12" name="Picture 11"/>
          <p:cNvPicPr>
            <a:picLocks noChangeAspect="1"/>
          </p:cNvPicPr>
          <p:nvPr/>
        </p:nvPicPr>
        <p:blipFill>
          <a:blip r:embed="rId5"/>
          <a:stretch>
            <a:fillRect/>
          </a:stretch>
        </p:blipFill>
        <p:spPr>
          <a:xfrm>
            <a:off x="3397008" y="2361738"/>
            <a:ext cx="1930103" cy="1548324"/>
          </a:xfrm>
          <a:prstGeom prst="rect">
            <a:avLst/>
          </a:prstGeom>
        </p:spPr>
      </p:pic>
      <p:pic>
        <p:nvPicPr>
          <p:cNvPr id="13" name="Picture 12"/>
          <p:cNvPicPr>
            <a:picLocks noChangeAspect="1"/>
          </p:cNvPicPr>
          <p:nvPr/>
        </p:nvPicPr>
        <p:blipFill>
          <a:blip r:embed="rId6"/>
          <a:stretch>
            <a:fillRect/>
          </a:stretch>
        </p:blipFill>
        <p:spPr>
          <a:xfrm>
            <a:off x="2731154" y="3910062"/>
            <a:ext cx="2595957" cy="1130754"/>
          </a:xfrm>
          <a:prstGeom prst="rect">
            <a:avLst/>
          </a:prstGeom>
        </p:spPr>
      </p:pic>
      <p:pic>
        <p:nvPicPr>
          <p:cNvPr id="14" name="Picture 13"/>
          <p:cNvPicPr>
            <a:picLocks noChangeAspect="1"/>
          </p:cNvPicPr>
          <p:nvPr/>
        </p:nvPicPr>
        <p:blipFill>
          <a:blip r:embed="rId7"/>
          <a:stretch>
            <a:fillRect/>
          </a:stretch>
        </p:blipFill>
        <p:spPr>
          <a:xfrm>
            <a:off x="870174" y="4501026"/>
            <a:ext cx="1860980" cy="956616"/>
          </a:xfrm>
          <a:prstGeom prst="rect">
            <a:avLst/>
          </a:prstGeom>
        </p:spPr>
      </p:pic>
      <p:sp>
        <p:nvSpPr>
          <p:cNvPr id="19"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6043688" y="1168125"/>
            <a:ext cx="5273040" cy="2074605"/>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2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2027" y="1334531"/>
            <a:ext cx="4951969" cy="619933"/>
          </a:xfrm>
          <a:prstGeom prst="roundRect">
            <a:avLst>
              <a:gd name="adj" fmla="val 15951"/>
            </a:avLst>
          </a:prstGeom>
          <a:solidFill>
            <a:schemeClr val="tx2">
              <a:lumMod val="7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AUTHENTICATION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1" name="Text Placeholder 2">
            <a:extLst>
              <a:ext uri="{FF2B5EF4-FFF2-40B4-BE49-F238E27FC236}">
                <a16:creationId xmlns="" xmlns:a16="http://schemas.microsoft.com/office/drawing/2014/main" id="{E15275E9-F296-1E2D-E2D3-6BAE1C5EFAAF}"/>
              </a:ext>
            </a:extLst>
          </p:cNvPr>
          <p:cNvSpPr txBox="1">
            <a:spLocks/>
          </p:cNvSpPr>
          <p:nvPr/>
        </p:nvSpPr>
        <p:spPr>
          <a:xfrm>
            <a:off x="6216420" y="2163785"/>
            <a:ext cx="4927576" cy="732508"/>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MY" sz="1400" dirty="0" smtClean="0"/>
              <a:t>User </a:t>
            </a:r>
            <a:r>
              <a:rPr lang="en-MY" sz="1400" dirty="0"/>
              <a:t>login via username/password</a:t>
            </a:r>
          </a:p>
          <a:p>
            <a:r>
              <a:rPr lang="en-MY" sz="1400" dirty="0" smtClean="0"/>
              <a:t>OIDC </a:t>
            </a:r>
            <a:r>
              <a:rPr lang="en-MY" sz="1400" dirty="0"/>
              <a:t>integration using </a:t>
            </a:r>
            <a:r>
              <a:rPr lang="en-MY" sz="1400" b="1" dirty="0" err="1" smtClean="0"/>
              <a:t>Dex</a:t>
            </a:r>
            <a:r>
              <a:rPr lang="en-MY" sz="1400" b="1" dirty="0" smtClean="0"/>
              <a:t> / </a:t>
            </a:r>
            <a:r>
              <a:rPr lang="en-MY" sz="1400" b="1" dirty="0" err="1" smtClean="0"/>
              <a:t>KeyCloak</a:t>
            </a:r>
            <a:r>
              <a:rPr lang="en-MY" sz="1400" b="1" dirty="0" smtClean="0"/>
              <a:t> / SSO</a:t>
            </a:r>
            <a:endParaRPr lang="en-MY" sz="1400" b="1" dirty="0"/>
          </a:p>
          <a:p>
            <a:r>
              <a:rPr lang="en-MY" sz="1400" dirty="0" smtClean="0"/>
              <a:t>Centralized </a:t>
            </a:r>
            <a:r>
              <a:rPr lang="en-MY" sz="1400" dirty="0"/>
              <a:t>identity management</a:t>
            </a:r>
          </a:p>
        </p:txBody>
      </p:sp>
      <p:sp>
        <p:nvSpPr>
          <p:cNvPr id="23"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6043688" y="3811952"/>
            <a:ext cx="5273040" cy="1918288"/>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2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2027" y="3978358"/>
            <a:ext cx="4951969" cy="619933"/>
          </a:xfrm>
          <a:prstGeom prst="roundRect">
            <a:avLst>
              <a:gd name="adj" fmla="val 15951"/>
            </a:avLst>
          </a:prstGeom>
          <a:solidFill>
            <a:schemeClr val="tx2">
              <a:lumMod val="7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AUTHORIZATION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5" name="Text Placeholder 2">
            <a:extLst>
              <a:ext uri="{FF2B5EF4-FFF2-40B4-BE49-F238E27FC236}">
                <a16:creationId xmlns="" xmlns:a16="http://schemas.microsoft.com/office/drawing/2014/main" id="{E15275E9-F296-1E2D-E2D3-6BAE1C5EFAAF}"/>
              </a:ext>
            </a:extLst>
          </p:cNvPr>
          <p:cNvSpPr txBox="1">
            <a:spLocks/>
          </p:cNvSpPr>
          <p:nvPr/>
        </p:nvSpPr>
        <p:spPr>
          <a:xfrm>
            <a:off x="6216420" y="4807612"/>
            <a:ext cx="4927576" cy="732508"/>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28016"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dirty="0" err="1" smtClean="0"/>
              <a:t>Kubernetes</a:t>
            </a:r>
            <a:r>
              <a:rPr lang="en-US" sz="1400" dirty="0" smtClean="0"/>
              <a:t>-native </a:t>
            </a:r>
            <a:r>
              <a:rPr lang="en-US" sz="1400" dirty="0"/>
              <a:t>RBAC</a:t>
            </a:r>
          </a:p>
          <a:p>
            <a:r>
              <a:rPr lang="en-US" sz="1400" dirty="0" smtClean="0"/>
              <a:t>Team-based </a:t>
            </a:r>
            <a:r>
              <a:rPr lang="en-US" sz="1400" dirty="0"/>
              <a:t>access control</a:t>
            </a:r>
          </a:p>
          <a:p>
            <a:r>
              <a:rPr lang="en-US" sz="1400" dirty="0" smtClean="0"/>
              <a:t>Namespace </a:t>
            </a:r>
            <a:r>
              <a:rPr lang="en-US" sz="1400" dirty="0"/>
              <a:t>isolation</a:t>
            </a:r>
          </a:p>
        </p:txBody>
      </p:sp>
    </p:spTree>
    <p:extLst>
      <p:ext uri="{BB962C8B-B14F-4D97-AF65-F5344CB8AC3E}">
        <p14:creationId xmlns:p14="http://schemas.microsoft.com/office/powerpoint/2010/main" val="1127452234"/>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A3E08FA2-C73F-A01D-C334-4FAC0DB0C177}"/>
              </a:ext>
            </a:extLst>
          </p:cNvPr>
          <p:cNvSpPr txBox="1">
            <a:spLocks/>
          </p:cNvSpPr>
          <p:nvPr/>
        </p:nvSpPr>
        <p:spPr>
          <a:xfrm>
            <a:off x="579438" y="353632"/>
            <a:ext cx="9021762" cy="81449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t>Workflow Architecture &amp; Component</a:t>
            </a:r>
            <a:endParaRPr lang="en-US" sz="4000" b="1" dirty="0"/>
          </a:p>
          <a:p>
            <a:endParaRPr lang="en-US" dirty="0"/>
          </a:p>
        </p:txBody>
      </p:sp>
      <p:sp>
        <p:nvSpPr>
          <p:cNvPr id="16"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487680" y="1168125"/>
            <a:ext cx="5740400" cy="3474995"/>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72" y="1362685"/>
            <a:ext cx="2674821" cy="499495"/>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COMPONENT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3378206" y="1362685"/>
            <a:ext cx="2674821" cy="499495"/>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PURPOSE</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71" y="2084045"/>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Argo Server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20791" y="2586718"/>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Workflow Controller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40091" y="3110205"/>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K8s API Server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40091" y="3638525"/>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Workflow Executor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60411" y="4166845"/>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Artifact</a:t>
            </a:r>
            <a:r>
              <a:rPr kumimoji="0" lang="en-US" sz="1400" b="0" i="0" u="none" strike="noStrike" kern="1200" cap="none" spc="0" normalizeH="0" noProof="0" dirty="0" smtClean="0">
                <a:ln>
                  <a:noFill/>
                </a:ln>
                <a:solidFill>
                  <a:schemeClr val="bg1"/>
                </a:solidFill>
                <a:effectLst/>
                <a:uLnTx/>
                <a:uFillTx/>
                <a:latin typeface="Segoe UI Semibold"/>
                <a:ea typeface="+mn-ea"/>
                <a:cs typeface="Segoe UI" panose="020B0502040204020203" pitchFamily="34" charset="0"/>
              </a:rPr>
              <a:t> Repository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3398525" y="2094206"/>
            <a:ext cx="2674821" cy="326443"/>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UI &amp; API</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3399545" y="2596879"/>
            <a:ext cx="2674821" cy="326443"/>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err="1" smtClean="0">
                <a:solidFill>
                  <a:schemeClr val="bg1"/>
                </a:solidFill>
                <a:latin typeface="Segoe UI Semibold"/>
                <a:cs typeface="Segoe UI" panose="020B0502040204020203" pitchFamily="34" charset="0"/>
              </a:rPr>
              <a:t>Ochestrate</a:t>
            </a:r>
            <a:r>
              <a:rPr lang="en-US" sz="1400" dirty="0" smtClean="0">
                <a:solidFill>
                  <a:schemeClr val="bg1"/>
                </a:solidFill>
                <a:latin typeface="Segoe UI Semibold"/>
                <a:cs typeface="Segoe UI" panose="020B0502040204020203" pitchFamily="34" charset="0"/>
              </a:rPr>
              <a:t> Workflow</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3418845" y="3120366"/>
            <a:ext cx="2674821" cy="326443"/>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Create Pods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3423925" y="3644039"/>
            <a:ext cx="2674821" cy="296766"/>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Execute Tasks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3444245" y="4172359"/>
            <a:ext cx="2674821" cy="296766"/>
          </a:xfrm>
          <a:prstGeom prst="roundRect">
            <a:avLst>
              <a:gd name="adj" fmla="val 15951"/>
            </a:avLst>
          </a:prstGeom>
          <a:solidFill>
            <a:schemeClr val="accent3">
              <a:lumMod val="50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Store logs &amp; Output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1"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7739592" y="1185825"/>
            <a:ext cx="3212888" cy="2991182"/>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4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7934972" y="1362685"/>
            <a:ext cx="2674821" cy="499495"/>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SUPPORTING COMPONENT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7934971" y="2084045"/>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Artifact</a:t>
            </a:r>
            <a:r>
              <a:rPr kumimoji="0" lang="en-US" sz="1400" b="0" i="0" u="none" strike="noStrike" kern="1200" cap="none" spc="0" normalizeH="0" noProof="0" dirty="0" smtClean="0">
                <a:ln>
                  <a:noFill/>
                </a:ln>
                <a:solidFill>
                  <a:schemeClr val="bg1"/>
                </a:solidFill>
                <a:effectLst/>
                <a:uLnTx/>
                <a:uFillTx/>
                <a:latin typeface="Segoe UI Semibold"/>
                <a:ea typeface="+mn-ea"/>
                <a:cs typeface="Segoe UI" panose="020B0502040204020203" pitchFamily="34" charset="0"/>
              </a:rPr>
              <a:t> Storage</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7935991" y="2586718"/>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Workflow Templates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7955291" y="3110205"/>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Cron</a:t>
            </a: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 Workflows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7955291" y="3638525"/>
            <a:ext cx="2674821"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Event Triggers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54"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317618" y="4811289"/>
            <a:ext cx="11153022" cy="1317959"/>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5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459858" y="5002907"/>
            <a:ext cx="10787262" cy="375277"/>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EXAMPLES</a:t>
            </a:r>
            <a:r>
              <a:rPr kumimoji="0" lang="en-US" sz="1400" b="0" i="0" u="none" strike="noStrike" kern="1200" cap="none" spc="0" normalizeH="0" noProof="0" dirty="0" smtClean="0">
                <a:ln>
                  <a:noFill/>
                </a:ln>
                <a:solidFill>
                  <a:schemeClr val="bg1"/>
                </a:solidFill>
                <a:effectLst/>
                <a:uLnTx/>
                <a:uFillTx/>
                <a:latin typeface="Segoe UI Semibold"/>
                <a:ea typeface="+mn-ea"/>
                <a:cs typeface="Segoe UI" panose="020B0502040204020203" pitchFamily="34" charset="0"/>
              </a:rPr>
              <a:t> …</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5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459858" y="5614826"/>
            <a:ext cx="1817148"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Submit Workflow</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6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562978" y="5614826"/>
            <a:ext cx="1817148"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Argo Controller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6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8923138" y="5604666"/>
            <a:ext cx="2323982"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Logs &amp; Artifact Stored</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6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759058" y="5604666"/>
            <a:ext cx="1817148"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sz="1400" dirty="0" smtClean="0">
                <a:solidFill>
                  <a:schemeClr val="bg1"/>
                </a:solidFill>
                <a:latin typeface="Segoe UI Semibold"/>
                <a:cs typeface="Segoe UI" panose="020B0502040204020203" pitchFamily="34" charset="0"/>
              </a:rPr>
              <a:t>Task Executer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6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4645778" y="5604666"/>
            <a:ext cx="1817148"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Pod Created</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Tree>
    <p:extLst>
      <p:ext uri="{BB962C8B-B14F-4D97-AF65-F5344CB8AC3E}">
        <p14:creationId xmlns:p14="http://schemas.microsoft.com/office/powerpoint/2010/main" val="2558203799"/>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A3E08FA2-C73F-A01D-C334-4FAC0DB0C177}"/>
              </a:ext>
            </a:extLst>
          </p:cNvPr>
          <p:cNvSpPr txBox="1">
            <a:spLocks/>
          </p:cNvSpPr>
          <p:nvPr/>
        </p:nvSpPr>
        <p:spPr>
          <a:xfrm>
            <a:off x="480272" y="90232"/>
            <a:ext cx="9021762" cy="81449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t>Data Engineering Features</a:t>
            </a:r>
            <a:endParaRPr lang="en-US" dirty="0"/>
          </a:p>
        </p:txBody>
      </p:sp>
      <p:sp>
        <p:nvSpPr>
          <p:cNvPr id="16"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487680" y="1168125"/>
            <a:ext cx="3657600" cy="4358915"/>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72" y="1362685"/>
            <a:ext cx="3352788" cy="499495"/>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CORE FEATURES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71" y="2084045"/>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DAG </a:t>
            </a: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Ochestration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20791" y="2586718"/>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Cron</a:t>
            </a: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 Scheduling</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40091" y="3079725"/>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Retry Policy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40091" y="3567405"/>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Parameterized Workflows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29931" y="4044925"/>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Parallel Execution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1"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5981912" y="1185825"/>
            <a:ext cx="3520122" cy="2991182"/>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4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77292" y="1362685"/>
            <a:ext cx="3190228" cy="499495"/>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PLATFORM</a:t>
            </a:r>
            <a:r>
              <a:rPr kumimoji="0" lang="en-US" sz="1400" b="0" i="0" u="none" strike="noStrike" kern="1200" cap="none" spc="0" normalizeH="0" noProof="0" dirty="0" smtClean="0">
                <a:ln>
                  <a:noFill/>
                </a:ln>
                <a:solidFill>
                  <a:schemeClr val="bg1"/>
                </a:solidFill>
                <a:effectLst/>
                <a:uLnTx/>
                <a:uFillTx/>
                <a:latin typeface="Segoe UI Semibold"/>
                <a:ea typeface="+mn-ea"/>
                <a:cs typeface="Segoe UI" panose="020B0502040204020203" pitchFamily="34" charset="0"/>
              </a:rPr>
              <a:t> FEATURES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77291" y="2084045"/>
            <a:ext cx="319022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Container Native Execution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78311" y="2586718"/>
            <a:ext cx="318920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GitOps</a:t>
            </a: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 Friendly Deployment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611" y="3110205"/>
            <a:ext cx="319022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K8s </a:t>
            </a: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Autoscaling</a:t>
            </a: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 support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611" y="3638525"/>
            <a:ext cx="319022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Multi Tenant Isolation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50251" y="4522445"/>
            <a:ext cx="33019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Workflow Templates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50251" y="4969485"/>
            <a:ext cx="33019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Manual / Event Driven Trigger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Tree>
    <p:extLst>
      <p:ext uri="{BB962C8B-B14F-4D97-AF65-F5344CB8AC3E}">
        <p14:creationId xmlns:p14="http://schemas.microsoft.com/office/powerpoint/2010/main" val="3958212192"/>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A3E08FA2-C73F-A01D-C334-4FAC0DB0C177}"/>
              </a:ext>
            </a:extLst>
          </p:cNvPr>
          <p:cNvSpPr txBox="1">
            <a:spLocks/>
          </p:cNvSpPr>
          <p:nvPr/>
        </p:nvSpPr>
        <p:spPr>
          <a:xfrm>
            <a:off x="480272" y="90232"/>
            <a:ext cx="9021762" cy="81449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t>Argo Workflow </a:t>
            </a:r>
            <a:r>
              <a:rPr lang="en-US" sz="4000" b="1" dirty="0" err="1" smtClean="0"/>
              <a:t>vs</a:t>
            </a:r>
            <a:r>
              <a:rPr lang="en-US" sz="4000" b="1" dirty="0" smtClean="0"/>
              <a:t> Airflow</a:t>
            </a:r>
            <a:endParaRPr lang="en-US" dirty="0"/>
          </a:p>
        </p:txBody>
      </p:sp>
      <p:sp>
        <p:nvSpPr>
          <p:cNvPr id="16"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flipV="1">
            <a:off x="436880" y="933879"/>
            <a:ext cx="7149565" cy="4135959"/>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490767" y="1015132"/>
            <a:ext cx="2289999" cy="341161"/>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CAPABILITY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490765" y="1413485"/>
            <a:ext cx="2290000"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K8s Native</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491785" y="1794238"/>
            <a:ext cx="2290000"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Execution Model</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11085" y="2195805"/>
            <a:ext cx="2290000"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Language Dependency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11085" y="2592045"/>
            <a:ext cx="2290000"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Scaling Model</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00925" y="2988285"/>
            <a:ext cx="2290000"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Multi Tenancy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13194" y="3384525"/>
            <a:ext cx="2255303"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GitOps</a:t>
            </a: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 Integration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13194" y="3780765"/>
            <a:ext cx="2255303"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UI Maturity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13194" y="4583405"/>
            <a:ext cx="2255303"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K8s Complexity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3354" y="4177005"/>
            <a:ext cx="2255303"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Data Ecosystem</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68207" y="1025292"/>
            <a:ext cx="2289999" cy="341161"/>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ARGO WORKFLOW</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68205" y="1423645"/>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Excellent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69225" y="1804398"/>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Pod-per-Task</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88525" y="2205965"/>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Any container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88525" y="2602205"/>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K8s </a:t>
            </a: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AutoScaling</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68205" y="3008605"/>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Namespace Based</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59065" y="3389358"/>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Excellent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68205" y="3790925"/>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Moderate</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78365" y="4197325"/>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Growing</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5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2878365" y="4583405"/>
            <a:ext cx="2290000" cy="32644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Lower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5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25327" y="1035452"/>
            <a:ext cx="2289999" cy="341161"/>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AIRFLOW</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5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25325" y="1433805"/>
            <a:ext cx="229000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Partial</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5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26345" y="1814558"/>
            <a:ext cx="229000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Worker Based</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5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45645" y="2216125"/>
            <a:ext cx="226968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Mostly Python</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6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45645" y="2622525"/>
            <a:ext cx="226968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sz="1400" dirty="0" smtClean="0">
                <a:solidFill>
                  <a:schemeClr val="bg1"/>
                </a:solidFill>
                <a:latin typeface="Segoe UI Semibold"/>
                <a:cs typeface="Segoe UI" panose="020B0502040204020203" pitchFamily="34" charset="0"/>
              </a:rPr>
              <a:t>Airflow Worker Scaling</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6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46665" y="3003278"/>
            <a:ext cx="229000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sz="1400" dirty="0" smtClean="0">
                <a:solidFill>
                  <a:schemeClr val="bg1"/>
                </a:solidFill>
                <a:latin typeface="Segoe UI Semibold"/>
                <a:cs typeface="Segoe UI" panose="020B0502040204020203" pitchFamily="34" charset="0"/>
              </a:rPr>
              <a:t>Complex</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6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65965" y="3404845"/>
            <a:ext cx="224936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Moderate</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6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65965" y="3841725"/>
            <a:ext cx="224936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Excellent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6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77145" y="4222478"/>
            <a:ext cx="223818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sz="1400" dirty="0" smtClean="0">
                <a:solidFill>
                  <a:schemeClr val="bg1"/>
                </a:solidFill>
                <a:latin typeface="Segoe UI Semibold"/>
                <a:cs typeface="Segoe UI" panose="020B0502040204020203" pitchFamily="34" charset="0"/>
              </a:rPr>
              <a:t>Matured</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6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5265965" y="4603725"/>
            <a:ext cx="2249360" cy="326443"/>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Higher</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6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8862610" y="1665858"/>
            <a:ext cx="2069550" cy="583201"/>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Traditional </a:t>
            </a:r>
            <a:r>
              <a:rPr lang="en-US" sz="1400" dirty="0">
                <a:solidFill>
                  <a:schemeClr val="bg1"/>
                </a:solidFill>
                <a:latin typeface="Segoe UI Semibold"/>
                <a:cs typeface="Segoe UI" panose="020B0502040204020203" pitchFamily="34" charset="0"/>
              </a:rPr>
              <a:t>analytics </a:t>
            </a:r>
            <a:r>
              <a:rPr lang="en-US" sz="1400" dirty="0" smtClean="0">
                <a:solidFill>
                  <a:schemeClr val="bg1"/>
                </a:solidFill>
                <a:latin typeface="Segoe UI Semibold"/>
                <a:cs typeface="Segoe UI" panose="020B0502040204020203" pitchFamily="34" charset="0"/>
              </a:rPr>
              <a:t>engineering</a:t>
            </a:r>
            <a:endParaRPr lang="en-US" sz="1400" dirty="0">
              <a:solidFill>
                <a:schemeClr val="bg1"/>
              </a:solidFill>
              <a:latin typeface="Segoe UI Semibold"/>
              <a:cs typeface="Segoe UI" panose="020B0502040204020203" pitchFamily="34" charset="0"/>
            </a:endParaRPr>
          </a:p>
        </p:txBody>
      </p:sp>
      <p:sp>
        <p:nvSpPr>
          <p:cNvPr id="6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9166385" y="2339951"/>
            <a:ext cx="1641810" cy="516914"/>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SQL-centric orchestration</a:t>
            </a:r>
            <a:endParaRPr lang="en-US" sz="1400" dirty="0">
              <a:solidFill>
                <a:schemeClr val="bg1"/>
              </a:solidFill>
              <a:latin typeface="Segoe UI Semibold"/>
              <a:cs typeface="Segoe UI" panose="020B0502040204020203" pitchFamily="34" charset="0"/>
            </a:endParaRPr>
          </a:p>
        </p:txBody>
      </p:sp>
      <p:sp>
        <p:nvSpPr>
          <p:cNvPr id="6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8924592" y="2947757"/>
            <a:ext cx="1945585" cy="535720"/>
          </a:xfrm>
          <a:prstGeom prst="roundRect">
            <a:avLst>
              <a:gd name="adj" fmla="val 15951"/>
            </a:avLst>
          </a:prstGeom>
          <a:solidFill>
            <a:srgbClr val="00B0F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Mature </a:t>
            </a:r>
            <a:r>
              <a:rPr lang="en-US" sz="1400" dirty="0">
                <a:solidFill>
                  <a:schemeClr val="bg1"/>
                </a:solidFill>
                <a:latin typeface="Segoe UI Semibold"/>
                <a:cs typeface="Segoe UI" panose="020B0502040204020203" pitchFamily="34" charset="0"/>
              </a:rPr>
              <a:t>enterprise ecosystems</a:t>
            </a:r>
          </a:p>
        </p:txBody>
      </p:sp>
      <p:pic>
        <p:nvPicPr>
          <p:cNvPr id="5" name="Picture 4"/>
          <p:cNvPicPr>
            <a:picLocks noChangeAspect="1"/>
          </p:cNvPicPr>
          <p:nvPr/>
        </p:nvPicPr>
        <p:blipFill>
          <a:blip r:embed="rId3"/>
          <a:stretch>
            <a:fillRect/>
          </a:stretch>
        </p:blipFill>
        <p:spPr>
          <a:xfrm>
            <a:off x="9434166" y="758564"/>
            <a:ext cx="862461" cy="844859"/>
          </a:xfrm>
          <a:prstGeom prst="rect">
            <a:avLst/>
          </a:prstGeom>
        </p:spPr>
      </p:pic>
      <p:pic>
        <p:nvPicPr>
          <p:cNvPr id="70" name="Picture 69"/>
          <p:cNvPicPr>
            <a:picLocks noChangeAspect="1"/>
          </p:cNvPicPr>
          <p:nvPr/>
        </p:nvPicPr>
        <p:blipFill>
          <a:blip r:embed="rId4"/>
          <a:stretch>
            <a:fillRect/>
          </a:stretch>
        </p:blipFill>
        <p:spPr>
          <a:xfrm>
            <a:off x="8520462" y="3792170"/>
            <a:ext cx="1388664" cy="881132"/>
          </a:xfrm>
          <a:prstGeom prst="rect">
            <a:avLst/>
          </a:prstGeom>
        </p:spPr>
      </p:pic>
      <p:sp>
        <p:nvSpPr>
          <p:cNvPr id="71"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8212365" y="4735805"/>
            <a:ext cx="2293076" cy="334033"/>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K8s-first architecture</a:t>
            </a:r>
            <a:endParaRPr lang="en-US" sz="1400" dirty="0">
              <a:solidFill>
                <a:schemeClr val="bg1"/>
              </a:solidFill>
              <a:latin typeface="Segoe UI Semibold"/>
              <a:cs typeface="Segoe UI" panose="020B0502040204020203" pitchFamily="34" charset="0"/>
            </a:endParaRPr>
          </a:p>
        </p:txBody>
      </p:sp>
      <p:sp>
        <p:nvSpPr>
          <p:cNvPr id="7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9086124" y="5182845"/>
            <a:ext cx="2137601" cy="413990"/>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Platform </a:t>
            </a:r>
            <a:r>
              <a:rPr lang="en-US" sz="1400" dirty="0" err="1" smtClean="0">
                <a:solidFill>
                  <a:schemeClr val="bg1"/>
                </a:solidFill>
                <a:latin typeface="Segoe UI Semibold"/>
                <a:cs typeface="Segoe UI" panose="020B0502040204020203" pitchFamily="34" charset="0"/>
              </a:rPr>
              <a:t>Eng</a:t>
            </a:r>
            <a:r>
              <a:rPr lang="en-US" sz="1400" dirty="0" smtClean="0">
                <a:solidFill>
                  <a:schemeClr val="bg1"/>
                </a:solidFill>
                <a:latin typeface="Segoe UI Semibold"/>
                <a:cs typeface="Segoe UI" panose="020B0502040204020203" pitchFamily="34" charset="0"/>
              </a:rPr>
              <a:t> </a:t>
            </a:r>
            <a:r>
              <a:rPr lang="en-US" sz="1400" dirty="0">
                <a:solidFill>
                  <a:schemeClr val="bg1"/>
                </a:solidFill>
                <a:latin typeface="Segoe UI Semibold"/>
                <a:cs typeface="Segoe UI" panose="020B0502040204020203" pitchFamily="34" charset="0"/>
              </a:rPr>
              <a:t>models</a:t>
            </a:r>
          </a:p>
        </p:txBody>
      </p:sp>
      <p:sp>
        <p:nvSpPr>
          <p:cNvPr id="73"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8120924" y="5721325"/>
            <a:ext cx="2821396" cy="413990"/>
          </a:xfrm>
          <a:prstGeom prst="roundRect">
            <a:avLst>
              <a:gd name="adj" fmla="val 15951"/>
            </a:avLst>
          </a:prstGeom>
          <a:solidFill>
            <a:srgbClr val="FB5A65"/>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err="1" smtClean="0">
                <a:solidFill>
                  <a:schemeClr val="bg1"/>
                </a:solidFill>
                <a:latin typeface="Segoe UI Semibold"/>
                <a:cs typeface="Segoe UI" panose="020B0502040204020203" pitchFamily="34" charset="0"/>
              </a:rPr>
              <a:t>DataOps</a:t>
            </a:r>
            <a:r>
              <a:rPr lang="en-US" sz="1400" dirty="0" smtClean="0">
                <a:solidFill>
                  <a:schemeClr val="bg1"/>
                </a:solidFill>
                <a:latin typeface="Segoe UI Semibold"/>
                <a:cs typeface="Segoe UI" panose="020B0502040204020203" pitchFamily="34" charset="0"/>
              </a:rPr>
              <a:t>/</a:t>
            </a:r>
            <a:r>
              <a:rPr lang="en-US" sz="1400" dirty="0" err="1" smtClean="0">
                <a:solidFill>
                  <a:schemeClr val="bg1"/>
                </a:solidFill>
                <a:latin typeface="Segoe UI Semibold"/>
                <a:cs typeface="Segoe UI" panose="020B0502040204020203" pitchFamily="34" charset="0"/>
              </a:rPr>
              <a:t>MLOps</a:t>
            </a:r>
            <a:r>
              <a:rPr lang="en-US" sz="1400" dirty="0" smtClean="0">
                <a:solidFill>
                  <a:schemeClr val="bg1"/>
                </a:solidFill>
                <a:latin typeface="Segoe UI Semibold"/>
                <a:cs typeface="Segoe UI" panose="020B0502040204020203" pitchFamily="34" charset="0"/>
              </a:rPr>
              <a:t> </a:t>
            </a:r>
            <a:r>
              <a:rPr lang="en-US" sz="1400" dirty="0">
                <a:solidFill>
                  <a:schemeClr val="bg1"/>
                </a:solidFill>
                <a:latin typeface="Segoe UI Semibold"/>
                <a:cs typeface="Segoe UI" panose="020B0502040204020203" pitchFamily="34" charset="0"/>
              </a:rPr>
              <a:t>convergence</a:t>
            </a:r>
          </a:p>
        </p:txBody>
      </p:sp>
    </p:spTree>
    <p:extLst>
      <p:ext uri="{BB962C8B-B14F-4D97-AF65-F5344CB8AC3E}">
        <p14:creationId xmlns:p14="http://schemas.microsoft.com/office/powerpoint/2010/main" val="461131717"/>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A3E08FA2-C73F-A01D-C334-4FAC0DB0C177}"/>
              </a:ext>
            </a:extLst>
          </p:cNvPr>
          <p:cNvSpPr txBox="1">
            <a:spLocks/>
          </p:cNvSpPr>
          <p:nvPr/>
        </p:nvSpPr>
        <p:spPr>
          <a:xfrm>
            <a:off x="480272" y="90232"/>
            <a:ext cx="9021762" cy="81449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t>Extras: Challenges &amp; Lesson Learned</a:t>
            </a:r>
            <a:endParaRPr lang="en-US" dirty="0"/>
          </a:p>
        </p:txBody>
      </p:sp>
      <p:sp>
        <p:nvSpPr>
          <p:cNvPr id="16"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487680" y="1168125"/>
            <a:ext cx="3657600" cy="2865395"/>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17"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72" y="1362685"/>
            <a:ext cx="3352788" cy="499495"/>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CHALLENGES</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2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71" y="2084045"/>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YAML learning curve</a:t>
            </a:r>
          </a:p>
        </p:txBody>
      </p:sp>
      <p:sp>
        <p:nvSpPr>
          <p:cNvPr id="2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20791" y="2586718"/>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UI less mature than Airflow</a:t>
            </a:r>
          </a:p>
        </p:txBody>
      </p:sp>
      <p:sp>
        <p:nvSpPr>
          <p:cNvPr id="2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40091" y="3079725"/>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pod </a:t>
            </a:r>
            <a:r>
              <a:rPr lang="en-US" sz="1400" dirty="0">
                <a:solidFill>
                  <a:schemeClr val="bg1"/>
                </a:solidFill>
                <a:latin typeface="Segoe UI Semibold"/>
                <a:cs typeface="Segoe UI" panose="020B0502040204020203" pitchFamily="34" charset="0"/>
              </a:rPr>
              <a:t>debugging complexity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30"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40091" y="3567405"/>
            <a:ext cx="335278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smtClean="0">
                <a:solidFill>
                  <a:schemeClr val="bg1"/>
                </a:solidFill>
                <a:latin typeface="Segoe UI Semibold"/>
                <a:cs typeface="Segoe UI" panose="020B0502040204020203" pitchFamily="34" charset="0"/>
              </a:rPr>
              <a:t>K8s knowledge </a:t>
            </a:r>
            <a:r>
              <a:rPr lang="en-US" sz="1400" dirty="0">
                <a:solidFill>
                  <a:schemeClr val="bg1"/>
                </a:solidFill>
                <a:latin typeface="Segoe UI Semibold"/>
                <a:cs typeface="Segoe UI" panose="020B0502040204020203" pitchFamily="34" charset="0"/>
              </a:rPr>
              <a:t>required</a:t>
            </a:r>
          </a:p>
        </p:txBody>
      </p:sp>
      <p:sp>
        <p:nvSpPr>
          <p:cNvPr id="41" name="Rounded Rectangle 3_1">
            <a:extLst>
              <a:ext uri="{FF2B5EF4-FFF2-40B4-BE49-F238E27FC236}">
                <a16:creationId xmlns="" xmlns:a16="http://schemas.microsoft.com/office/drawing/2014/main" id="{C30E3F23-57C3-CEE2-DD2F-E66B72B8F428}"/>
              </a:ext>
              <a:ext uri="{C183D7F6-B498-43B3-948B-1728B52AA6E4}">
                <adec:decorative xmlns="" xmlns:adec="http://schemas.microsoft.com/office/drawing/2017/decorative" val="1"/>
              </a:ext>
            </a:extLst>
          </p:cNvPr>
          <p:cNvSpPr/>
          <p:nvPr/>
        </p:nvSpPr>
        <p:spPr>
          <a:xfrm>
            <a:off x="5981912" y="1185824"/>
            <a:ext cx="3520122" cy="3233775"/>
          </a:xfrm>
          <a:prstGeom prst="roundRect">
            <a:avLst>
              <a:gd name="adj" fmla="val 3632"/>
            </a:avLst>
          </a:prstGeom>
          <a:ln w="10795" cap="flat" cmpd="sng" algn="ctr">
            <a:noFill/>
            <a:prstDash val="solid"/>
          </a:ln>
          <a:effectLst>
            <a:outerShdw blurRad="127000" dist="38100" dir="8100000" sx="101000" sy="101000" algn="tr" rotWithShape="0">
              <a:srgbClr val="CAC5B8">
                <a:alpha val="64000"/>
              </a:srgbClr>
            </a:outerShdw>
          </a:effectLst>
        </p:spPr>
        <p:style>
          <a:lnRef idx="0">
            <a:scrgbClr r="0" g="0" b="0"/>
          </a:lnRef>
          <a:fillRef idx="1003">
            <a:schemeClr val="lt1"/>
          </a:fillRef>
          <a:effectRef idx="0">
            <a:scrgbClr r="0" g="0" b="0"/>
          </a:effectRef>
          <a:fontRef idx="major"/>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FFFFFF"/>
              </a:solidFill>
              <a:effectLst/>
              <a:uLnTx/>
              <a:uFillTx/>
              <a:latin typeface="Segoe UI"/>
              <a:ea typeface="+mn-ea"/>
              <a:cs typeface="+mn-cs"/>
            </a:endParaRPr>
          </a:p>
        </p:txBody>
      </p:sp>
      <p:sp>
        <p:nvSpPr>
          <p:cNvPr id="42"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77292" y="1362685"/>
            <a:ext cx="3190228" cy="499495"/>
          </a:xfrm>
          <a:prstGeom prst="roundRect">
            <a:avLst>
              <a:gd name="adj" fmla="val 15951"/>
            </a:avLst>
          </a:prstGeom>
          <a:solidFill>
            <a:schemeClr val="bg2">
              <a:lumMod val="25000"/>
            </a:schemeClr>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LESSON LEARNED</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4"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77291" y="2084045"/>
            <a:ext cx="319022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Design namespace strategy early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5"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78311" y="2525758"/>
            <a:ext cx="318920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Standardize templates </a:t>
            </a:r>
            <a:r>
              <a:rPr lang="en-US" sz="1400" dirty="0" smtClean="0">
                <a:solidFill>
                  <a:schemeClr val="bg1"/>
                </a:solidFill>
                <a:latin typeface="Segoe UI Semibold"/>
                <a:cs typeface="Segoe UI" panose="020B0502040204020203" pitchFamily="34" charset="0"/>
              </a:rPr>
              <a:t>early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46"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611" y="2978125"/>
            <a:ext cx="319022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742"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kumimoji="0" lang="en-US" sz="1400" b="0" i="0" u="none" strike="noStrike" kern="1200" cap="none" spc="0" normalizeH="0" baseline="0" noProof="0" dirty="0" smtClean="0">
                <a:ln>
                  <a:noFill/>
                </a:ln>
                <a:solidFill>
                  <a:schemeClr val="bg1"/>
                </a:solidFill>
                <a:effectLst/>
                <a:uLnTx/>
                <a:uFillTx/>
                <a:latin typeface="Segoe UI Semibold"/>
                <a:ea typeface="+mn-ea"/>
                <a:cs typeface="Segoe UI" panose="020B0502040204020203" pitchFamily="34" charset="0"/>
              </a:rPr>
              <a:t>Parameterize </a:t>
            </a:r>
            <a:r>
              <a:rPr kumimoji="0" lang="en-US" sz="1400" b="0" i="0" u="none" strike="noStrike" kern="1200" cap="none" spc="0" normalizeH="0" baseline="0" noProof="0" dirty="0" err="1" smtClean="0">
                <a:ln>
                  <a:noFill/>
                </a:ln>
                <a:solidFill>
                  <a:schemeClr val="bg1"/>
                </a:solidFill>
                <a:effectLst/>
                <a:uLnTx/>
                <a:uFillTx/>
                <a:latin typeface="Segoe UI Semibold"/>
                <a:ea typeface="+mn-ea"/>
                <a:cs typeface="Segoe UI" panose="020B0502040204020203" pitchFamily="34" charset="0"/>
              </a:rPr>
              <a:t>Input/Output</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8"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68151" y="3440158"/>
            <a:ext cx="318920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Implement centralized logging</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
        <p:nvSpPr>
          <p:cNvPr id="19" name="Rectangle: Rounded Corners 15">
            <a:extLst>
              <a:ext uri="{FF2B5EF4-FFF2-40B4-BE49-F238E27FC236}">
                <a16:creationId xmlns="" xmlns:a16="http://schemas.microsoft.com/office/drawing/2014/main" id="{85069EA8-1883-9482-758E-F5D0C58727C0}"/>
              </a:ext>
            </a:extLst>
          </p:cNvPr>
          <p:cNvSpPr>
            <a:spLocks/>
          </p:cNvSpPr>
          <p:nvPr/>
        </p:nvSpPr>
        <p:spPr bwMode="auto">
          <a:xfrm>
            <a:off x="6197611" y="3892525"/>
            <a:ext cx="3190229" cy="326443"/>
          </a:xfrm>
          <a:prstGeom prst="roundRect">
            <a:avLst>
              <a:gd name="adj" fmla="val 15951"/>
            </a:avLst>
          </a:prstGeom>
          <a:solidFill>
            <a:srgbClr val="0070C0"/>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742">
              <a:buSzPct val="90000"/>
              <a:defRPr/>
            </a:pPr>
            <a:r>
              <a:rPr lang="en-US" sz="1400" dirty="0">
                <a:solidFill>
                  <a:schemeClr val="bg1"/>
                </a:solidFill>
                <a:latin typeface="Segoe UI Semibold"/>
                <a:cs typeface="Segoe UI" panose="020B0502040204020203" pitchFamily="34" charset="0"/>
              </a:rPr>
              <a:t>Define RBAC clearly</a:t>
            </a:r>
            <a:endParaRPr kumimoji="0" lang="en-US" sz="1400" b="0" i="0" u="none" strike="noStrike" kern="1200" cap="none" spc="0" normalizeH="0" baseline="0" noProof="0" dirty="0">
              <a:ln>
                <a:noFill/>
              </a:ln>
              <a:solidFill>
                <a:schemeClr val="bg1"/>
              </a:solidFill>
              <a:effectLst/>
              <a:uLnTx/>
              <a:uFillTx/>
              <a:latin typeface="Segoe UI Semibold"/>
              <a:ea typeface="+mn-ea"/>
              <a:cs typeface="Segoe UI" panose="020B0502040204020203" pitchFamily="34" charset="0"/>
            </a:endParaRPr>
          </a:p>
        </p:txBody>
      </p:sp>
    </p:spTree>
    <p:extLst>
      <p:ext uri="{BB962C8B-B14F-4D97-AF65-F5344CB8AC3E}">
        <p14:creationId xmlns:p14="http://schemas.microsoft.com/office/powerpoint/2010/main" val="2029760085"/>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A3E08FA2-C73F-A01D-C334-4FAC0DB0C177}"/>
              </a:ext>
            </a:extLst>
          </p:cNvPr>
          <p:cNvSpPr txBox="1">
            <a:spLocks/>
          </p:cNvSpPr>
          <p:nvPr/>
        </p:nvSpPr>
        <p:spPr>
          <a:xfrm>
            <a:off x="4757632" y="2528632"/>
            <a:ext cx="9021762" cy="81449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t>Demo</a:t>
            </a:r>
            <a:endParaRPr lang="en-US" dirty="0"/>
          </a:p>
        </p:txBody>
      </p:sp>
    </p:spTree>
    <p:extLst>
      <p:ext uri="{BB962C8B-B14F-4D97-AF65-F5344CB8AC3E}">
        <p14:creationId xmlns:p14="http://schemas.microsoft.com/office/powerpoint/2010/main" val="2554278945"/>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A3E08FA2-C73F-A01D-C334-4FAC0DB0C177}"/>
              </a:ext>
            </a:extLst>
          </p:cNvPr>
          <p:cNvSpPr txBox="1">
            <a:spLocks/>
          </p:cNvSpPr>
          <p:nvPr/>
        </p:nvSpPr>
        <p:spPr>
          <a:xfrm>
            <a:off x="4757632" y="2528632"/>
            <a:ext cx="9021762" cy="81449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000" b="0" i="0" kern="1200" spc="-50" baseline="0">
                <a:solidFill>
                  <a:schemeClr val="tx1"/>
                </a:solidFill>
                <a:latin typeface="+mj-lt"/>
                <a:ea typeface="+mj-ea"/>
                <a:cs typeface="Segoe UI Semibold" panose="020B0502040204020203" pitchFamily="34" charset="0"/>
              </a:defRPr>
            </a:lvl1pPr>
          </a:lstStyle>
          <a:p>
            <a:r>
              <a:rPr lang="en-US" sz="4000" b="1" dirty="0" smtClean="0"/>
              <a:t>Questions</a:t>
            </a:r>
            <a:endParaRPr lang="en-US" dirty="0"/>
          </a:p>
        </p:txBody>
      </p:sp>
    </p:spTree>
    <p:extLst>
      <p:ext uri="{BB962C8B-B14F-4D97-AF65-F5344CB8AC3E}">
        <p14:creationId xmlns:p14="http://schemas.microsoft.com/office/powerpoint/2010/main" val="722950398"/>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2.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58DD63460F6D46982CDFCFF3E015F7" ma:contentTypeVersion="22" ma:contentTypeDescription="Create a new document." ma:contentTypeScope="" ma:versionID="aefca38c49527ef64f3f2f50af708025">
  <xsd:schema xmlns:xsd="http://www.w3.org/2001/XMLSchema" xmlns:xs="http://www.w3.org/2001/XMLSchema" xmlns:p="http://schemas.microsoft.com/office/2006/metadata/properties" xmlns:ns1="http://schemas.microsoft.com/sharepoint/v3" xmlns:ns2="7e96d60b-db1d-44a2-8be4-a128982f8e65" xmlns:ns3="76e03480-8cba-4236-ba8e-c2eaec5d39d6" xmlns:ns4="230e9df3-be65-4c73-a93b-d1236ebd677e" targetNamespace="http://schemas.microsoft.com/office/2006/metadata/properties" ma:root="true" ma:fieldsID="997283cb93de478139b04474b2562cb7" ns1:_="" ns2:_="" ns3:_="" ns4:_="">
    <xsd:import namespace="http://schemas.microsoft.com/sharepoint/v3"/>
    <xsd:import namespace="7e96d60b-db1d-44a2-8be4-a128982f8e65"/>
    <xsd:import namespace="76e03480-8cba-4236-ba8e-c2eaec5d39d6"/>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3:SharedWithUsers" minOccurs="0"/>
                <xsd:element ref="ns3:SharedWithDetails" minOccurs="0"/>
                <xsd:element ref="ns4:TaxCatchAll" minOccurs="0"/>
                <xsd:element ref="ns2:ImageTagsTaxHTField" minOccurs="0"/>
                <xsd:element ref="ns2:MediaServiceSearchPropertie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MediaServiceOCR"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e96d60b-db1d-44a2-8be4-a128982f8e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ImageTagsTaxHTField" ma:index="18"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OCR" ma:index="25" nillable="true" ma:displayName="Extracted Text" ma:internalName="MediaServiceOCR" ma:readOnly="true">
      <xsd:simpleType>
        <xsd:restriction base="dms:Note">
          <xsd:maxLength value="255"/>
        </xsd:restriction>
      </xsd:simpleType>
    </xsd:element>
    <xsd:element name="MediaServiceDocTags" ma:index="26" nillable="true" ma:displayName="MediaServiceDocTags" ma:hidden="true" ma:internalName="MediaServiceDocTags" ma:readOnly="true">
      <xsd:simpleType>
        <xsd:restriction base="dms:Note"/>
      </xsd:simpleType>
    </xsd:element>
    <xsd:element name="MediaServiceObjectDetectorVersions" ma:index="27"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6e03480-8cba-4236-ba8e-c2eaec5d39d6"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d3a55172-29fb-46cf-bf19-6b0aaa21b093}" ma:internalName="TaxCatchAll" ma:showField="CatchAllData" ma:web="76e03480-8cba-4236-ba8e-c2eaec5d39d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TagsTaxHTField xmlns="7e96d60b-db1d-44a2-8be4-a128982f8e65">
      <Terms xmlns="http://schemas.microsoft.com/office/infopath/2007/PartnerControls"/>
    </ImageTagsTaxHTField>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EAA080C-72FB-4401-9754-A32DB38CAF57}">
  <ds:schemaRefs>
    <ds:schemaRef ds:uri="230e9df3-be65-4c73-a93b-d1236ebd677e"/>
    <ds:schemaRef ds:uri="76e03480-8cba-4236-ba8e-c2eaec5d39d6"/>
    <ds:schemaRef ds:uri="7e96d60b-db1d-44a2-8be4-a128982f8e6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990F116-B58F-4255-B05B-DA3808E0E5C6}">
  <ds:schemaRefs>
    <ds:schemaRef ds:uri="7e96d60b-db1d-44a2-8be4-a128982f8e65"/>
    <ds:schemaRef ds:uri="http://schemas.openxmlformats.org/package/2006/metadata/core-properties"/>
    <ds:schemaRef ds:uri="http://www.w3.org/XML/1998/namespace"/>
    <ds:schemaRef ds:uri="76e03480-8cba-4236-ba8e-c2eaec5d39d6"/>
    <ds:schemaRef ds:uri="http://schemas.microsoft.com/sharepoint/v3"/>
    <ds:schemaRef ds:uri="http://purl.org/dc/terms/"/>
    <ds:schemaRef ds:uri="http://schemas.microsoft.com/office/2006/documentManagement/types"/>
    <ds:schemaRef ds:uri="230e9df3-be65-4c73-a93b-d1236ebd677e"/>
    <ds:schemaRef ds:uri="http://purl.org/dc/elements/1.1/"/>
    <ds:schemaRef ds:uri="http://schemas.microsoft.com/office/infopath/2007/PartnerControl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19645</TotalTime>
  <Words>1877</Words>
  <Application>Microsoft Office PowerPoint</Application>
  <PresentationFormat>Widescreen</PresentationFormat>
  <Paragraphs>550</Paragraphs>
  <Slides>25</Slides>
  <Notes>24</Notes>
  <HiddenSlides>12</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25</vt:i4>
      </vt:variant>
    </vt:vector>
  </HeadingPairs>
  <TitlesOfParts>
    <vt:vector size="35" baseType="lpstr">
      <vt:lpstr>Arial</vt:lpstr>
      <vt:lpstr>Century Gothic</vt:lpstr>
      <vt:lpstr>Consolas</vt:lpstr>
      <vt:lpstr>Segoe UI</vt:lpstr>
      <vt:lpstr>Segoe UI Light</vt:lpstr>
      <vt:lpstr>Segoe UI Semibold</vt:lpstr>
      <vt:lpstr>Wingdings</vt:lpstr>
      <vt:lpstr>Wingdings 2</vt:lpstr>
      <vt:lpstr>LIGHT MODE</vt:lpstr>
      <vt:lpstr>View</vt:lpstr>
      <vt:lpstr>Streamlining Upstream/Downstream Pipelines with Argo Workflows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&lt;Comms manager name here&gt;</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Learn ILT course  master template</dc:title>
  <dc:subject>&lt;Event name&gt;</dc:subject>
  <dc:creator>heidi@mindseyepdx.com</dc:creator>
  <cp:keywords/>
  <dc:description/>
  <cp:lastModifiedBy>me</cp:lastModifiedBy>
  <cp:revision>95</cp:revision>
  <cp:lastPrinted>2026-06-22T11:57:38Z</cp:lastPrinted>
  <dcterms:created xsi:type="dcterms:W3CDTF">2023-06-16T20:38:16Z</dcterms:created>
  <dcterms:modified xsi:type="dcterms:W3CDTF">2026-06-26T03:47:50Z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0x0101000358DD63460F6D46982CDFCFF3E015F7</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Owner">
    <vt:lpwstr>maryfj@microsoft.com</vt:lpwstr>
  </property>
  <property fmtid="{D5CDD505-2E9C-101B-9397-08002B2CF9AE}" pid="15" name="MSIP_Label_f42aa342-8706-4288-bd11-ebb85995028c_SetDate">
    <vt:lpwstr>2017-08-29T14:27:20.8568347-07:00</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y fmtid="{D5CDD505-2E9C-101B-9397-08002B2CF9AE}" pid="20" name="MediaServiceImageTags">
    <vt:lpwstr/>
  </property>
</Properties>
</file>